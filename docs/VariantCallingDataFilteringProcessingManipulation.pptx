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4" r:id="rId1"/>
  </p:sldMasterIdLst>
  <p:notesMasterIdLst>
    <p:notesMasterId r:id="rId54"/>
  </p:notesMasterIdLst>
  <p:sldIdLst>
    <p:sldId id="256" r:id="rId2"/>
    <p:sldId id="257" r:id="rId3"/>
    <p:sldId id="332" r:id="rId4"/>
    <p:sldId id="289" r:id="rId5"/>
    <p:sldId id="284" r:id="rId6"/>
    <p:sldId id="353" r:id="rId7"/>
    <p:sldId id="342" r:id="rId8"/>
    <p:sldId id="348" r:id="rId9"/>
    <p:sldId id="349" r:id="rId10"/>
    <p:sldId id="350" r:id="rId11"/>
    <p:sldId id="351" r:id="rId12"/>
    <p:sldId id="352" r:id="rId13"/>
    <p:sldId id="261" r:id="rId14"/>
    <p:sldId id="354" r:id="rId15"/>
    <p:sldId id="356" r:id="rId16"/>
    <p:sldId id="396" r:id="rId17"/>
    <p:sldId id="260" r:id="rId18"/>
    <p:sldId id="357" r:id="rId19"/>
    <p:sldId id="358" r:id="rId20"/>
    <p:sldId id="320" r:id="rId21"/>
    <p:sldId id="287" r:id="rId22"/>
    <p:sldId id="373" r:id="rId23"/>
    <p:sldId id="374" r:id="rId24"/>
    <p:sldId id="375" r:id="rId25"/>
    <p:sldId id="339" r:id="rId26"/>
    <p:sldId id="340" r:id="rId27"/>
    <p:sldId id="391" r:id="rId28"/>
    <p:sldId id="341" r:id="rId29"/>
    <p:sldId id="377" r:id="rId30"/>
    <p:sldId id="378" r:id="rId31"/>
    <p:sldId id="344" r:id="rId32"/>
    <p:sldId id="359" r:id="rId33"/>
    <p:sldId id="360" r:id="rId34"/>
    <p:sldId id="321" r:id="rId35"/>
    <p:sldId id="361" r:id="rId36"/>
    <p:sldId id="264" r:id="rId37"/>
    <p:sldId id="363" r:id="rId38"/>
    <p:sldId id="362" r:id="rId39"/>
    <p:sldId id="364" r:id="rId40"/>
    <p:sldId id="365" r:id="rId41"/>
    <p:sldId id="366" r:id="rId42"/>
    <p:sldId id="367" r:id="rId43"/>
    <p:sldId id="395" r:id="rId44"/>
    <p:sldId id="258" r:id="rId45"/>
    <p:sldId id="368" r:id="rId46"/>
    <p:sldId id="392" r:id="rId47"/>
    <p:sldId id="369" r:id="rId48"/>
    <p:sldId id="401" r:id="rId49"/>
    <p:sldId id="402" r:id="rId50"/>
    <p:sldId id="403" r:id="rId51"/>
    <p:sldId id="393" r:id="rId52"/>
    <p:sldId id="394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46"/>
    <p:restoredTop sz="94694"/>
  </p:normalViewPr>
  <p:slideViewPr>
    <p:cSldViewPr snapToGrid="0" snapToObjects="1">
      <p:cViewPr varScale="1">
        <p:scale>
          <a:sx n="120" d="100"/>
          <a:sy n="120" d="100"/>
        </p:scale>
        <p:origin x="17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92AEB-DFE1-5F4C-8C8E-3267BD74839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4F0E2-D3E2-BF41-A791-1D2C30BF1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BSA - pooled individuals with extremes in the phenotype, then call SNPs on each pool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030460-AEBE-D24A-941C-AD0C81492F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45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----- Meeting Notes (21/10/2013 09:06) -----</a:t>
            </a:r>
          </a:p>
          <a:p>
            <a:r>
              <a:rPr lang="en-GB" dirty="0" err="1"/>
              <a:t>Regresar</a:t>
            </a:r>
            <a:r>
              <a:rPr lang="en-GB" dirty="0"/>
              <a:t> a la imagen de los </a:t>
            </a:r>
            <a:r>
              <a:rPr lang="en-GB" dirty="0" err="1"/>
              <a:t>parentales</a:t>
            </a:r>
            <a:r>
              <a:rPr lang="en-GB" dirty="0"/>
              <a:t>. </a:t>
            </a:r>
          </a:p>
          <a:p>
            <a:r>
              <a:rPr lang="en-GB" dirty="0" err="1"/>
              <a:t>Poner</a:t>
            </a:r>
            <a:r>
              <a:rPr lang="en-GB" dirty="0"/>
              <a:t> </a:t>
            </a:r>
            <a:r>
              <a:rPr lang="en-GB" dirty="0" err="1"/>
              <a:t>quien</a:t>
            </a:r>
            <a:r>
              <a:rPr lang="en-GB" dirty="0"/>
              <a:t> lo </a:t>
            </a:r>
            <a:r>
              <a:rPr lang="en-GB" dirty="0" err="1"/>
              <a:t>hizo</a:t>
            </a:r>
            <a:r>
              <a:rPr lang="en-GB" dirty="0"/>
              <a:t>,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australia</a:t>
            </a:r>
            <a:r>
              <a:rPr lang="en-GB" dirty="0"/>
              <a:t>. </a:t>
            </a:r>
          </a:p>
          <a:p>
            <a:r>
              <a:rPr lang="en-GB" dirty="0"/>
              <a:t>----- Meeting Notes (03/06/2014 14:37) -----</a:t>
            </a:r>
          </a:p>
          <a:p>
            <a:r>
              <a:rPr lang="en-GB" dirty="0"/>
              <a:t>Add p values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47C2A-1708-4740-A400-3A8436C855E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41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271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He, F.,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Pasam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R., Shi, F. 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al.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Exome sequencing highlights the role of wild-relative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introgression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shaping the adaptive landscape of the wheat genome. 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 Genet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51, 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896–904 (2019). https://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doi.org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/10.1038/s41588-019-0382-2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0E2-D3E2-BF41-A791-1D2C30BF1D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33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part of the pipeline is very similar to what you have already done.</a:t>
            </a:r>
          </a:p>
          <a:p>
            <a:endParaRPr lang="en-US" dirty="0"/>
          </a:p>
          <a:p>
            <a:r>
              <a:rPr lang="en-US" dirty="0"/>
              <a:t>For use with RNA-Seq, you need a splice aware algorithm like you’ve been using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030460-AEBE-D24A-941C-AD0C81492F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31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r>
              <a:rPr lang="en-GB"/>
              <a:t>----- Meeting Notes (21/10/2013 09:16) -----</a:t>
            </a:r>
          </a:p>
          <a:p>
            <a:r>
              <a:rPr lang="en-GB"/>
              <a:t>Poner que porcentaje de los candidatos se van cuando usas los bulks. </a:t>
            </a:r>
          </a:p>
          <a:p>
            <a:r>
              <a:rPr lang="en-GB"/>
              <a:t>----- Meeting Notes (03/06/2014 14:37) -----</a:t>
            </a:r>
          </a:p>
          <a:p>
            <a:r>
              <a:rPr lang="en-GB"/>
              <a:t>Get the figure from the paper. Where it is rotated. </a:t>
            </a:r>
          </a:p>
          <a:p>
            <a:endParaRPr lang="en-GB"/>
          </a:p>
          <a:p>
            <a:r>
              <a:rPr lang="en-GB"/>
              <a:t>Make something more schematic for the presentaiton (Maybe animate it). </a:t>
            </a:r>
          </a:p>
          <a:p>
            <a:r>
              <a:rPr lang="en-GB"/>
              <a:t>Use colours and boxes for different colors for each calculation. 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47C2A-1708-4740-A400-3A8436C855E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262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r>
              <a:rPr lang="en-GB"/>
              <a:t>----- Meeting Notes (21/10/2013 09:16) -----</a:t>
            </a:r>
          </a:p>
          <a:p>
            <a:r>
              <a:rPr lang="en-GB"/>
              <a:t>Poner que porcentaje de los candidatos se van cuando usas los bulks. </a:t>
            </a:r>
          </a:p>
          <a:p>
            <a:r>
              <a:rPr lang="en-GB"/>
              <a:t>----- Meeting Notes (03/06/2014 14:37) -----</a:t>
            </a:r>
          </a:p>
          <a:p>
            <a:r>
              <a:rPr lang="en-GB"/>
              <a:t>Get the figure from the paper. Where it is rotated. </a:t>
            </a:r>
          </a:p>
          <a:p>
            <a:endParaRPr lang="en-GB"/>
          </a:p>
          <a:p>
            <a:r>
              <a:rPr lang="en-GB"/>
              <a:t>Make something more schematic for the presentaiton (Maybe animate it). </a:t>
            </a:r>
          </a:p>
          <a:p>
            <a:r>
              <a:rPr lang="en-GB"/>
              <a:t>Use colours and boxes for different colors for each calculation. 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47C2A-1708-4740-A400-3A8436C855E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692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47C2A-1708-4740-A400-3A8436C855E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967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EDC59-5342-E941-BF32-1D69B11815E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78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47C2A-1708-4740-A400-3A8436C855E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757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47C2A-1708-4740-A400-3A8436C855E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095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47C2A-1708-4740-A400-3A8436C855E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767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47C2A-1708-4740-A400-3A8436C855E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180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030460-AEBE-D24A-941C-AD0C81492F2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18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GATK and </a:t>
            </a:r>
            <a:r>
              <a:rPr lang="en-GB" sz="1200" dirty="0" err="1"/>
              <a:t>FreeBayes</a:t>
            </a:r>
            <a:r>
              <a:rPr lang="en-GB" sz="1200" dirty="0"/>
              <a:t> are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haplotype-based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variant detectors – they both try to realign seqs around a variant region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Haplotype calling means that the surrounding regions can used for calling a SNP rather than simply </a:t>
            </a:r>
            <a:r>
              <a:rPr lang="en-GB" sz="1200" dirty="0" err="1"/>
              <a:t>relieing</a:t>
            </a:r>
            <a:r>
              <a:rPr lang="en-GB" sz="1200" dirty="0"/>
              <a:t> on the strict alignment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And they can look around the SNPs in multiple samples to see how many other SNPs there are in that region.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Mention how they work in general terms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Try to go through their advantages and disadvantages</a:t>
            </a:r>
          </a:p>
          <a:p>
            <a:r>
              <a:rPr lang="en-GB" sz="1200" dirty="0"/>
              <a:t>GATK has rounds of calling, 2nd round is the population mode looking at all samples, first round just calls SNPs on each sample</a:t>
            </a:r>
          </a:p>
          <a:p>
            <a:r>
              <a:rPr lang="en-GB" sz="1200" dirty="0" err="1"/>
              <a:t>Freebayes</a:t>
            </a:r>
            <a:r>
              <a:rPr lang="en-GB" sz="1200" dirty="0"/>
              <a:t> just has the 2nd round</a:t>
            </a:r>
          </a:p>
          <a:p>
            <a:r>
              <a:rPr lang="en-GB" sz="1200" dirty="0"/>
              <a:t>GATK needs more coverage than </a:t>
            </a:r>
            <a:r>
              <a:rPr lang="en-GB" sz="1200" dirty="0" err="1"/>
              <a:t>Freebayes</a:t>
            </a:r>
            <a:endParaRPr lang="en-GB" sz="1200" dirty="0"/>
          </a:p>
          <a:p>
            <a:r>
              <a:rPr lang="en-GB" sz="1200" dirty="0"/>
              <a:t>GATK and </a:t>
            </a:r>
            <a:r>
              <a:rPr lang="en-GB" sz="1200" dirty="0" err="1"/>
              <a:t>Freebyases</a:t>
            </a:r>
            <a:r>
              <a:rPr lang="en-GB" sz="1200" dirty="0"/>
              <a:t> only callers designed for polyploids</a:t>
            </a:r>
          </a:p>
          <a:p>
            <a:r>
              <a:rPr lang="en-GB" sz="1200" dirty="0"/>
              <a:t>GATK needs lots of memory!</a:t>
            </a:r>
          </a:p>
          <a:p>
            <a:endParaRPr lang="en-GB" sz="1200" dirty="0"/>
          </a:p>
          <a:p>
            <a:r>
              <a:rPr lang="en-GB" sz="1200" dirty="0"/>
              <a:t>We will use </a:t>
            </a:r>
            <a:r>
              <a:rPr lang="en-GB" sz="1200" dirty="0" err="1"/>
              <a:t>FreeBayes</a:t>
            </a:r>
            <a:r>
              <a:rPr lang="en-GB" sz="1200" dirty="0"/>
              <a:t> for the </a:t>
            </a:r>
            <a:r>
              <a:rPr lang="en-GB" sz="1200" dirty="0" err="1"/>
              <a:t>practicals</a:t>
            </a:r>
            <a:endParaRPr lang="en-GB" sz="1200" dirty="0"/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Mention that we are combining 4 samples together and why: program takes into consideration the observed alleles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freq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multiple samples</a:t>
            </a:r>
            <a:endParaRPr lang="en-GB" dirty="0"/>
          </a:p>
          <a:p>
            <a:endParaRPr lang="en-GB" sz="1200" dirty="0"/>
          </a:p>
          <a:p>
            <a:r>
              <a:rPr lang="en-GB" sz="1200" dirty="0"/>
              <a:t>In contrast, </a:t>
            </a:r>
            <a:r>
              <a:rPr lang="en-GB" sz="1200" dirty="0" err="1"/>
              <a:t>Samtools</a:t>
            </a:r>
            <a:r>
              <a:rPr lang="en-GB" sz="1200" dirty="0"/>
              <a:t> (and </a:t>
            </a:r>
            <a:r>
              <a:rPr lang="en-GB" sz="1200" dirty="0" err="1"/>
              <a:t>varScan</a:t>
            </a:r>
            <a:r>
              <a:rPr lang="en-GB" sz="1200" dirty="0"/>
              <a:t>) which don’t have the haplotyping feature</a:t>
            </a:r>
          </a:p>
          <a:p>
            <a:r>
              <a:rPr lang="en-GB" sz="1200" dirty="0"/>
              <a:t>However SNP calls could be OK with high coverage (What level is classed as high coverage?) – so </a:t>
            </a:r>
            <a:r>
              <a:rPr lang="en-GB" sz="1200" dirty="0" err="1"/>
              <a:t>Samtools</a:t>
            </a:r>
            <a:r>
              <a:rPr lang="en-GB" sz="1200" dirty="0"/>
              <a:t> could also be option if you already have it installed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GB" sz="1200" dirty="0"/>
            </a:br>
            <a:r>
              <a:rPr lang="en-GB" sz="1200" dirty="0"/>
              <a:t>Look at how much coverage is required to call its </a:t>
            </a:r>
            <a:r>
              <a:rPr lang="en-GB" sz="1200" dirty="0" err="1"/>
              <a:t>gettign</a:t>
            </a:r>
            <a:r>
              <a:rPr lang="en-GB" sz="1200" dirty="0"/>
              <a:t> lower an lower.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030460-AEBE-D24A-941C-AD0C81492F2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94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8b999dac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8b999dac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96445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----- Meeting Notes (21/10/2013 09:06) -----</a:t>
            </a:r>
          </a:p>
          <a:p>
            <a:r>
              <a:rPr lang="en-GB" dirty="0" err="1"/>
              <a:t>Regresar</a:t>
            </a:r>
            <a:r>
              <a:rPr lang="en-GB" dirty="0"/>
              <a:t> a la imagen de los </a:t>
            </a:r>
            <a:r>
              <a:rPr lang="en-GB" dirty="0" err="1"/>
              <a:t>parentales</a:t>
            </a:r>
            <a:r>
              <a:rPr lang="en-GB" dirty="0"/>
              <a:t>. </a:t>
            </a:r>
          </a:p>
          <a:p>
            <a:r>
              <a:rPr lang="en-GB" dirty="0" err="1"/>
              <a:t>Poner</a:t>
            </a:r>
            <a:r>
              <a:rPr lang="en-GB" dirty="0"/>
              <a:t> </a:t>
            </a:r>
            <a:r>
              <a:rPr lang="en-GB" dirty="0" err="1"/>
              <a:t>quien</a:t>
            </a:r>
            <a:r>
              <a:rPr lang="en-GB" dirty="0"/>
              <a:t> lo </a:t>
            </a:r>
            <a:r>
              <a:rPr lang="en-GB" dirty="0" err="1"/>
              <a:t>hizo</a:t>
            </a:r>
            <a:r>
              <a:rPr lang="en-GB" dirty="0"/>
              <a:t>,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australia</a:t>
            </a:r>
            <a:r>
              <a:rPr lang="en-GB" dirty="0"/>
              <a:t>. </a:t>
            </a:r>
          </a:p>
          <a:p>
            <a:r>
              <a:rPr lang="en-GB" dirty="0"/>
              <a:t>----- Meeting Notes (03/06/2014 14:37) -----</a:t>
            </a:r>
          </a:p>
          <a:p>
            <a:r>
              <a:rPr lang="en-GB" dirty="0"/>
              <a:t>Add p values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47C2A-1708-4740-A400-3A8436C855EB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817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0E2-D3E2-BF41-A791-1D2C30BF1D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09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49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75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5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45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1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5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9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2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7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72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3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428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93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42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28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1173" y="188640"/>
            <a:ext cx="11137237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>
                <a:solidFill>
                  <a:srgbClr val="C61F16"/>
                </a:solidFill>
                <a:latin typeface="+mn-lt"/>
                <a:ea typeface="Noto Serif" pitchFamily="18" charset="0"/>
                <a:cs typeface="Noto Serif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27382" y="1484784"/>
            <a:ext cx="11137237" cy="43113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C61F16"/>
              </a:buClr>
              <a:defRPr sz="1800" baseline="0">
                <a:solidFill>
                  <a:srgbClr val="4E515A"/>
                </a:solidFill>
                <a:latin typeface="+mn-lt"/>
                <a:ea typeface="Roboto" pitchFamily="2" charset="0"/>
              </a:defRPr>
            </a:lvl1pPr>
            <a:lvl2pPr>
              <a:buClr>
                <a:srgbClr val="C61F16"/>
              </a:buClr>
              <a:defRPr sz="1600">
                <a:solidFill>
                  <a:srgbClr val="4E515A"/>
                </a:solidFill>
                <a:latin typeface="+mn-lt"/>
                <a:ea typeface="Roboto" pitchFamily="2" charset="0"/>
              </a:defRPr>
            </a:lvl2pPr>
            <a:lvl3pPr>
              <a:defRPr>
                <a:solidFill>
                  <a:srgbClr val="4E515A"/>
                </a:solidFill>
              </a:defRPr>
            </a:lvl3pPr>
            <a:lvl4pPr>
              <a:defRPr>
                <a:solidFill>
                  <a:srgbClr val="4E515A"/>
                </a:solidFill>
              </a:defRPr>
            </a:lvl4pPr>
            <a:lvl5pPr>
              <a:defRPr>
                <a:solidFill>
                  <a:srgbClr val="4E515A"/>
                </a:solidFill>
              </a:defRPr>
            </a:lvl5pPr>
          </a:lstStyle>
          <a:p>
            <a:pPr lvl="0"/>
            <a:r>
              <a:rPr lang="en-US" dirty="0"/>
              <a:t>Click to edit content bullet point one</a:t>
            </a:r>
          </a:p>
          <a:p>
            <a:pPr lvl="1"/>
            <a:r>
              <a:rPr lang="en-US" dirty="0"/>
              <a:t>Click to edit content bullet point two</a:t>
            </a:r>
          </a:p>
        </p:txBody>
      </p:sp>
    </p:spTree>
    <p:extLst>
      <p:ext uri="{BB962C8B-B14F-4D97-AF65-F5344CB8AC3E}">
        <p14:creationId xmlns:p14="http://schemas.microsoft.com/office/powerpoint/2010/main" val="12044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931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3B2D3-CC61-054E-B8CD-3F76F8BED1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7BA3925-498D-4C47-8D3C-3B3F84008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5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77" r:id="rId13"/>
    <p:sldLayoutId id="2147483978" r:id="rId14"/>
    <p:sldLayoutId id="2147483979" r:id="rId15"/>
    <p:sldLayoutId id="2147483980" r:id="rId16"/>
    <p:sldLayoutId id="2147483981" r:id="rId17"/>
    <p:sldLayoutId id="214748398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link.springer.com/article/10.1007/s00439-012-1213-z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emf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2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0.emf"/><Relationship Id="rId4" Type="http://schemas.openxmlformats.org/officeDocument/2006/relationships/image" Target="../media/image25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erial view of farming land with country roads">
            <a:extLst>
              <a:ext uri="{FF2B5EF4-FFF2-40B4-BE49-F238E27FC236}">
                <a16:creationId xmlns:a16="http://schemas.microsoft.com/office/drawing/2014/main" id="{B03CEEBF-0AB9-4116-87B4-E11447AC15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68" r="15568"/>
          <a:stretch/>
        </p:blipFill>
        <p:spPr>
          <a:xfrm>
            <a:off x="5097780" y="-1"/>
            <a:ext cx="7091044" cy="6858001"/>
          </a:xfrm>
          <a:custGeom>
            <a:avLst/>
            <a:gdLst/>
            <a:ahLst/>
            <a:cxnLst/>
            <a:rect l="l" t="t" r="r" b="b"/>
            <a:pathLst>
              <a:path w="7091044" h="6858001">
                <a:moveTo>
                  <a:pt x="405750" y="0"/>
                </a:moveTo>
                <a:lnTo>
                  <a:pt x="7091044" y="0"/>
                </a:lnTo>
                <a:lnTo>
                  <a:pt x="7091044" y="6858001"/>
                </a:lnTo>
                <a:lnTo>
                  <a:pt x="53572" y="6858001"/>
                </a:lnTo>
                <a:lnTo>
                  <a:pt x="1828991" y="4521201"/>
                </a:lnTo>
                <a:close/>
                <a:moveTo>
                  <a:pt x="0" y="0"/>
                </a:moveTo>
                <a:lnTo>
                  <a:pt x="405750" y="0"/>
                </a:lnTo>
                <a:lnTo>
                  <a:pt x="0" y="43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CFC694-3DCE-A548-ABB9-18BF1E2D8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66" y="1678666"/>
            <a:ext cx="5123515" cy="23690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100" dirty="0"/>
              <a:t>Data filtering, imputation, phasing, </a:t>
            </a:r>
            <a:r>
              <a:rPr lang="en-GB" sz="4100" dirty="0" err="1"/>
              <a:t>formating</a:t>
            </a:r>
            <a:r>
              <a:rPr lang="en-GB" sz="4100" dirty="0"/>
              <a:t> and exporting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0EE37-8314-324C-B257-F3AFDBCB9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5113217" cy="10969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dirty="0"/>
              <a:t>Ricardo H. Ramirez Gonzalez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19 December 2025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International Masters in Plant Breeding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Ricardo.Ramirez@genomicsengland.co.uk</a:t>
            </a: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1568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E858-9C4F-6442-817D-9CCACD56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formats and filtering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29ECF-2178-0145-8922-D0EF589A7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VCF, CSV, myOwnFormat, xlsx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936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What are people using SNPs and genetic markers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For identifying SNPs associated with inherited  disease </a:t>
            </a:r>
          </a:p>
          <a:p>
            <a:pPr>
              <a:lnSpc>
                <a:spcPct val="90000"/>
              </a:lnSpc>
              <a:buClr>
                <a:schemeClr val="accent1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For studying associations between genetic variants and traits in samples from populations: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Genome-wide association studies (GWAS)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Genotyping by sequencing , association mapping</a:t>
            </a:r>
          </a:p>
          <a:p>
            <a:pPr marL="457200" lvl="1" indent="0">
              <a:lnSpc>
                <a:spcPct val="90000"/>
              </a:lnSpc>
              <a:buClr>
                <a:schemeClr val="accent1"/>
              </a:buClr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Population evolution and variation Genetics</a:t>
            </a:r>
          </a:p>
          <a:p>
            <a:pPr>
              <a:lnSpc>
                <a:spcPct val="90000"/>
              </a:lnSpc>
              <a:buClr>
                <a:schemeClr val="accent1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Bulk segregant analysis (BSA) – used to identify SNPs or genetic markers associated with a mutant phenotype</a:t>
            </a:r>
          </a:p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Candidates for gene editing</a:t>
            </a:r>
          </a:p>
        </p:txBody>
      </p:sp>
    </p:spTree>
    <p:extLst>
      <p:ext uri="{BB962C8B-B14F-4D97-AF65-F5344CB8AC3E}">
        <p14:creationId xmlns:p14="http://schemas.microsoft.com/office/powerpoint/2010/main" val="52271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practical example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8048" y="1268761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Avocet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5800" y="1340769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Avocet+Yr15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1784" y="6381328"/>
            <a:ext cx="4746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Lines developed by the University of Sydney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4233" y="5445224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sz="1100" kern="0" dirty="0">
                <a:solidFill>
                  <a:srgbClr val="FFFFFF"/>
                </a:solidFill>
              </a:rPr>
              <a:t> Segovia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1865" y="5445224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sz="1100" kern="0" dirty="0">
                <a:solidFill>
                  <a:srgbClr val="FFFFFF"/>
                </a:solidFill>
              </a:rPr>
              <a:t> Segovia V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08" y="1772816"/>
            <a:ext cx="4159076" cy="4431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7809" y="5877272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sz="1100" kern="0" dirty="0">
                <a:solidFill>
                  <a:srgbClr val="FFFFFF"/>
                </a:solidFill>
              </a:rPr>
              <a:t> Segovia V</a:t>
            </a:r>
          </a:p>
        </p:txBody>
      </p:sp>
    </p:spTree>
    <p:extLst>
      <p:ext uri="{BB962C8B-B14F-4D97-AF65-F5344CB8AC3E}">
        <p14:creationId xmlns:p14="http://schemas.microsoft.com/office/powerpoint/2010/main" val="61974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GB" baseline="-25000" dirty="0"/>
              <a:t>2</a:t>
            </a:r>
            <a:r>
              <a:rPr lang="en-GB" dirty="0"/>
              <a:t> population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1268760"/>
            <a:ext cx="6948264" cy="48617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55841" y="6237312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Expected segregation:  3:1</a:t>
            </a:r>
          </a:p>
        </p:txBody>
      </p:sp>
    </p:spTree>
    <p:extLst>
      <p:ext uri="{BB962C8B-B14F-4D97-AF65-F5344CB8AC3E}">
        <p14:creationId xmlns:p14="http://schemas.microsoft.com/office/powerpoint/2010/main" val="315301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DA5790-695E-3C48-9B2F-675A49D8AC08}"/>
              </a:ext>
            </a:extLst>
          </p:cNvPr>
          <p:cNvSpPr txBox="1"/>
          <p:nvPr/>
        </p:nvSpPr>
        <p:spPr>
          <a:xfrm>
            <a:off x="451943" y="2548428"/>
            <a:ext cx="92175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Most of the time spent on bioinformatics is on data formatting </a:t>
            </a:r>
          </a:p>
        </p:txBody>
      </p:sp>
    </p:spTree>
    <p:extLst>
      <p:ext uri="{BB962C8B-B14F-4D97-AF65-F5344CB8AC3E}">
        <p14:creationId xmlns:p14="http://schemas.microsoft.com/office/powerpoint/2010/main" val="34845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B6D8080-5C86-8249-889D-9A624649E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214" y="175655"/>
            <a:ext cx="5434845" cy="66195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1541B2-011B-7047-8C40-B70D689643E9}"/>
              </a:ext>
            </a:extLst>
          </p:cNvPr>
          <p:cNvSpPr/>
          <p:nvPr/>
        </p:nvSpPr>
        <p:spPr>
          <a:xfrm>
            <a:off x="5049795" y="175655"/>
            <a:ext cx="3838832" cy="6505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F8EA65-CB62-8D4F-8B30-C02930CF6528}"/>
              </a:ext>
            </a:extLst>
          </p:cNvPr>
          <p:cNvSpPr/>
          <p:nvPr/>
        </p:nvSpPr>
        <p:spPr>
          <a:xfrm>
            <a:off x="3330214" y="3517557"/>
            <a:ext cx="5710813" cy="3315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31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B6D8080-5C86-8249-889D-9A624649E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214" y="175655"/>
            <a:ext cx="5434845" cy="66195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1541B2-011B-7047-8C40-B70D689643E9}"/>
              </a:ext>
            </a:extLst>
          </p:cNvPr>
          <p:cNvSpPr/>
          <p:nvPr/>
        </p:nvSpPr>
        <p:spPr>
          <a:xfrm>
            <a:off x="7026875" y="175655"/>
            <a:ext cx="1861751" cy="6505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F8EA65-CB62-8D4F-8B30-C02930CF6528}"/>
              </a:ext>
            </a:extLst>
          </p:cNvPr>
          <p:cNvSpPr/>
          <p:nvPr/>
        </p:nvSpPr>
        <p:spPr>
          <a:xfrm>
            <a:off x="3330214" y="3517557"/>
            <a:ext cx="5710813" cy="3315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06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B6D8080-5C86-8249-889D-9A624649E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214" y="175655"/>
            <a:ext cx="5434845" cy="66195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CF8EA65-CB62-8D4F-8B30-C02930CF6528}"/>
              </a:ext>
            </a:extLst>
          </p:cNvPr>
          <p:cNvSpPr/>
          <p:nvPr/>
        </p:nvSpPr>
        <p:spPr>
          <a:xfrm>
            <a:off x="3330214" y="3517557"/>
            <a:ext cx="5710813" cy="3315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84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B6D8080-5C86-8249-889D-9A624649E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214" y="175655"/>
            <a:ext cx="5434845" cy="66195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CF8EA65-CB62-8D4F-8B30-C02930CF6528}"/>
              </a:ext>
            </a:extLst>
          </p:cNvPr>
          <p:cNvSpPr/>
          <p:nvPr/>
        </p:nvSpPr>
        <p:spPr>
          <a:xfrm>
            <a:off x="5132173" y="3517557"/>
            <a:ext cx="3908854" cy="3315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9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B6D8080-5C86-8249-889D-9A624649E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214" y="175655"/>
            <a:ext cx="5434845" cy="66195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CF8EA65-CB62-8D4F-8B30-C02930CF6528}"/>
              </a:ext>
            </a:extLst>
          </p:cNvPr>
          <p:cNvSpPr/>
          <p:nvPr/>
        </p:nvSpPr>
        <p:spPr>
          <a:xfrm>
            <a:off x="6985685" y="3517557"/>
            <a:ext cx="2055341" cy="3315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1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B6D8080-5C86-8249-889D-9A624649E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214" y="175655"/>
            <a:ext cx="5434845" cy="661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59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F2779-A693-A54D-96CD-C3BEF6BE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Genotyping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F25AA-0A7E-4942-B1A5-E35973A50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data do you capture?</a:t>
            </a:r>
          </a:p>
          <a:p>
            <a:r>
              <a:rPr lang="en-US" dirty="0"/>
              <a:t>How do you decide what data is important to capture?</a:t>
            </a:r>
          </a:p>
          <a:p>
            <a:r>
              <a:rPr lang="en-US" dirty="0"/>
              <a:t>Do you use previously known markers, or do you develop your own?</a:t>
            </a:r>
          </a:p>
          <a:p>
            <a:r>
              <a:rPr lang="en-US" dirty="0"/>
              <a:t>How do you get the data?  </a:t>
            </a:r>
          </a:p>
          <a:p>
            <a:r>
              <a:rPr lang="en-US" dirty="0"/>
              <a:t>Do you know any genotyping file format?</a:t>
            </a:r>
          </a:p>
          <a:p>
            <a:r>
              <a:rPr lang="en-US" dirty="0"/>
              <a:t>Would you make your own format? What would you include?</a:t>
            </a:r>
          </a:p>
        </p:txBody>
      </p:sp>
    </p:spTree>
    <p:extLst>
      <p:ext uri="{BB962C8B-B14F-4D97-AF65-F5344CB8AC3E}">
        <p14:creationId xmlns:p14="http://schemas.microsoft.com/office/powerpoint/2010/main" val="333978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1BD368-E15F-1742-82A7-8111E96A4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Discussion on data to capture on genotyping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215DC0B-2B3F-CB44-9DB6-BC8462E40F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Breakout rooms (15 minutes)</a:t>
            </a:r>
          </a:p>
        </p:txBody>
      </p:sp>
    </p:spTree>
    <p:extLst>
      <p:ext uri="{BB962C8B-B14F-4D97-AF65-F5344CB8AC3E}">
        <p14:creationId xmlns:p14="http://schemas.microsoft.com/office/powerpoint/2010/main" val="2133762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F2779-A693-A54D-96CD-C3BEF6BE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Genotyping data (return from breakout)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F25AA-0A7E-4942-B1A5-E35973A50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data do you capture?</a:t>
            </a:r>
          </a:p>
          <a:p>
            <a:r>
              <a:rPr lang="en-US" dirty="0"/>
              <a:t>How do you decide what data is important to capture?</a:t>
            </a:r>
          </a:p>
          <a:p>
            <a:r>
              <a:rPr lang="en-US" dirty="0"/>
              <a:t>Do you use previously known markers, or do you develop your own?</a:t>
            </a:r>
          </a:p>
          <a:p>
            <a:r>
              <a:rPr lang="en-US" dirty="0"/>
              <a:t>How do you get the data?  </a:t>
            </a:r>
          </a:p>
          <a:p>
            <a:r>
              <a:rPr lang="en-US" dirty="0"/>
              <a:t>Do you know any genotyping file format?</a:t>
            </a:r>
          </a:p>
          <a:p>
            <a:r>
              <a:rPr lang="en-US" dirty="0"/>
              <a:t>Would you make your own format? What would you include?</a:t>
            </a:r>
          </a:p>
        </p:txBody>
      </p:sp>
    </p:spTree>
    <p:extLst>
      <p:ext uri="{BB962C8B-B14F-4D97-AF65-F5344CB8AC3E}">
        <p14:creationId xmlns:p14="http://schemas.microsoft.com/office/powerpoint/2010/main" val="1123893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61777" y="1270659"/>
            <a:ext cx="9784000" cy="1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533" dirty="0"/>
              <a:t>Team X</a:t>
            </a:r>
            <a:endParaRPr sz="2533" dirty="0"/>
          </a:p>
        </p:txBody>
      </p:sp>
      <p:sp>
        <p:nvSpPr>
          <p:cNvPr id="61" name="Google Shape;61;p14"/>
          <p:cNvSpPr txBox="1"/>
          <p:nvPr/>
        </p:nvSpPr>
        <p:spPr>
          <a:xfrm>
            <a:off x="561777" y="2038759"/>
            <a:ext cx="9306618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333"/>
              </a:spcBef>
            </a:pPr>
            <a:r>
              <a:rPr lang="en" sz="1600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What data do you capture? </a:t>
            </a:r>
          </a:p>
          <a:p>
            <a:pPr>
              <a:lnSpc>
                <a:spcPct val="115000"/>
              </a:lnSpc>
              <a:spcBef>
                <a:spcPts val="1333"/>
              </a:spcBef>
            </a:pPr>
            <a:r>
              <a:rPr lang="en" sz="1600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How do you decide what data is important to capture?  </a:t>
            </a:r>
            <a:endParaRPr sz="1600" b="1" dirty="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lnSpc>
                <a:spcPct val="115000"/>
              </a:lnSpc>
              <a:spcBef>
                <a:spcPts val="1333"/>
              </a:spcBef>
            </a:pPr>
            <a:r>
              <a:rPr lang="en" sz="1600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Do you use previously known markers, or do you develop your own?  </a:t>
            </a:r>
            <a:endParaRPr sz="1600" b="1" dirty="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lnSpc>
                <a:spcPct val="115000"/>
              </a:lnSpc>
              <a:spcBef>
                <a:spcPts val="1333"/>
              </a:spcBef>
            </a:pPr>
            <a:r>
              <a:rPr lang="en" sz="1600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How do you get the data?  Genotyping data - from the provider</a:t>
            </a:r>
            <a:endParaRPr sz="1600" b="1" dirty="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lnSpc>
                <a:spcPct val="115000"/>
              </a:lnSpc>
              <a:spcBef>
                <a:spcPts val="1333"/>
              </a:spcBef>
            </a:pPr>
            <a:r>
              <a:rPr lang="en" sz="1600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Do you know any genotyping file format? </a:t>
            </a:r>
            <a:endParaRPr sz="1600" b="1" dirty="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lnSpc>
                <a:spcPct val="115000"/>
              </a:lnSpc>
              <a:spcBef>
                <a:spcPts val="1333"/>
              </a:spcBef>
            </a:pPr>
            <a:r>
              <a:rPr lang="en" sz="1600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Would you make your own format? What would you include?  </a:t>
            </a:r>
            <a:endParaRPr sz="1600" b="1" dirty="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21208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604C-5307-AA44-A192-5DCC6B6AD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manipulation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9FEC0-B11A-5B43-A50A-FF7A66536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Formatting and exporting</a:t>
            </a:r>
          </a:p>
        </p:txBody>
      </p:sp>
    </p:spTree>
    <p:extLst>
      <p:ext uri="{BB962C8B-B14F-4D97-AF65-F5344CB8AC3E}">
        <p14:creationId xmlns:p14="http://schemas.microsoft.com/office/powerpoint/2010/main" val="2117096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43B10-12FE-0645-8E3D-A6B4FA75A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Excel files with genotypes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AF83BD4-FEC7-4A97-AC4F-E86276BA4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704" y="1930400"/>
            <a:ext cx="2948121" cy="3880773"/>
          </a:xfrm>
        </p:spPr>
        <p:txBody>
          <a:bodyPr>
            <a:normAutofit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Easy to produce manually</a:t>
            </a:r>
          </a:p>
          <a:p>
            <a:pPr lvl="1"/>
            <a:r>
              <a:rPr lang="en-US" dirty="0"/>
              <a:t>Accessible, anyone can get and use a spreadsheet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Nonstandard format</a:t>
            </a:r>
          </a:p>
          <a:p>
            <a:pPr lvl="1"/>
            <a:r>
              <a:rPr lang="en-US" dirty="0"/>
              <a:t>Large datasets may crash excel</a:t>
            </a:r>
          </a:p>
          <a:p>
            <a:pPr lvl="1"/>
            <a:r>
              <a:rPr lang="en-US" dirty="0"/>
              <a:t>Hard to replicate analysis done in excel</a:t>
            </a:r>
          </a:p>
          <a:p>
            <a:pPr lvl="1"/>
            <a:endParaRPr lang="en-US" dirty="0"/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E0E1F512-76F9-0F4E-930B-067DE52D6E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59" b="1"/>
          <a:stretch/>
        </p:blipFill>
        <p:spPr>
          <a:xfrm>
            <a:off x="4132666" y="1331888"/>
            <a:ext cx="3607921" cy="5335417"/>
          </a:xfrm>
          <a:prstGeom prst="rect">
            <a:avLst/>
          </a:prstGeom>
        </p:spPr>
      </p:pic>
      <p:pic>
        <p:nvPicPr>
          <p:cNvPr id="7" name="Picture 6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0AD15DB4-6FD6-A14E-928D-BFAB493D63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865" b="1"/>
          <a:stretch/>
        </p:blipFill>
        <p:spPr>
          <a:xfrm>
            <a:off x="8110846" y="1359097"/>
            <a:ext cx="3589522" cy="530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7951-9C06-4145-8F25-20D0C230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Variant Call Format (VCF)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04519-07F1-A943-967D-FF6A4EAA5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Advantages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Standard format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Several tools to manipulate filter 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Several bioinformatic tools produce them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Flexible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Disadvantages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Difficult to interpret without specialized tools 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Different tools produce slightly different </a:t>
            </a:r>
            <a:r>
              <a:rPr lang="en-US" sz="1700" dirty="0" err="1">
                <a:solidFill>
                  <a:schemeClr val="tx1"/>
                </a:solidFill>
              </a:rPr>
              <a:t>annotationx</a:t>
            </a:r>
            <a:endParaRPr lang="en-US" sz="1700" dirty="0">
              <a:solidFill>
                <a:schemeClr val="tx1"/>
              </a:solidFill>
            </a:endParaRP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1070DD94-6477-3E44-A95A-CFAA6737B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228" y="492524"/>
            <a:ext cx="7936416" cy="587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93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1280" y="31478"/>
            <a:ext cx="8352928" cy="1143000"/>
          </a:xfrm>
        </p:spPr>
        <p:txBody>
          <a:bodyPr/>
          <a:lstStyle/>
          <a:p>
            <a:pPr algn="ctr"/>
            <a:r>
              <a:rPr lang="en-GB" dirty="0"/>
              <a:t>Building a SNP calling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B02851-BC65-F540-9479-A58A26BA9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470" y="651134"/>
            <a:ext cx="4519662" cy="55557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19C4D4-7A9C-1B49-B9F5-57DFE5299687}"/>
              </a:ext>
            </a:extLst>
          </p:cNvPr>
          <p:cNvSpPr txBox="1"/>
          <p:nvPr/>
        </p:nvSpPr>
        <p:spPr>
          <a:xfrm>
            <a:off x="3256180" y="6353146"/>
            <a:ext cx="5795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Altmann et al (2012) Beginners Guide to SNP calling...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312298B-E1DF-CF46-BA66-A1056B4A8897}"/>
              </a:ext>
            </a:extLst>
          </p:cNvPr>
          <p:cNvSpPr/>
          <p:nvPr/>
        </p:nvSpPr>
        <p:spPr>
          <a:xfrm>
            <a:off x="2709642" y="4547968"/>
            <a:ext cx="644414" cy="355003"/>
          </a:xfrm>
          <a:prstGeom prst="rightArrow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kern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19578F82-79C9-174D-920C-76A5A820ECEA}"/>
              </a:ext>
            </a:extLst>
          </p:cNvPr>
          <p:cNvSpPr/>
          <p:nvPr/>
        </p:nvSpPr>
        <p:spPr>
          <a:xfrm>
            <a:off x="2717991" y="5160102"/>
            <a:ext cx="644414" cy="355003"/>
          </a:xfrm>
          <a:prstGeom prst="rightArrow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kern="0">
              <a:solidFill>
                <a:srgbClr val="FF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89569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0" y="825500"/>
            <a:ext cx="5905500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1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005253" y="2530779"/>
            <a:ext cx="255840" cy="255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348" y="716096"/>
            <a:ext cx="5384800" cy="2209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69313" y="100658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26637" y="101856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010841-9E38-0740-969C-E04CBB4DC597}"/>
              </a:ext>
            </a:extLst>
          </p:cNvPr>
          <p:cNvSpPr txBox="1">
            <a:spLocks/>
          </p:cNvSpPr>
          <p:nvPr/>
        </p:nvSpPr>
        <p:spPr>
          <a:xfrm>
            <a:off x="656130" y="15995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Bulk Frequency Ratios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582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5005253" y="2530779"/>
            <a:ext cx="255840" cy="255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7652094" y="2530779"/>
            <a:ext cx="255840" cy="255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7658300" y="1477175"/>
            <a:ext cx="255840" cy="25584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463" y="716164"/>
            <a:ext cx="5384800" cy="2209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69313" y="100658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26637" y="101856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1663D99-0C26-7B4E-A7A1-3FE53DDBF96A}"/>
              </a:ext>
            </a:extLst>
          </p:cNvPr>
          <p:cNvSpPr txBox="1">
            <a:spLocks/>
          </p:cNvSpPr>
          <p:nvPr/>
        </p:nvSpPr>
        <p:spPr>
          <a:xfrm>
            <a:off x="656130" y="15995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Bulk Frequency Ratios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21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719328" y="3654556"/>
            <a:ext cx="194812" cy="15897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5005253" y="2530779"/>
            <a:ext cx="255840" cy="255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7652094" y="2530779"/>
            <a:ext cx="255840" cy="255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7658300" y="1477175"/>
            <a:ext cx="255840" cy="25584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5069213" y="3654556"/>
            <a:ext cx="191881" cy="158973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6023113" y="4349839"/>
            <a:ext cx="635964" cy="36933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5387149" y="5923647"/>
            <a:ext cx="760247" cy="300123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8940774" y="4387301"/>
            <a:ext cx="624049" cy="33186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5399065" y="5444033"/>
            <a:ext cx="748331" cy="33186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519" y="719632"/>
            <a:ext cx="5613400" cy="4724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130" y="159956"/>
            <a:ext cx="8596668" cy="1320800"/>
          </a:xfrm>
        </p:spPr>
        <p:txBody>
          <a:bodyPr>
            <a:normAutofit/>
          </a:bodyPr>
          <a:lstStyle/>
          <a:p>
            <a:r>
              <a:rPr lang="en-GB" dirty="0"/>
              <a:t>Bulk Frequency Ratios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0775" y="4349837"/>
            <a:ext cx="1852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SNP Index 184A: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202" y="4193601"/>
            <a:ext cx="1390470" cy="67844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9593" y="4193601"/>
            <a:ext cx="1215230" cy="67844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60775" y="5590858"/>
            <a:ext cx="2643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Bulk Frequency Ratio:  </a:t>
            </a:r>
            <a:r>
              <a:rPr lang="en-GB" baseline="-25000" dirty="0"/>
              <a:t>﻿﻿</a:t>
            </a:r>
            <a:r>
              <a:rPr lang="en-GB" baseline="30000" dirty="0"/>
              <a:t> </a:t>
            </a:r>
            <a:endParaRPr lang="en-GB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1093" y="5444032"/>
            <a:ext cx="1660392" cy="81628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69313" y="100658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26637" y="101856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4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11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LL.heatmap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17" y="-106569"/>
            <a:ext cx="5324140" cy="70820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181" y="647048"/>
            <a:ext cx="4634988" cy="54462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Rounded Rectangle 7"/>
          <p:cNvSpPr/>
          <p:nvPr/>
        </p:nvSpPr>
        <p:spPr>
          <a:xfrm>
            <a:off x="1588893" y="6056753"/>
            <a:ext cx="1307323" cy="261610"/>
          </a:xfrm>
          <a:prstGeom prst="roundRect">
            <a:avLst/>
          </a:prstGeom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367598" y="84185"/>
            <a:ext cx="1375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FFFF"/>
                </a:solidFill>
              </a:rPr>
              <a:t>All  SNPs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5830" y="84185"/>
            <a:ext cx="1758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SNPs BFR&gt;6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88892" y="6093297"/>
            <a:ext cx="90791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1100" dirty="0">
                <a:solidFill>
                  <a:srgbClr val="000000"/>
                </a:solidFill>
              </a:rPr>
              <a:t>S. Wang, et al (2014). Characterization of </a:t>
            </a:r>
            <a:r>
              <a:rPr lang="en-GB" sz="1100" dirty="0" err="1">
                <a:solidFill>
                  <a:srgbClr val="000000"/>
                </a:solidFill>
              </a:rPr>
              <a:t>polyploid</a:t>
            </a:r>
            <a:r>
              <a:rPr lang="en-GB" sz="1100" dirty="0">
                <a:solidFill>
                  <a:srgbClr val="000000"/>
                </a:solidFill>
              </a:rPr>
              <a:t> wheat genomic diversity using a high-density 90,000 </a:t>
            </a:r>
            <a:r>
              <a:rPr lang="en-GB" sz="1100" dirty="0">
                <a:solidFill>
                  <a:srgbClr val="000000"/>
                </a:solidFill>
                <a:latin typeface="ArialMT"/>
              </a:rPr>
              <a:t>SNP array. </a:t>
            </a:r>
            <a:r>
              <a:rPr lang="en-GB" sz="1100" i="1" dirty="0">
                <a:solidFill>
                  <a:srgbClr val="000000"/>
                </a:solidFill>
                <a:latin typeface="ArialMT"/>
              </a:rPr>
              <a:t>Plant Biotechnology Journal.</a:t>
            </a:r>
            <a:endParaRPr lang="en-US" sz="1100" dirty="0">
              <a:solidFill>
                <a:srgbClr val="00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053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317" y="0"/>
            <a:ext cx="8596668" cy="1320800"/>
          </a:xfrm>
        </p:spPr>
        <p:txBody>
          <a:bodyPr>
            <a:normAutofit/>
          </a:bodyPr>
          <a:lstStyle/>
          <a:p>
            <a:r>
              <a:rPr lang="en-GB" dirty="0"/>
              <a:t>BFRs near the 1B centromere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7" b="100000" l="497" r="76159">
                        <a14:foregroundMark x1="76159" y1="44615" x2="76159" y2="44615"/>
                        <a14:foregroundMark x1="42550" y1="16538" x2="42550" y2="16538"/>
                        <a14:foregroundMark x1="42715" y1="20962" x2="42715" y2="20962"/>
                        <a14:foregroundMark x1="6291" y1="13077" x2="6291" y2="13077"/>
                        <a14:foregroundMark x1="9272" y1="15577" x2="9272" y2="15577"/>
                        <a14:foregroundMark x1="13742" y1="5962" x2="48675" y2="61923"/>
                        <a14:foregroundMark x1="49503" y1="2500" x2="66887" y2="61154"/>
                        <a14:foregroundMark x1="67881" y1="63077" x2="67881" y2="97115"/>
                      </a14:backgroundRemoval>
                    </a14:imgEffect>
                  </a14:imgLayer>
                </a14:imgProps>
              </a:ext>
            </a:extLst>
          </a:blip>
          <a:srcRect l="-16672" r="-16672"/>
          <a:stretch>
            <a:fillRect/>
          </a:stretch>
        </p:blipFill>
        <p:spPr>
          <a:xfrm>
            <a:off x="2968015" y="739710"/>
            <a:ext cx="8229600" cy="5313363"/>
          </a:xfrm>
        </p:spPr>
      </p:pic>
    </p:spTree>
    <p:extLst>
      <p:ext uri="{BB962C8B-B14F-4D97-AF65-F5344CB8AC3E}">
        <p14:creationId xmlns:p14="http://schemas.microsoft.com/office/powerpoint/2010/main" val="11023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Selection criteria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08282" y="1384523"/>
            <a:ext cx="8596668" cy="3880773"/>
          </a:xfrm>
        </p:spPr>
        <p:txBody>
          <a:bodyPr/>
          <a:lstStyle/>
          <a:p>
            <a:r>
              <a:rPr lang="en-US" dirty="0"/>
              <a:t>Origin (</a:t>
            </a:r>
            <a:r>
              <a:rPr lang="en-US" i="1" dirty="0"/>
              <a:t>Yr15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Short arm Chromosome group 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BFR &gt; 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555" y="812800"/>
            <a:ext cx="2288717" cy="17071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34853" y="917605"/>
            <a:ext cx="1790319" cy="1706378"/>
          </a:xfrm>
          <a:prstGeom prst="rect">
            <a:avLst/>
          </a:prstGeom>
          <a:solidFill>
            <a:srgbClr val="FFFFFF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284" y="3050644"/>
            <a:ext cx="7239215" cy="131067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13670" y="3175140"/>
            <a:ext cx="2800013" cy="299541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4806616" y="3615099"/>
            <a:ext cx="3414399" cy="331426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5165555" y="4040918"/>
            <a:ext cx="4142327" cy="320404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480" y="4507942"/>
            <a:ext cx="2050923" cy="174114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95274" y="5921376"/>
            <a:ext cx="1511273" cy="74307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8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765" y="15640"/>
            <a:ext cx="8596668" cy="1320800"/>
          </a:xfrm>
        </p:spPr>
        <p:txBody>
          <a:bodyPr>
            <a:normAutofit/>
          </a:bodyPr>
          <a:lstStyle/>
          <a:p>
            <a:r>
              <a:rPr lang="en-GB" dirty="0"/>
              <a:t>Candidate selection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0EA5D51-9D95-1849-BCCE-B82DFD2DC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Content Placeholder 8">
            <a:extLst>
              <a:ext uri="{FF2B5EF4-FFF2-40B4-BE49-F238E27FC236}">
                <a16:creationId xmlns:a16="http://schemas.microsoft.com/office/drawing/2014/main" id="{4E9F26D2-3BB3-8C46-83CB-C53E4EC854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7658" r="-37658"/>
          <a:stretch>
            <a:fillRect/>
          </a:stretch>
        </p:blipFill>
        <p:spPr>
          <a:xfrm>
            <a:off x="457200" y="812800"/>
            <a:ext cx="8229600" cy="531336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22A1AF0-3DD2-5041-AA08-21A802076CEB}"/>
              </a:ext>
            </a:extLst>
          </p:cNvPr>
          <p:cNvSpPr/>
          <p:nvPr/>
        </p:nvSpPr>
        <p:spPr>
          <a:xfrm>
            <a:off x="2522945" y="6067474"/>
            <a:ext cx="4098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Putative genes with SNP: 16,022 (17.01%)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F04E12-945F-624C-90E8-BEC887C90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65" y="3925052"/>
            <a:ext cx="1592568" cy="11878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754EDF5-A978-6843-8E53-5D34EA428795}"/>
              </a:ext>
            </a:extLst>
          </p:cNvPr>
          <p:cNvSpPr/>
          <p:nvPr/>
        </p:nvSpPr>
        <p:spPr>
          <a:xfrm>
            <a:off x="1528671" y="4029857"/>
            <a:ext cx="1245765" cy="1187356"/>
          </a:xfrm>
          <a:prstGeom prst="rect">
            <a:avLst/>
          </a:prstGeom>
          <a:solidFill>
            <a:srgbClr val="FFFFFF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360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Candidate selection</a:t>
            </a:r>
          </a:p>
        </p:txBody>
      </p:sp>
      <p:pic>
        <p:nvPicPr>
          <p:cNvPr id="24" name="Content Placeholder 12">
            <a:extLst>
              <a:ext uri="{FF2B5EF4-FFF2-40B4-BE49-F238E27FC236}">
                <a16:creationId xmlns:a16="http://schemas.microsoft.com/office/drawing/2014/main" id="{2ED57D33-6D17-9F41-9A9F-9D6D77E4A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-37658" r="-37658"/>
          <a:stretch>
            <a:fillRect/>
          </a:stretch>
        </p:blipFill>
        <p:spPr>
          <a:xfrm>
            <a:off x="1312224" y="993726"/>
            <a:ext cx="8229600" cy="5313363"/>
          </a:xfr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6F60E73-FE67-F147-AE8A-847BE3BF46D4}"/>
              </a:ext>
            </a:extLst>
          </p:cNvPr>
          <p:cNvSpPr/>
          <p:nvPr/>
        </p:nvSpPr>
        <p:spPr>
          <a:xfrm>
            <a:off x="3377969" y="6248400"/>
            <a:ext cx="4098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Putative genes with SNP: 16,022 (17.01%)</a:t>
            </a:r>
            <a:endParaRPr lang="en-GB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324F00A-4D95-C742-80C5-AF8B8E100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229" y="3894510"/>
            <a:ext cx="1592568" cy="118789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9C59263-B98C-FE4F-8888-E3E0151C4F44}"/>
              </a:ext>
            </a:extLst>
          </p:cNvPr>
          <p:cNvSpPr/>
          <p:nvPr/>
        </p:nvSpPr>
        <p:spPr>
          <a:xfrm>
            <a:off x="2728443" y="3999315"/>
            <a:ext cx="1245765" cy="1187356"/>
          </a:xfrm>
          <a:prstGeom prst="rect">
            <a:avLst/>
          </a:prstGeom>
          <a:solidFill>
            <a:srgbClr val="FFFFFF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effectLst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E2B7973-0624-FE4D-A307-7081C2B42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664" y="1998922"/>
            <a:ext cx="3841758" cy="69556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268FA85-2F41-A443-ADC8-36C50E0B8882}"/>
              </a:ext>
            </a:extLst>
          </p:cNvPr>
          <p:cNvSpPr/>
          <p:nvPr/>
        </p:nvSpPr>
        <p:spPr>
          <a:xfrm>
            <a:off x="2367895" y="1998922"/>
            <a:ext cx="1464192" cy="252691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effectLst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22476F-DDBE-DD48-BE2D-49FC15979F7D}"/>
              </a:ext>
            </a:extLst>
          </p:cNvPr>
          <p:cNvSpPr/>
          <p:nvPr/>
        </p:nvSpPr>
        <p:spPr>
          <a:xfrm>
            <a:off x="2239613" y="2274626"/>
            <a:ext cx="1822541" cy="207067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effectLst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AB69AE-2B24-CF41-8622-3C3B0818BF16}"/>
              </a:ext>
            </a:extLst>
          </p:cNvPr>
          <p:cNvSpPr/>
          <p:nvPr/>
        </p:nvSpPr>
        <p:spPr>
          <a:xfrm>
            <a:off x="2442627" y="2521355"/>
            <a:ext cx="2171686" cy="207067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9999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Candidate selection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3893" y="4901484"/>
            <a:ext cx="1511273" cy="74307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C13152-A2B2-8946-896D-FED2C51F427D}"/>
              </a:ext>
            </a:extLst>
          </p:cNvPr>
          <p:cNvSpPr/>
          <p:nvPr/>
        </p:nvSpPr>
        <p:spPr>
          <a:xfrm>
            <a:off x="3015926" y="6488668"/>
            <a:ext cx="4098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Putative genes with SNP: 16,022 (17.01%)</a:t>
            </a:r>
            <a:endParaRPr lang="en-GB" dirty="0"/>
          </a:p>
        </p:txBody>
      </p:sp>
      <p:pic>
        <p:nvPicPr>
          <p:cNvPr id="19" name="Content Placeholder 8">
            <a:extLst>
              <a:ext uri="{FF2B5EF4-FFF2-40B4-BE49-F238E27FC236}">
                <a16:creationId xmlns:a16="http://schemas.microsoft.com/office/drawing/2014/main" id="{47AF20EF-7290-0146-BDB5-D97DD2A96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-24637" r="-24637"/>
          <a:stretch>
            <a:fillRect/>
          </a:stretch>
        </p:blipFill>
        <p:spPr>
          <a:xfrm>
            <a:off x="950181" y="1233994"/>
            <a:ext cx="8229600" cy="5313363"/>
          </a:xfr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A623497-024F-F14F-828D-7296BF2CA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186" y="4134778"/>
            <a:ext cx="1592568" cy="118789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52AD1CE-8D62-D34B-977E-FFC87BA8CDA4}"/>
              </a:ext>
            </a:extLst>
          </p:cNvPr>
          <p:cNvSpPr/>
          <p:nvPr/>
        </p:nvSpPr>
        <p:spPr>
          <a:xfrm>
            <a:off x="2366400" y="4239583"/>
            <a:ext cx="913411" cy="1187356"/>
          </a:xfrm>
          <a:prstGeom prst="rect">
            <a:avLst/>
          </a:prstGeom>
          <a:solidFill>
            <a:srgbClr val="FFFFFF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effectLst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5B72CE1-A4F0-8445-9642-E115A3513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21" y="1875069"/>
            <a:ext cx="3841758" cy="69556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803688B-1F5F-384A-BB75-B3C58ABF55B4}"/>
              </a:ext>
            </a:extLst>
          </p:cNvPr>
          <p:cNvSpPr/>
          <p:nvPr/>
        </p:nvSpPr>
        <p:spPr>
          <a:xfrm>
            <a:off x="2005852" y="1875069"/>
            <a:ext cx="1464192" cy="252691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effectLst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020AB0-EE73-0C4A-8036-9D4B740710B0}"/>
              </a:ext>
            </a:extLst>
          </p:cNvPr>
          <p:cNvSpPr/>
          <p:nvPr/>
        </p:nvSpPr>
        <p:spPr>
          <a:xfrm>
            <a:off x="1877570" y="2150773"/>
            <a:ext cx="1822541" cy="207067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effectLst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36AF72-4FD2-A346-A11B-4C2043E4DE82}"/>
              </a:ext>
            </a:extLst>
          </p:cNvPr>
          <p:cNvSpPr/>
          <p:nvPr/>
        </p:nvSpPr>
        <p:spPr>
          <a:xfrm>
            <a:off x="2080584" y="2397502"/>
            <a:ext cx="2171686" cy="207067"/>
          </a:xfrm>
          <a:prstGeom prst="rect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effectLst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C6853A7-2EC4-664E-B936-05352039E8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079" y="3909244"/>
            <a:ext cx="2050923" cy="174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4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63700" y="5808187"/>
            <a:ext cx="8191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Nielsen R, Paul JS, </a:t>
            </a:r>
            <a:r>
              <a:rPr lang="en-US" sz="1200" dirty="0" err="1"/>
              <a:t>Albrechtsen</a:t>
            </a:r>
            <a:r>
              <a:rPr lang="en-US" sz="1200" dirty="0"/>
              <a:t> A, Song YS. Genotype and SNP calling from next-generation sequencing data. Nat Rev Genet. 2011 Jun;12(6):443-51. PMID: 21587300.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1001" y="6251963"/>
            <a:ext cx="3151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http://</a:t>
            </a:r>
            <a:r>
              <a:rPr lang="en-US" sz="1200" dirty="0" err="1"/>
              <a:t>seqanswers.com</a:t>
            </a:r>
            <a:r>
              <a:rPr lang="en-US" sz="1200" dirty="0"/>
              <a:t>/wiki/Software/list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B974AA-13E7-8C43-A888-A6C9735F0319}"/>
              </a:ext>
            </a:extLst>
          </p:cNvPr>
          <p:cNvGrpSpPr/>
          <p:nvPr/>
        </p:nvGrpSpPr>
        <p:grpSpPr>
          <a:xfrm>
            <a:off x="5840638" y="1930400"/>
            <a:ext cx="3700389" cy="2923992"/>
            <a:chOff x="6591993" y="1315547"/>
            <a:chExt cx="3700389" cy="2923992"/>
          </a:xfrm>
        </p:grpSpPr>
        <p:grpSp>
          <p:nvGrpSpPr>
            <p:cNvPr id="7" name="Group 15"/>
            <p:cNvGrpSpPr/>
            <p:nvPr/>
          </p:nvGrpSpPr>
          <p:grpSpPr>
            <a:xfrm>
              <a:off x="7404793" y="2652833"/>
              <a:ext cx="1574800" cy="88106"/>
              <a:chOff x="1066800" y="1577182"/>
              <a:chExt cx="1574800" cy="88106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1066800" y="1625600"/>
                <a:ext cx="1574800" cy="1588"/>
              </a:xfrm>
              <a:prstGeom prst="line">
                <a:avLst/>
              </a:prstGeom>
              <a:ln w="1905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" name="Rectangle 8"/>
              <p:cNvSpPr/>
              <p:nvPr/>
            </p:nvSpPr>
            <p:spPr>
              <a:xfrm>
                <a:off x="1760538" y="1577182"/>
                <a:ext cx="80962" cy="88106"/>
              </a:xfrm>
              <a:prstGeom prst="rect">
                <a:avLst/>
              </a:prstGeom>
              <a:ln w="1905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16"/>
            <p:cNvGrpSpPr/>
            <p:nvPr/>
          </p:nvGrpSpPr>
          <p:grpSpPr>
            <a:xfrm>
              <a:off x="7404793" y="2805233"/>
              <a:ext cx="1574800" cy="88106"/>
              <a:chOff x="1066800" y="1577182"/>
              <a:chExt cx="1574800" cy="88106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1066800" y="1625600"/>
                <a:ext cx="1574800" cy="1588"/>
              </a:xfrm>
              <a:prstGeom prst="line">
                <a:avLst/>
              </a:prstGeom>
              <a:ln w="1905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9" name="Rectangle 18"/>
              <p:cNvSpPr/>
              <p:nvPr/>
            </p:nvSpPr>
            <p:spPr>
              <a:xfrm>
                <a:off x="1760538" y="1577182"/>
                <a:ext cx="80962" cy="88106"/>
              </a:xfrm>
              <a:prstGeom prst="rect">
                <a:avLst/>
              </a:prstGeom>
              <a:ln w="1905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9"/>
            <p:cNvGrpSpPr/>
            <p:nvPr/>
          </p:nvGrpSpPr>
          <p:grpSpPr>
            <a:xfrm>
              <a:off x="7404793" y="2957633"/>
              <a:ext cx="1574800" cy="88106"/>
              <a:chOff x="1066800" y="1577182"/>
              <a:chExt cx="1574800" cy="88106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>
                <a:off x="1066800" y="1625600"/>
                <a:ext cx="1574800" cy="1588"/>
              </a:xfrm>
              <a:prstGeom prst="line">
                <a:avLst/>
              </a:prstGeom>
              <a:ln w="1905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2" name="Rectangle 21"/>
              <p:cNvSpPr/>
              <p:nvPr/>
            </p:nvSpPr>
            <p:spPr>
              <a:xfrm>
                <a:off x="1760538" y="1577182"/>
                <a:ext cx="80962" cy="88106"/>
              </a:xfrm>
              <a:prstGeom prst="rect">
                <a:avLst/>
              </a:prstGeom>
              <a:ln w="1905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22"/>
            <p:cNvGrpSpPr/>
            <p:nvPr/>
          </p:nvGrpSpPr>
          <p:grpSpPr>
            <a:xfrm>
              <a:off x="7404793" y="3110033"/>
              <a:ext cx="1574800" cy="88106"/>
              <a:chOff x="1066800" y="1577182"/>
              <a:chExt cx="1574800" cy="88106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1066800" y="1625600"/>
                <a:ext cx="1574800" cy="1588"/>
              </a:xfrm>
              <a:prstGeom prst="line">
                <a:avLst/>
              </a:prstGeom>
              <a:ln w="1905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" name="Rectangle 24"/>
              <p:cNvSpPr/>
              <p:nvPr/>
            </p:nvSpPr>
            <p:spPr>
              <a:xfrm>
                <a:off x="1760538" y="1577182"/>
                <a:ext cx="80962" cy="88106"/>
              </a:xfrm>
              <a:prstGeom prst="rect">
                <a:avLst/>
              </a:prstGeom>
              <a:ln w="1905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25"/>
            <p:cNvGrpSpPr/>
            <p:nvPr/>
          </p:nvGrpSpPr>
          <p:grpSpPr>
            <a:xfrm>
              <a:off x="7404793" y="3262433"/>
              <a:ext cx="1574800" cy="88106"/>
              <a:chOff x="1066800" y="1577182"/>
              <a:chExt cx="1574800" cy="88106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1066800" y="1625600"/>
                <a:ext cx="1574800" cy="1588"/>
              </a:xfrm>
              <a:prstGeom prst="line">
                <a:avLst/>
              </a:prstGeom>
              <a:ln w="1905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8" name="Rectangle 27"/>
              <p:cNvSpPr/>
              <p:nvPr/>
            </p:nvSpPr>
            <p:spPr>
              <a:xfrm>
                <a:off x="1760538" y="1577182"/>
                <a:ext cx="80962" cy="88106"/>
              </a:xfrm>
              <a:prstGeom prst="rect">
                <a:avLst/>
              </a:prstGeom>
              <a:ln w="1905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28"/>
            <p:cNvGrpSpPr/>
            <p:nvPr/>
          </p:nvGrpSpPr>
          <p:grpSpPr>
            <a:xfrm>
              <a:off x="7404793" y="3541833"/>
              <a:ext cx="1574800" cy="88106"/>
              <a:chOff x="1066800" y="1577182"/>
              <a:chExt cx="1574800" cy="88106"/>
            </a:xfrm>
            <a:effectLst/>
          </p:grpSpPr>
          <p:cxnSp>
            <p:nvCxnSpPr>
              <p:cNvPr id="30" name="Straight Connector 29"/>
              <p:cNvCxnSpPr/>
              <p:nvPr/>
            </p:nvCxnSpPr>
            <p:spPr>
              <a:xfrm>
                <a:off x="1066800" y="1625600"/>
                <a:ext cx="1574800" cy="1588"/>
              </a:xfrm>
              <a:prstGeom prst="line">
                <a:avLst/>
              </a:prstGeom>
              <a:ln w="19050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31" name="Rectangle 30"/>
              <p:cNvSpPr/>
              <p:nvPr/>
            </p:nvSpPr>
            <p:spPr>
              <a:xfrm>
                <a:off x="1760538" y="1577182"/>
                <a:ext cx="80962" cy="88106"/>
              </a:xfrm>
              <a:prstGeom prst="rect">
                <a:avLst/>
              </a:prstGeom>
              <a:ln w="19050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3" name="Straight Connector 32"/>
            <p:cNvCxnSpPr/>
            <p:nvPr/>
          </p:nvCxnSpPr>
          <p:spPr>
            <a:xfrm>
              <a:off x="7404793" y="3742651"/>
              <a:ext cx="1574800" cy="1588"/>
            </a:xfrm>
            <a:prstGeom prst="line">
              <a:avLst/>
            </a:prstGeom>
            <a:ln w="19050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grpSp>
          <p:nvGrpSpPr>
            <p:cNvPr id="15" name="Group 34"/>
            <p:cNvGrpSpPr/>
            <p:nvPr/>
          </p:nvGrpSpPr>
          <p:grpSpPr>
            <a:xfrm>
              <a:off x="7404793" y="3846633"/>
              <a:ext cx="1574800" cy="88106"/>
              <a:chOff x="1066800" y="1577182"/>
              <a:chExt cx="1574800" cy="88106"/>
            </a:xfrm>
            <a:effectLst/>
          </p:grpSpPr>
          <p:cxnSp>
            <p:nvCxnSpPr>
              <p:cNvPr id="36" name="Straight Connector 35"/>
              <p:cNvCxnSpPr/>
              <p:nvPr/>
            </p:nvCxnSpPr>
            <p:spPr>
              <a:xfrm>
                <a:off x="1066800" y="1625600"/>
                <a:ext cx="1574800" cy="1588"/>
              </a:xfrm>
              <a:prstGeom prst="line">
                <a:avLst/>
              </a:prstGeom>
              <a:ln w="19050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37" name="Rectangle 36"/>
              <p:cNvSpPr/>
              <p:nvPr/>
            </p:nvSpPr>
            <p:spPr>
              <a:xfrm>
                <a:off x="1760538" y="1577182"/>
                <a:ext cx="80962" cy="88106"/>
              </a:xfrm>
              <a:prstGeom prst="rect">
                <a:avLst/>
              </a:prstGeom>
              <a:ln w="19050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9" name="Straight Connector 38"/>
            <p:cNvCxnSpPr/>
            <p:nvPr/>
          </p:nvCxnSpPr>
          <p:spPr>
            <a:xfrm>
              <a:off x="7404793" y="4047451"/>
              <a:ext cx="1574800" cy="1588"/>
            </a:xfrm>
            <a:prstGeom prst="line">
              <a:avLst/>
            </a:prstGeom>
            <a:ln w="19050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grpSp>
          <p:nvGrpSpPr>
            <p:cNvPr id="16" name="Group 40"/>
            <p:cNvGrpSpPr/>
            <p:nvPr/>
          </p:nvGrpSpPr>
          <p:grpSpPr>
            <a:xfrm>
              <a:off x="7404793" y="4151433"/>
              <a:ext cx="1574800" cy="88106"/>
              <a:chOff x="1066800" y="1577182"/>
              <a:chExt cx="1574800" cy="88106"/>
            </a:xfrm>
            <a:effectLst/>
          </p:grpSpPr>
          <p:cxnSp>
            <p:nvCxnSpPr>
              <p:cNvPr id="42" name="Straight Connector 41"/>
              <p:cNvCxnSpPr/>
              <p:nvPr/>
            </p:nvCxnSpPr>
            <p:spPr>
              <a:xfrm>
                <a:off x="1066800" y="1625600"/>
                <a:ext cx="1574800" cy="1588"/>
              </a:xfrm>
              <a:prstGeom prst="line">
                <a:avLst/>
              </a:prstGeom>
              <a:ln w="19050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43" name="Rectangle 42"/>
              <p:cNvSpPr/>
              <p:nvPr/>
            </p:nvSpPr>
            <p:spPr>
              <a:xfrm>
                <a:off x="1760538" y="1577182"/>
                <a:ext cx="80962" cy="88106"/>
              </a:xfrm>
              <a:prstGeom prst="rect">
                <a:avLst/>
              </a:prstGeom>
              <a:ln w="19050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" name="Straight Connector 43"/>
            <p:cNvCxnSpPr/>
            <p:nvPr/>
          </p:nvCxnSpPr>
          <p:spPr>
            <a:xfrm>
              <a:off x="7392093" y="2402801"/>
              <a:ext cx="1574800" cy="1588"/>
            </a:xfrm>
            <a:prstGeom prst="line">
              <a:avLst/>
            </a:prstGeom>
            <a:ln w="1905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6591994" y="2205435"/>
              <a:ext cx="521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Ref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591993" y="2828807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591993" y="3711973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608295" y="2243813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484876" y="2898935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G/G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490906" y="3782101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A/G</a:t>
              </a:r>
            </a:p>
          </p:txBody>
        </p:sp>
        <p:sp>
          <p:nvSpPr>
            <p:cNvPr id="52" name="Down Arrow Callout 51"/>
            <p:cNvSpPr/>
            <p:nvPr/>
          </p:nvSpPr>
          <p:spPr>
            <a:xfrm>
              <a:off x="7757831" y="1339919"/>
              <a:ext cx="715269" cy="622168"/>
            </a:xfrm>
            <a:prstGeom prst="downArrowCallo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844442" y="1341969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SNP</a:t>
              </a:r>
            </a:p>
          </p:txBody>
        </p:sp>
        <p:sp>
          <p:nvSpPr>
            <p:cNvPr id="54" name="Down Arrow Callout 53"/>
            <p:cNvSpPr/>
            <p:nvPr/>
          </p:nvSpPr>
          <p:spPr>
            <a:xfrm>
              <a:off x="9296421" y="1315547"/>
              <a:ext cx="969819" cy="622168"/>
            </a:xfrm>
            <a:prstGeom prst="downArrowCallo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376747" y="1317597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variant</a:t>
              </a:r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9BAAC757-DDE5-4149-B914-82E42FE8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 calling methods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9272CEA-414E-8741-8633-D833EF2B8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492" y="1488613"/>
            <a:ext cx="5214846" cy="40572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Allele counting</a:t>
            </a:r>
          </a:p>
          <a:p>
            <a:endParaRPr lang="en-US" dirty="0"/>
          </a:p>
          <a:p>
            <a:r>
              <a:rPr lang="en-US" dirty="0"/>
              <a:t>Probabilistic methods, e.g. Bayesian model to quantify statistical uncertainty</a:t>
            </a:r>
          </a:p>
          <a:p>
            <a:pPr lvl="1"/>
            <a:r>
              <a:rPr lang="en-US" dirty="0"/>
              <a:t>Assign priors based on observed allele frequency of multiple samples</a:t>
            </a:r>
          </a:p>
          <a:p>
            <a:pPr lvl="1"/>
            <a:endParaRPr lang="en-US" dirty="0"/>
          </a:p>
          <a:p>
            <a:r>
              <a:rPr lang="en-US" dirty="0"/>
              <a:t>Heuristic approach</a:t>
            </a:r>
          </a:p>
          <a:p>
            <a:pPr lvl="1"/>
            <a:r>
              <a:rPr lang="en-US" dirty="0"/>
              <a:t>Based on thresholds for read depth, base quality, variant allele frequency, statistical significance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86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3877-4AD3-0748-B37B-C69914F2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7" y="275212"/>
            <a:ext cx="6976874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Varian calling principles (Naïve approach)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A0740-81A0-664B-9271-5115A173F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74" y="1508948"/>
            <a:ext cx="6661564" cy="3560733"/>
          </a:xfrm>
        </p:spPr>
        <p:txBody>
          <a:bodyPr>
            <a:normAutofit/>
          </a:bodyPr>
          <a:lstStyle/>
          <a:p>
            <a:r>
              <a:rPr lang="en-US" dirty="0"/>
              <a:t>Filter base calls according to quality</a:t>
            </a:r>
          </a:p>
          <a:p>
            <a:r>
              <a:rPr lang="en-US" dirty="0"/>
              <a:t>Filter by frequency</a:t>
            </a:r>
          </a:p>
          <a:p>
            <a:r>
              <a:rPr lang="en-US" dirty="0"/>
              <a:t>Typically, a quality Filter of PHRED Q 20 was used (i.e., probability of error 1% ).</a:t>
            </a:r>
          </a:p>
          <a:p>
            <a:r>
              <a:rPr lang="en-US" dirty="0"/>
              <a:t>Then, the following frequency thresholds were used according to the frequency of the non-ref base, f(b):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24256-60A9-0E4C-81D8-1CC90587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70" y="4237677"/>
            <a:ext cx="4602747" cy="2048222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2DA32279-A054-D041-B4F4-CAF24C06FD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452" t="16531" r="41239"/>
          <a:stretch/>
        </p:blipFill>
        <p:spPr>
          <a:xfrm>
            <a:off x="7794634" y="1133059"/>
            <a:ext cx="2915656" cy="543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37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3877-4AD3-0748-B37B-C69914F2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7" y="275212"/>
            <a:ext cx="6976874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Varian calling principles (Naïve approach)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A0740-81A0-664B-9271-5115A173F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57" y="1596012"/>
            <a:ext cx="6976874" cy="4226719"/>
          </a:xfrm>
        </p:spPr>
        <p:txBody>
          <a:bodyPr>
            <a:normAutofit/>
          </a:bodyPr>
          <a:lstStyle/>
          <a:p>
            <a:r>
              <a:rPr lang="en-US" sz="2000" dirty="0"/>
              <a:t>The frequency heuristic works well if the sequencing depth is high, so that the probability of a heterozygous nucleotide falling outside of the 20% - 80% region is low.</a:t>
            </a:r>
          </a:p>
          <a:p>
            <a:r>
              <a:rPr lang="en-US" sz="2000" dirty="0"/>
              <a:t>Problems with frequency heuristic:</a:t>
            </a:r>
          </a:p>
          <a:p>
            <a:pPr lvl="1"/>
            <a:r>
              <a:rPr lang="en-US" sz="1800" dirty="0"/>
              <a:t>For low sequencing depth, leads to </a:t>
            </a:r>
            <a:r>
              <a:rPr lang="en-US" sz="1800" dirty="0" err="1"/>
              <a:t>undercalling</a:t>
            </a:r>
            <a:r>
              <a:rPr lang="en-US" sz="1800" dirty="0"/>
              <a:t> of heterozygous genotypes</a:t>
            </a:r>
          </a:p>
          <a:p>
            <a:pPr lvl="1"/>
            <a:r>
              <a:rPr lang="en-US" sz="1800" dirty="0"/>
              <a:t>Use of quality threshold leads to loss of information on individual read/base qualities</a:t>
            </a:r>
          </a:p>
          <a:p>
            <a:pPr lvl="1"/>
            <a:r>
              <a:rPr lang="en-US" sz="1800" dirty="0"/>
              <a:t>Does not provide a measure of confidence in the call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2DA32279-A054-D041-B4F4-CAF24C06FD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52" t="16531" r="41239"/>
          <a:stretch/>
        </p:blipFill>
        <p:spPr>
          <a:xfrm>
            <a:off x="8591177" y="709767"/>
            <a:ext cx="2915656" cy="543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3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Variant Calling - Popular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294" y="1864566"/>
            <a:ext cx="9480318" cy="466686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GATK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a haplotype caller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can use pooled samples</a:t>
            </a:r>
          </a:p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FreeBayes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lvl="1">
              <a:lnSpc>
                <a:spcPct val="90000"/>
              </a:lnSpc>
              <a:buClr>
                <a:schemeClr val="accent1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a haplotype caller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can use pooled samples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can use polyploid samples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SAMtools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Mpileup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 and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Bcftools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)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Single or multiple samples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Common start point as the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samtools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 family of tools is very common for general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bioinformatc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analsis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</a:pP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6225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9590-AC1B-D643-AB43-E90E2A48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Discussion (15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F4A48-9458-8745-A1E0-07CB81560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Different variant callers store different attributes, depending on the method used to produce them. </a:t>
            </a:r>
          </a:p>
          <a:p>
            <a:pPr lvl="1">
              <a:buClr>
                <a:schemeClr val="accent1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Which are the minimum information you would expect to use to filter? </a:t>
            </a:r>
          </a:p>
          <a:p>
            <a:pPr lvl="1">
              <a:buClr>
                <a:schemeClr val="accent1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your expectation for breeding lines? </a:t>
            </a:r>
          </a:p>
          <a:p>
            <a:pPr lvl="2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Would you trust a heterozygous call in an isogenic line? </a:t>
            </a:r>
          </a:p>
          <a:p>
            <a:pPr lvl="2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have an F2 population, and you get an SNP unique to a single plant in the population, would you trust it? Why? </a:t>
            </a:r>
          </a:p>
          <a:p>
            <a:pPr lvl="2"/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Clr>
                <a:schemeClr val="accent1"/>
              </a:buClr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lvl="2"/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2"/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079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Team X (To copy and fill)</a:t>
            </a:r>
            <a:endParaRPr dirty="0"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9227164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r>
              <a:rPr lang="en-US" sz="1733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Different variant callers store different attributes, depending on the method used to produce them. </a:t>
            </a:r>
          </a:p>
          <a:p>
            <a:pPr marL="0" indent="0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r>
              <a:rPr lang="en-US" sz="1733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Which are the minimum information you would expect to use to filter?  </a:t>
            </a:r>
            <a:endParaRPr lang="en-US" sz="1733" b="1" dirty="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endParaRPr lang="en-US" sz="1733" b="1" dirty="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r>
              <a:rPr lang="en-US" sz="1733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your expectation for breeding lines?</a:t>
            </a:r>
          </a:p>
          <a:p>
            <a:pPr marL="0" indent="0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endParaRPr lang="en-US" sz="1733" b="1" dirty="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r>
              <a:rPr lang="en-US" sz="1733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Would you trust a heterozygous call in an isogenic line</a:t>
            </a:r>
          </a:p>
          <a:p>
            <a:pPr marL="0" indent="0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endParaRPr lang="en-US" sz="1733" b="1" dirty="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r>
              <a:rPr lang="en-US" sz="1733" dirty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If you have an F2 population, and you get an SNP unique to a single plant in the population, would you trust it? Why? </a:t>
            </a:r>
          </a:p>
          <a:p>
            <a:pPr marL="0" indent="0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766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A9BC49-DEB5-B342-AAD9-DA237AD16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tool to process your data is the tool you know!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31BFB-FFAD-2449-AE5D-8937B6170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74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4951899-B99C-47AB-9C7C-16264D7A1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94D217E-92A1-48B2-B6BF-8B6A35AF9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9582FD9-95AB-4339-8A07-BAD420BE1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23">
              <a:extLst>
                <a:ext uri="{FF2B5EF4-FFF2-40B4-BE49-F238E27FC236}">
                  <a16:creationId xmlns:a16="http://schemas.microsoft.com/office/drawing/2014/main" id="{6778DC79-DE09-4F89-81B1-275C542D7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EAEC370A-1F34-4D8E-B065-81F6F568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A816EDF3-D9EE-488C-AFDC-022381513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7" name="Rectangle 27">
              <a:extLst>
                <a:ext uri="{FF2B5EF4-FFF2-40B4-BE49-F238E27FC236}">
                  <a16:creationId xmlns:a16="http://schemas.microsoft.com/office/drawing/2014/main" id="{E8330BD4-97D9-4D24-815A-0E557B04F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8" name="Rectangle 28">
              <a:extLst>
                <a:ext uri="{FF2B5EF4-FFF2-40B4-BE49-F238E27FC236}">
                  <a16:creationId xmlns:a16="http://schemas.microsoft.com/office/drawing/2014/main" id="{EA8EDE67-BAC0-478C-99D9-BBC5AD532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9" name="Rectangle 29">
              <a:extLst>
                <a:ext uri="{FF2B5EF4-FFF2-40B4-BE49-F238E27FC236}">
                  <a16:creationId xmlns:a16="http://schemas.microsoft.com/office/drawing/2014/main" id="{33DFB3F3-2523-4F1F-BC2B-B97C172F2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5E5660E4-7443-4FCC-AD43-9D1AE972B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4EDF9C36-B365-4426-85B9-82E0DE187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4A5A35EE-7AE1-4E24-8916-B0122B97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BC879B-A529-47C3-A6A5-914D67AAA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E937C4-AD3B-4C21-A5D1-4010EAA70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986751B-E456-450E-8103-86D186F55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23">
              <a:extLst>
                <a:ext uri="{FF2B5EF4-FFF2-40B4-BE49-F238E27FC236}">
                  <a16:creationId xmlns:a16="http://schemas.microsoft.com/office/drawing/2014/main" id="{7A7080CB-F07A-45DB-98B4-1BCEEFC2D8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59" name="Rectangle 25">
              <a:extLst>
                <a:ext uri="{FF2B5EF4-FFF2-40B4-BE49-F238E27FC236}">
                  <a16:creationId xmlns:a16="http://schemas.microsoft.com/office/drawing/2014/main" id="{43DABF26-4789-46EF-843D-D8974E5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CF33A112-C756-43C1-8DA7-13D97888B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1" name="Rectangle 27">
              <a:extLst>
                <a:ext uri="{FF2B5EF4-FFF2-40B4-BE49-F238E27FC236}">
                  <a16:creationId xmlns:a16="http://schemas.microsoft.com/office/drawing/2014/main" id="{FDCCB7E1-C0C5-4607-ADB9-05E385551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2" name="Rectangle 28">
              <a:extLst>
                <a:ext uri="{FF2B5EF4-FFF2-40B4-BE49-F238E27FC236}">
                  <a16:creationId xmlns:a16="http://schemas.microsoft.com/office/drawing/2014/main" id="{71C3B597-3C1A-490D-B48E-19BF2BD8DB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3" name="Rectangle 29">
              <a:extLst>
                <a:ext uri="{FF2B5EF4-FFF2-40B4-BE49-F238E27FC236}">
                  <a16:creationId xmlns:a16="http://schemas.microsoft.com/office/drawing/2014/main" id="{DA3635CF-FEC9-43B7-A12B-1A736C7C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CEDF3AA6-619F-44C9-A06F-9C38A9119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79D458F0-4F1F-4713-88F7-B65AFE8E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F17356-6A97-0346-B540-21AD7AEE1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Filtering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652E5-3758-2747-88A4-C801049A2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Programming languages: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Python, R, Python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Specialized tools</a:t>
            </a:r>
          </a:p>
          <a:p>
            <a:pPr lvl="1">
              <a:buClr>
                <a:schemeClr val="accent1"/>
              </a:buClr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bcftools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 to filter and format VCF files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Visual tools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Your favorite spreadsheet! There is no shame </a:t>
            </a:r>
          </a:p>
        </p:txBody>
      </p:sp>
    </p:spTree>
    <p:extLst>
      <p:ext uri="{BB962C8B-B14F-4D97-AF65-F5344CB8AC3E}">
        <p14:creationId xmlns:p14="http://schemas.microsoft.com/office/powerpoint/2010/main" val="38597440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B1A63-0623-724C-AA31-6533A9F1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Programming languages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8D184-82E1-EE4A-A3BC-D3292155F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 vert="horz" lIns="91440" tIns="45720" rIns="91440" bIns="45720" rtlCol="0">
            <a:normAutofit/>
          </a:bodyPr>
          <a:lstStyle/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Advantages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Fine control of what you do.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Analysis easy to reproduce and share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Disadvantages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Learning curve if the first time you use a language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Complex to setup a development environment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Biopython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Pandas), R 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Tidyverse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[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ggplot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dplyr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], Bioconductor), Perl 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Bioperl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can format your data as a table, learn SQL! </a:t>
            </a:r>
          </a:p>
          <a:p>
            <a:pPr>
              <a:buClr>
                <a:schemeClr val="accent1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488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BC50C-F10D-D04F-9D63-85700BE34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Specialized standard tools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70046-5F32-114D-8E3E-80CD5D85A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Designed for a family of file formats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Advantages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Useful for common tasks, don’t reinvent the wheel!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Standardized pipelines and algorithms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Tested by a large community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Disadvantages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Need to convert format when changing tools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Each tool requires its own mindset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A successful tool may hide a newer more refined tool (For example, bowtie vs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hisat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 from the same lab)</a:t>
            </a:r>
          </a:p>
          <a:p>
            <a:pPr>
              <a:buClr>
                <a:schemeClr val="accent1"/>
              </a:buClr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Samtools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bcftools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, plink, beagle</a:t>
            </a: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779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728FB-C0C8-6B44-8DB0-4A5BB854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Visual tools and online tools 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3AF99-373C-E945-9FB2-76ABE5E84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Advantages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Easy to use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Intuitive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Disadvantages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Difficult to document which steps you followed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Slow with large datasets 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Not easy to automate for repetitive tasks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Excel, IGV,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ensembl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, niche databases </a:t>
            </a: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1358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3BD64-E38E-F840-8026-FCB73033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Discussion (10 minutes)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82489-7FBC-8041-86AB-434CAE0C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Your opinion will be considered for the practical session.</a:t>
            </a:r>
          </a:p>
          <a:p>
            <a:pPr>
              <a:buClr>
                <a:schemeClr val="accent1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Which tools do you prefer? 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Are you comfortable with programming?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Which R/python packages are you familiar with?</a:t>
            </a: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6864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67956-C88C-174E-8778-B13D8F032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For the practical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0333-34BB-BB47-AA7A-E40A6954A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Make sure you have installed R with the following packages: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R/QTL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The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tidivyerse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 package 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ggplot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dplyr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) </a:t>
            </a:r>
          </a:p>
          <a:p>
            <a:pPr lvl="1">
              <a:buClr>
                <a:schemeClr val="accent1"/>
              </a:buClr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rtracklayer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 </a:t>
            </a:r>
          </a:p>
          <a:p>
            <a:pPr lvl="1">
              <a:buClr>
                <a:schemeClr val="accent1"/>
              </a:buClr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Ggbio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lvl="1">
              <a:buClr>
                <a:schemeClr val="accent1"/>
              </a:buClr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GenomicRanges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Beagle (requires java) https://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faculty.washington.edu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/browning/beagle/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beagle.html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lvl="1">
              <a:buClr>
                <a:schemeClr val="accent1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lvl="1">
              <a:buClr>
                <a:schemeClr val="accent1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marL="457200" lvl="1" indent="0">
              <a:buClr>
                <a:schemeClr val="accent1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marL="457200" lvl="1" indent="0">
              <a:buClr>
                <a:schemeClr val="accent1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  <a:p>
            <a:pPr lvl="1">
              <a:buClr>
                <a:schemeClr val="accent1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6669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22B0-420A-DF47-AFED-6BC2059E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Imputation and phasing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86907-7A47-4F4C-AA26-73E228BED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Sources of noise</a:t>
            </a:r>
          </a:p>
          <a:p>
            <a:r>
              <a:rPr lang="en-US" dirty="0"/>
              <a:t>What the data can tell you</a:t>
            </a:r>
          </a:p>
          <a:p>
            <a:r>
              <a:rPr lang="en-US" dirty="0"/>
              <a:t>What you know about your data</a:t>
            </a:r>
          </a:p>
        </p:txBody>
      </p:sp>
    </p:spTree>
    <p:extLst>
      <p:ext uri="{BB962C8B-B14F-4D97-AF65-F5344CB8AC3E}">
        <p14:creationId xmlns:p14="http://schemas.microsoft.com/office/powerpoint/2010/main" val="38494304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663264-D5C5-354E-8B03-77A7D00F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to impute?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E6E328-CF19-4844-B8F1-04A9D2B5D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sources are noisy. </a:t>
            </a:r>
          </a:p>
          <a:p>
            <a:pPr lvl="1"/>
            <a:r>
              <a:rPr lang="en-US" dirty="0"/>
              <a:t>Sequencing errors</a:t>
            </a:r>
          </a:p>
          <a:p>
            <a:pPr lvl="1"/>
            <a:r>
              <a:rPr lang="en-US" dirty="0"/>
              <a:t>Missing genotyping values</a:t>
            </a:r>
          </a:p>
          <a:p>
            <a:pPr lvl="1"/>
            <a:r>
              <a:rPr lang="en-US" dirty="0"/>
              <a:t>Low quality data (cheaper to sequence with less coverage)</a:t>
            </a:r>
          </a:p>
          <a:p>
            <a:r>
              <a:rPr lang="en-US" dirty="0"/>
              <a:t>On large experiments, few datapoints may be missing</a:t>
            </a:r>
          </a:p>
          <a:p>
            <a:pPr lvl="1"/>
            <a:r>
              <a:rPr lang="en-US" dirty="0"/>
              <a:t>Leads to artificial variation that makes the downstream analysis more complicate</a:t>
            </a:r>
          </a:p>
        </p:txBody>
      </p:sp>
    </p:spTree>
    <p:extLst>
      <p:ext uri="{BB962C8B-B14F-4D97-AF65-F5344CB8AC3E}">
        <p14:creationId xmlns:p14="http://schemas.microsoft.com/office/powerpoint/2010/main" val="5669255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data for your advantage: </a:t>
            </a:r>
            <a:br>
              <a:rPr lang="en-US" dirty="0"/>
            </a:br>
            <a:r>
              <a:rPr lang="en-GB" dirty="0"/>
              <a:t>F</a:t>
            </a:r>
            <a:r>
              <a:rPr lang="en-GB" baseline="-25000" dirty="0"/>
              <a:t>2</a:t>
            </a:r>
            <a:r>
              <a:rPr lang="en-GB" dirty="0"/>
              <a:t> population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104" y="1652957"/>
            <a:ext cx="6948264" cy="48617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55841" y="6237312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Expected segregation:  3:1</a:t>
            </a:r>
          </a:p>
        </p:txBody>
      </p:sp>
    </p:spTree>
    <p:extLst>
      <p:ext uri="{BB962C8B-B14F-4D97-AF65-F5344CB8AC3E}">
        <p14:creationId xmlns:p14="http://schemas.microsoft.com/office/powerpoint/2010/main" val="56038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C6E3-9C0A-F649-907E-9E219EBA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data for your advantage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E2CF7-08C4-A747-A56D-9B37C85A6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146" y="1270000"/>
            <a:ext cx="7161044" cy="470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209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7661-433D-8B42-8EAD-51717DA0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Phasing </a:t>
            </a:r>
          </a:p>
        </p:txBody>
      </p:sp>
      <p:pic>
        <p:nvPicPr>
          <p:cNvPr id="7" name="Content Placeholder 6" descr="Chart&#10;&#10;Description automatically generated">
            <a:extLst>
              <a:ext uri="{FF2B5EF4-FFF2-40B4-BE49-F238E27FC236}">
                <a16:creationId xmlns:a16="http://schemas.microsoft.com/office/drawing/2014/main" id="{86AAA5E7-2673-B54D-BEB2-550E2D1BD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016" y="1863706"/>
            <a:ext cx="7774006" cy="3881437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DF2F46-4C40-6346-B2D7-C13FFF369546}"/>
              </a:ext>
            </a:extLst>
          </p:cNvPr>
          <p:cNvSpPr/>
          <p:nvPr/>
        </p:nvSpPr>
        <p:spPr>
          <a:xfrm>
            <a:off x="3348842" y="2160588"/>
            <a:ext cx="5514180" cy="362269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508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7661-433D-8B42-8EAD-51717DA0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Phasing </a:t>
            </a:r>
          </a:p>
        </p:txBody>
      </p:sp>
      <p:pic>
        <p:nvPicPr>
          <p:cNvPr id="7" name="Content Placeholder 6" descr="Chart&#10;&#10;Description automatically generated">
            <a:extLst>
              <a:ext uri="{FF2B5EF4-FFF2-40B4-BE49-F238E27FC236}">
                <a16:creationId xmlns:a16="http://schemas.microsoft.com/office/drawing/2014/main" id="{86AAA5E7-2673-B54D-BEB2-550E2D1BD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016" y="1923082"/>
            <a:ext cx="7774006" cy="3881437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9C1E1B-4025-8542-86C7-6862381F8198}"/>
              </a:ext>
            </a:extLst>
          </p:cNvPr>
          <p:cNvSpPr/>
          <p:nvPr/>
        </p:nvSpPr>
        <p:spPr>
          <a:xfrm>
            <a:off x="6008914" y="2181824"/>
            <a:ext cx="2854108" cy="362269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FD28E6-323B-174F-A836-27DF17A9012D}"/>
              </a:ext>
            </a:extLst>
          </p:cNvPr>
          <p:cNvSpPr/>
          <p:nvPr/>
        </p:nvSpPr>
        <p:spPr>
          <a:xfrm>
            <a:off x="5852555" y="3612078"/>
            <a:ext cx="2854108" cy="219244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725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7661-433D-8B42-8EAD-51717DA0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Phasing </a:t>
            </a:r>
          </a:p>
        </p:txBody>
      </p:sp>
      <p:pic>
        <p:nvPicPr>
          <p:cNvPr id="7" name="Content Placeholder 6" descr="Chart&#10;&#10;Description automatically generated">
            <a:extLst>
              <a:ext uri="{FF2B5EF4-FFF2-40B4-BE49-F238E27FC236}">
                <a16:creationId xmlns:a16="http://schemas.microsoft.com/office/drawing/2014/main" id="{86AAA5E7-2673-B54D-BEB2-550E2D1BD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016" y="2160588"/>
            <a:ext cx="7774006" cy="3881437"/>
          </a:xfrm>
        </p:spPr>
      </p:pic>
    </p:spTree>
    <p:extLst>
      <p:ext uri="{BB962C8B-B14F-4D97-AF65-F5344CB8AC3E}">
        <p14:creationId xmlns:p14="http://schemas.microsoft.com/office/powerpoint/2010/main" val="33501775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4E7E7-6043-F549-BEDE-801E1F65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TO IMPUTE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B120E-C559-1440-A8F8-41D2226D5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QTL Package</a:t>
            </a:r>
          </a:p>
          <a:p>
            <a:pPr lvl="1"/>
            <a:r>
              <a:rPr lang="en-US" dirty="0"/>
              <a:t>Has a function to fill missing values</a:t>
            </a:r>
          </a:p>
          <a:p>
            <a:r>
              <a:rPr lang="en-US" dirty="0"/>
              <a:t>Plink</a:t>
            </a:r>
          </a:p>
          <a:p>
            <a:pPr lvl="1"/>
            <a:r>
              <a:rPr lang="en-US" dirty="0"/>
              <a:t>Command line to analyze genotype data</a:t>
            </a:r>
          </a:p>
          <a:p>
            <a:r>
              <a:rPr lang="en-US" dirty="0"/>
              <a:t>Beagle</a:t>
            </a:r>
          </a:p>
          <a:p>
            <a:pPr lvl="1"/>
            <a:r>
              <a:rPr lang="en-US" dirty="0"/>
              <a:t>Tool specifically designed for imputing and phasing</a:t>
            </a:r>
          </a:p>
        </p:txBody>
      </p:sp>
    </p:spTree>
    <p:extLst>
      <p:ext uri="{BB962C8B-B14F-4D97-AF65-F5344CB8AC3E}">
        <p14:creationId xmlns:p14="http://schemas.microsoft.com/office/powerpoint/2010/main" val="13448040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18399-A19B-0648-A094-DCAF6506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(15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CB81A-8547-1747-984F-916FB65DB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would you work with samples where you don’t know the pedigree?</a:t>
            </a:r>
          </a:p>
          <a:p>
            <a:r>
              <a:rPr lang="en-US" dirty="0"/>
              <a:t>Would you prefer to sample several progenitor samples and compare them or make a selection of crosses? </a:t>
            </a:r>
          </a:p>
          <a:p>
            <a:r>
              <a:rPr lang="en-US" dirty="0"/>
              <a:t>Can you think on cases where you would prefer NOT to impute?</a:t>
            </a:r>
          </a:p>
          <a:p>
            <a:r>
              <a:rPr lang="en-US" dirty="0"/>
              <a:t>When you know the parents, phasing is trivial. Can you imagine other complexities that may come from a diversity panel?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2237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5200</TotalTime>
  <Words>2030</Words>
  <Application>Microsoft Office PowerPoint</Application>
  <PresentationFormat>Widescreen</PresentationFormat>
  <Paragraphs>309</Paragraphs>
  <Slides>52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ArialMT</vt:lpstr>
      <vt:lpstr>Calibri</vt:lpstr>
      <vt:lpstr>Trebuchet MS</vt:lpstr>
      <vt:lpstr>Wingdings 3</vt:lpstr>
      <vt:lpstr>Zapf Dingbats</vt:lpstr>
      <vt:lpstr>Facet</vt:lpstr>
      <vt:lpstr>Data filtering, imputation, phasing, formating and exporting</vt:lpstr>
      <vt:lpstr>Data formats and filtering</vt:lpstr>
      <vt:lpstr>What are people using SNPs and genetic markers for?</vt:lpstr>
      <vt:lpstr>A practical example </vt:lpstr>
      <vt:lpstr>F2 population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Genotyping data</vt:lpstr>
      <vt:lpstr>Discussion on data to capture on genotyping</vt:lpstr>
      <vt:lpstr>Genotyping data (return from breakout)</vt:lpstr>
      <vt:lpstr>PowerPoint Presentation</vt:lpstr>
      <vt:lpstr>Data manipulation</vt:lpstr>
      <vt:lpstr>Excel files with genotypes</vt:lpstr>
      <vt:lpstr>Variant Call Format (VCF)</vt:lpstr>
      <vt:lpstr>Building a SNP calling Pipeline</vt:lpstr>
      <vt:lpstr>PowerPoint Presentation</vt:lpstr>
      <vt:lpstr>PowerPoint Presentation</vt:lpstr>
      <vt:lpstr>PowerPoint Presentation</vt:lpstr>
      <vt:lpstr>Bulk Frequency Ratios</vt:lpstr>
      <vt:lpstr>PowerPoint Presentation</vt:lpstr>
      <vt:lpstr>BFRs near the 1B centromere</vt:lpstr>
      <vt:lpstr>Selection criteria</vt:lpstr>
      <vt:lpstr>Candidate selection</vt:lpstr>
      <vt:lpstr>Candidate selection</vt:lpstr>
      <vt:lpstr>Candidate selection</vt:lpstr>
      <vt:lpstr>Variant calling methods</vt:lpstr>
      <vt:lpstr>Varian calling principles (Naïve approach) </vt:lpstr>
      <vt:lpstr>Varian calling principles (Naïve approach) </vt:lpstr>
      <vt:lpstr>Variant Calling - Popular Tools</vt:lpstr>
      <vt:lpstr>Discussion (15 min)</vt:lpstr>
      <vt:lpstr>Team X (To copy and fill)</vt:lpstr>
      <vt:lpstr>The best tool to process your data is the tool you know!</vt:lpstr>
      <vt:lpstr>Filtering tools</vt:lpstr>
      <vt:lpstr>Programming languages</vt:lpstr>
      <vt:lpstr>Specialized standard tools</vt:lpstr>
      <vt:lpstr>Visual tools and online tools </vt:lpstr>
      <vt:lpstr>Discussion (10 minutes)</vt:lpstr>
      <vt:lpstr>For the practical</vt:lpstr>
      <vt:lpstr>Imputation and phasing</vt:lpstr>
      <vt:lpstr>Why do we need to impute?</vt:lpstr>
      <vt:lpstr>Use the data for your advantage:  F2 population</vt:lpstr>
      <vt:lpstr>Use the data for your advantage</vt:lpstr>
      <vt:lpstr>Phasing </vt:lpstr>
      <vt:lpstr>Phasing </vt:lpstr>
      <vt:lpstr>Phasing </vt:lpstr>
      <vt:lpstr>TOOLS TO IMPUTE</vt:lpstr>
      <vt:lpstr>Discuss (15 minutes)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filtering, imputation, phasing, formatting and exporting</dc:title>
  <dc:creator>Ricardo Ramirez-Gonzalez (JIC)</dc:creator>
  <cp:lastModifiedBy>Ricardo Ramirez</cp:lastModifiedBy>
  <cp:revision>27</cp:revision>
  <dcterms:created xsi:type="dcterms:W3CDTF">2021-01-13T14:06:22Z</dcterms:created>
  <dcterms:modified xsi:type="dcterms:W3CDTF">2025-12-14T18:06:20Z</dcterms:modified>
</cp:coreProperties>
</file>