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notesSlide39.xml" ContentType="application/vnd.openxmlformats-officedocument.presentationml.notesSlide+xml"/>
  <Override PartName="/ppt/notesSlides/notesSlide34.xml" ContentType="application/vnd.openxmlformats-officedocument.presentationml.notesSlide+xml"/>
  <Override PartName="/ppt/notesSlides/notesSlide7.xml" ContentType="application/vnd.openxmlformats-officedocument.presentationml.notesSlide+xml"/>
  <Override PartName="/ppt/notesSlides/notesSlide33.xml" ContentType="application/vnd.openxmlformats-officedocument.presentationml.notesSlide+xml"/>
  <Override PartName="/ppt/notesSlides/notesSlide6.xml" ContentType="application/vnd.openxmlformats-officedocument.presentationml.notesSlide+xml"/>
  <Override PartName="/ppt/notesSlides/notesSlide32.xml" ContentType="application/vnd.openxmlformats-officedocument.presentationml.notesSlide+xml"/>
  <Override PartName="/ppt/notesSlides/notesSlide5.xml" ContentType="application/vnd.openxmlformats-officedocument.presentationml.notesSlide+xml"/>
  <Override PartName="/ppt/notesSlides/notesSlide31.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59.xml" ContentType="application/vnd.openxmlformats-officedocument.presentationml.notesSlide+xml"/>
  <Override PartName="/ppt/notesSlides/notesSlide21.xml" ContentType="application/vnd.openxmlformats-officedocument.presentationml.notesSlide+xml"/>
  <Override PartName="/ppt/notesSlides/notesSlide5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57.xml" ContentType="application/vnd.openxmlformats-officedocument.presentationml.notesSlide+xml"/>
  <Override PartName="/ppt/notesSlides/notesSlide45.xml" ContentType="application/vnd.openxmlformats-officedocument.presentationml.notesSlide+xml"/>
  <Override PartName="/ppt/notesSlides/notesSlide1.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0.xml" ContentType="application/vnd.openxmlformats-officedocument.presentationml.notesSlide+xml"/>
  <Override PartName="/ppt/notesSlides/_rels/notesSlide18.xml.rels" ContentType="application/vnd.openxmlformats-package.relationships+xml"/>
  <Override PartName="/ppt/notesSlides/_rels/notesSlide1.xml.rels" ContentType="application/vnd.openxmlformats-package.relationships+xml"/>
  <Override PartName="/ppt/notesSlides/_rels/notesSlide11.xml.rels" ContentType="application/vnd.openxmlformats-package.relationships+xml"/>
  <Override PartName="/ppt/notesSlides/_rels/notesSlide20.xml.rels" ContentType="application/vnd.openxmlformats-package.relationships+xml"/>
  <Override PartName="/ppt/notesSlides/_rels/notesSlide19.xml.rels" ContentType="application/vnd.openxmlformats-package.relationships+xml"/>
  <Override PartName="/ppt/notesSlides/_rels/notesSlide48.xml.rels" ContentType="application/vnd.openxmlformats-package.relationships+xml"/>
  <Override PartName="/ppt/notesSlides/_rels/notesSlide42.xml.rels" ContentType="application/vnd.openxmlformats-package.relationships+xml"/>
  <Override PartName="/ppt/notesSlides/_rels/notesSlide57.xml.rels" ContentType="application/vnd.openxmlformats-package.relationships+xml"/>
  <Override PartName="/ppt/notesSlides/_rels/notesSlide33.xml.rels" ContentType="application/vnd.openxmlformats-package.relationships+xml"/>
  <Override PartName="/ppt/notesSlides/_rels/notesSlide60.xml.rels" ContentType="application/vnd.openxmlformats-package.relationships+xml"/>
  <Override PartName="/ppt/notesSlides/_rels/notesSlide53.xml.rels" ContentType="application/vnd.openxmlformats-package.relationships+xml"/>
  <Override PartName="/ppt/notesSlides/_rels/notesSlide59.xml.rels" ContentType="application/vnd.openxmlformats-package.relationships+xml"/>
  <Override PartName="/ppt/notesSlides/_rels/notesSlide12.xml.rels" ContentType="application/vnd.openxmlformats-package.relationships+xml"/>
  <Override PartName="/ppt/notesSlides/_rels/notesSlide15.xml.rels" ContentType="application/vnd.openxmlformats-package.relationships+xml"/>
  <Override PartName="/ppt/notesSlides/_rels/notesSlide22.xml.rels" ContentType="application/vnd.openxmlformats-package.relationships+xml"/>
  <Override PartName="/ppt/notesSlides/_rels/notesSlide31.xml.rels" ContentType="application/vnd.openxmlformats-package.relationships+xml"/>
  <Override PartName="/ppt/notesSlides/_rels/notesSlide16.xml.rels" ContentType="application/vnd.openxmlformats-package.relationships+xml"/>
  <Override PartName="/ppt/notesSlides/_rels/notesSlide23.xml.rels" ContentType="application/vnd.openxmlformats-package.relationships+xml"/>
  <Override PartName="/ppt/notesSlides/_rels/notesSlide32.xml.rels" ContentType="application/vnd.openxmlformats-package.relationships+xml"/>
  <Override PartName="/ppt/notesSlides/_rels/notesSlide8.xml.rels" ContentType="application/vnd.openxmlformats-package.relationships+xml"/>
  <Override PartName="/ppt/notesSlides/_rels/notesSlide52.xml.rels" ContentType="application/vnd.openxmlformats-package.relationships+xml"/>
  <Override PartName="/ppt/notesSlides/_rels/notesSlide13.xml.rels" ContentType="application/vnd.openxmlformats-package.relationships+xml"/>
  <Override PartName="/ppt/notesSlides/_rels/notesSlide5.xml.rels" ContentType="application/vnd.openxmlformats-package.relationships+xml"/>
  <Override PartName="/ppt/notesSlides/_rels/notesSlide28.xml.rels" ContentType="application/vnd.openxmlformats-package.relationships+xml"/>
  <Override PartName="/ppt/notesSlides/_rels/notesSlide44.xml.rels" ContentType="application/vnd.openxmlformats-package.relationships+xml"/>
  <Override PartName="/ppt/notesSlides/_rels/notesSlide51.xml.rels" ContentType="application/vnd.openxmlformats-package.relationships+xml"/>
  <Override PartName="/ppt/notesSlides/_rels/notesSlide45.xml.rels" ContentType="application/vnd.openxmlformats-package.relationships+xml"/>
  <Override PartName="/ppt/notesSlides/_rels/notesSlide30.xml.rels" ContentType="application/vnd.openxmlformats-package.relationships+xml"/>
  <Override PartName="/ppt/notesSlides/_rels/notesSlide29.xml.rels" ContentType="application/vnd.openxmlformats-package.relationships+xml"/>
  <Override PartName="/ppt/notesSlides/_rels/notesSlide21.xml.rels" ContentType="application/vnd.openxmlformats-package.relationships+xml"/>
  <Override PartName="/ppt/notesSlides/_rels/notesSlide3.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54.xml.rels" ContentType="application/vnd.openxmlformats-package.relationships+xml"/>
  <Override PartName="/ppt/notesSlides/_rels/notesSlide55.xml.rels" ContentType="application/vnd.openxmlformats-package.relationships+xml"/>
  <Override PartName="/ppt/notesSlides/_rels/notesSlide40.xml.rels" ContentType="application/vnd.openxmlformats-package.relationships+xml"/>
  <Override PartName="/ppt/notesSlides/_rels/notesSlide46.xml.rels" ContentType="application/vnd.openxmlformats-package.relationships+xml"/>
  <Override PartName="/ppt/notesSlides/_rels/notesSlide62.xml.rels" ContentType="application/vnd.openxmlformats-package.relationships+xml"/>
  <Override PartName="/ppt/notesSlides/_rels/notesSlide27.xml.rels" ContentType="application/vnd.openxmlformats-package.relationships+xml"/>
  <Override PartName="/ppt/notesSlides/_rels/notesSlide58.xml.rels" ContentType="application/vnd.openxmlformats-package.relationships+xml"/>
  <Override PartName="/ppt/notesSlides/_rels/notesSlide43.xml.rels" ContentType="application/vnd.openxmlformats-package.relationships+xml"/>
  <Override PartName="/ppt/notesSlides/_rels/notesSlide34.xml.rels" ContentType="application/vnd.openxmlformats-package.relationships+xml"/>
  <Override PartName="/ppt/notesSlides/_rels/notesSlide50.xml.rels" ContentType="application/vnd.openxmlformats-package.relationships+xml"/>
  <Override PartName="/ppt/notesSlides/_rels/notesSlide49.xml.rels" ContentType="application/vnd.openxmlformats-package.relationships+xml"/>
  <Override PartName="/ppt/notesSlides/_rels/notesSlide47.xml.rels" ContentType="application/vnd.openxmlformats-package.relationships+xml"/>
  <Override PartName="/ppt/notesSlides/_rels/notesSlide56.xml.rels" ContentType="application/vnd.openxmlformats-package.relationships+xml"/>
  <Override PartName="/ppt/notesSlides/_rels/notesSlide41.xml.rels" ContentType="application/vnd.openxmlformats-package.relationships+xml"/>
  <Override PartName="/ppt/notesSlides/_rels/notesSlide17.xml.rels" ContentType="application/vnd.openxmlformats-package.relationships+xml"/>
  <Override PartName="/ppt/notesSlides/_rels/notesSlide24.xml.rels" ContentType="application/vnd.openxmlformats-package.relationships+xml"/>
  <Override PartName="/ppt/notesSlides/_rels/notesSlide39.xml.rels" ContentType="application/vnd.openxmlformats-package.relationships+xml"/>
  <Override PartName="/ppt/notesSlides/notesSlide51.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49.xml" ContentType="application/vnd.openxmlformats-officedocument.presentationml.notesSlide+xml"/>
  <Override PartName="/ppt/notesSlides/notesSlide52.xml" ContentType="application/vnd.openxmlformats-officedocument.presentationml.notesSlide+xml"/>
  <Override PartName="/ppt/notesSlides/notesSlide15.xml" ContentType="application/vnd.openxmlformats-officedocument.presentationml.notesSlide+xml"/>
  <Override PartName="/ppt/notesSlides/notesSlide53.xml" ContentType="application/vnd.openxmlformats-officedocument.presentationml.notesSlide+xml"/>
  <Override PartName="/ppt/notesSlides/notesSlide16.xml" ContentType="application/vnd.openxmlformats-officedocument.presentationml.notesSlide+xml"/>
  <Override PartName="/ppt/notesSlides/notesSlide42.xml" ContentType="application/vnd.openxmlformats-officedocument.presentationml.notesSlide+xml"/>
  <Override PartName="/ppt/notesSlides/notesSlide54.xml" ContentType="application/vnd.openxmlformats-officedocument.presentationml.notesSlide+xml"/>
  <Override PartName="/ppt/notesSlides/notesSlide17.xml" ContentType="application/vnd.openxmlformats-officedocument.presentationml.notesSlide+xml"/>
  <Override PartName="/ppt/notesSlides/notesSlide8.xml" ContentType="application/vnd.openxmlformats-officedocument.presentationml.notesSlide+xml"/>
  <Override PartName="/ppt/notesSlides/notesSlide43.xml" ContentType="application/vnd.openxmlformats-officedocument.presentationml.notesSlide+xml"/>
  <Override PartName="/ppt/notesSlides/notesSlide55.xml" ContentType="application/vnd.openxmlformats-officedocument.presentationml.notesSlide+xml"/>
  <Override PartName="/ppt/notesSlides/notesSlide18.xml" ContentType="application/vnd.openxmlformats-officedocument.presentationml.notesSlide+xml"/>
  <Override PartName="/ppt/notesSlides/notesSlide44.xml" ContentType="application/vnd.openxmlformats-officedocument.presentationml.notesSlide+xml"/>
  <Override PartName="/ppt/notesSlides/notesSlide56.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13.xml" ContentType="application/vnd.openxmlformats-officedocument.presentationml.notesSlide+xml"/>
  <Override PartName="/ppt/notesSlides/notesSlide62.xml" ContentType="application/vnd.openxmlformats-officedocument.presentationml.notesSlide+xml"/>
  <Override PartName="/ppt/notesSlides/notesSlide11.xml" ContentType="application/vnd.openxmlformats-officedocument.presentationml.notesSlide+xml"/>
  <Override PartName="/ppt/notesSlides/notesSlide48.xml" ContentType="application/vnd.openxmlformats-officedocument.presentationml.notesSlide+xml"/>
  <Override PartName="/ppt/notesSlides/notesSlide60.xml" ContentType="application/vnd.openxmlformats-officedocument.presentationml.notesSlid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56.png" ContentType="image/png"/>
  <Override PartName="/ppt/media/image55.png" ContentType="image/png"/>
  <Override PartName="/ppt/media/image53.png" ContentType="image/png"/>
  <Override PartName="/ppt/media/image52.png" ContentType="image/png"/>
  <Override PartName="/ppt/media/image51.png" ContentType="image/png"/>
  <Override PartName="/ppt/media/image50.png" ContentType="image/png"/>
  <Override PartName="/ppt/media/image46.png" ContentType="image/png"/>
  <Override PartName="/ppt/media/image45.png" ContentType="image/png"/>
  <Override PartName="/ppt/media/image44.png" ContentType="image/png"/>
  <Override PartName="/ppt/media/image43.png" ContentType="image/png"/>
  <Override PartName="/ppt/media/image42.png" ContentType="image/png"/>
  <Override PartName="/ppt/media/image54.png" ContentType="image/png"/>
  <Override PartName="/ppt/media/image41.jpeg" ContentType="image/jpeg"/>
  <Override PartName="/ppt/media/image66.png" ContentType="image/png"/>
  <Override PartName="/ppt/media/image40.png" ContentType="image/png"/>
  <Override PartName="/ppt/media/image39.gif" ContentType="image/gif"/>
  <Override PartName="/ppt/media/image31.png" ContentType="image/png"/>
  <Override PartName="/ppt/media/image30.png" ContentType="image/png"/>
  <Override PartName="/ppt/media/image9.png" ContentType="image/png"/>
  <Override PartName="/ppt/media/image86.png" ContentType="image/png"/>
  <Override PartName="/ppt/media/image13.png" ContentType="image/png"/>
  <Override PartName="/ppt/media/image8.png" ContentType="image/png"/>
  <Override PartName="/ppt/media/image85.png" ContentType="image/png"/>
  <Override PartName="/ppt/media/image49.png" ContentType="image/png"/>
  <Override PartName="/ppt/media/image100.png" ContentType="image/png"/>
  <Override PartName="/ppt/media/image12.png" ContentType="image/png"/>
  <Override PartName="/ppt/media/image37.png" ContentType="image/png"/>
  <Override PartName="/ppt/media/image7.png" ContentType="image/png"/>
  <Override PartName="/ppt/media/image19.png" ContentType="image/png"/>
  <Override PartName="/ppt/media/image84.png" ContentType="image/png"/>
  <Override PartName="/ppt/media/image48.png" ContentType="image/png"/>
  <Override PartName="/ppt/media/image11.png" ContentType="image/png"/>
  <Override PartName="/ppt/media/image36.png" ContentType="image/png"/>
  <Override PartName="/ppt/media/image6.png" ContentType="image/png"/>
  <Override PartName="/ppt/media/image18.png" ContentType="image/png"/>
  <Override PartName="/ppt/media/image83.png" ContentType="image/png"/>
  <Override PartName="/ppt/media/image29.png" ContentType="image/png"/>
  <Override PartName="/ppt/media/image94.png" ContentType="image/png"/>
  <Override PartName="/ppt/media/image34.png" ContentType="image/png"/>
  <Override PartName="/ppt/media/image4.png" ContentType="image/png"/>
  <Override PartName="/ppt/media/image16.png" ContentType="image/png"/>
  <Override PartName="/ppt/media/image81.png" ContentType="image/png"/>
  <Override PartName="/ppt/media/image27.png" ContentType="image/png"/>
  <Override PartName="/ppt/media/image92.png" ContentType="image/png"/>
  <Override PartName="/ppt/media/image33.png" ContentType="image/png"/>
  <Override PartName="/ppt/media/image65.png" ContentType="image/png"/>
  <Override PartName="/ppt/media/image67.png" ContentType="image/png"/>
  <Override PartName="/ppt/media/image68.png" ContentType="image/png"/>
  <Override PartName="/ppt/media/image70.png" ContentType="image/png"/>
  <Override PartName="/ppt/media/image69.png" ContentType="image/png"/>
  <Override PartName="/ppt/media/image32.png" ContentType="image/png"/>
  <Override PartName="/ppt/media/image71.png" ContentType="image/png"/>
  <Override PartName="/ppt/media/image73.png" ContentType="image/png"/>
  <Override PartName="/ppt/media/image74.png" ContentType="image/png"/>
  <Override PartName="/ppt/media/image75.png" ContentType="image/png"/>
  <Override PartName="/ppt/media/image76.png" ContentType="image/png"/>
  <Override PartName="/ppt/media/image77.png" ContentType="image/png"/>
  <Override PartName="/ppt/media/image78.png" ContentType="image/png"/>
  <Override PartName="/ppt/media/image105.png" ContentType="image/png"/>
  <Override PartName="/ppt/media/image98.png" ContentType="image/png"/>
  <Override PartName="/ppt/media/image61.png" ContentType="image/png"/>
  <Override PartName="/ppt/media/image104.png" ContentType="image/png"/>
  <Override PartName="/ppt/media/image97.png" ContentType="image/png"/>
  <Override PartName="/ppt/media/image60.png" ContentType="image/png"/>
  <Override PartName="/ppt/media/image103.png" ContentType="image/png"/>
  <Override PartName="/ppt/media/image96.png" ContentType="image/png"/>
  <Override PartName="/ppt/media/image89.png" ContentType="image/png"/>
  <Override PartName="/ppt/media/image102.png" ContentType="image/png"/>
  <Override PartName="/ppt/media/image95.png" ContentType="image/png"/>
  <Override PartName="/ppt/media/image88.png" ContentType="image/png"/>
  <Override PartName="/ppt/media/image79.png" ContentType="image/png"/>
  <Override PartName="/ppt/media/image101.png" ContentType="image/png"/>
  <Override PartName="/ppt/media/image64.png" ContentType="image/png"/>
  <Override PartName="/ppt/media/image99.png" ContentType="image/png"/>
  <Override PartName="/ppt/media/image62.png" ContentType="image/png"/>
  <Override PartName="/ppt/media/image87.png" ContentType="image/png"/>
  <Override PartName="/ppt/media/image63.png" ContentType="image/png"/>
  <Override PartName="/ppt/media/image24.png" ContentType="image/png"/>
  <Override PartName="/ppt/media/image23.png" ContentType="image/png"/>
  <Override PartName="/ppt/media/image22.png" ContentType="image/png"/>
  <Override PartName="/ppt/media/image59.png" ContentType="image/png"/>
  <Override PartName="/ppt/media/image58.png" ContentType="image/png"/>
  <Override PartName="/ppt/media/image20.png" ContentType="image/png"/>
  <Override PartName="/ppt/media/image57.png" ContentType="image/png"/>
  <Override PartName="/ppt/media/image28.png" ContentType="image/png"/>
  <Override PartName="/ppt/media/image93.png" ContentType="image/png"/>
  <Override PartName="/ppt/media/image2.png" ContentType="image/png"/>
  <Override PartName="/ppt/media/image14.png" ContentType="image/png"/>
  <Override PartName="/ppt/media/image38.jpeg" ContentType="image/jpeg"/>
  <Override PartName="/ppt/media/image72.png" ContentType="image/png"/>
  <Override PartName="/ppt/media/image17.png" ContentType="image/png"/>
  <Override PartName="/ppt/media/image82.png" ContentType="image/png"/>
  <Override PartName="/ppt/media/image5.png" ContentType="image/png"/>
  <Override PartName="/ppt/media/image35.png" ContentType="image/png"/>
  <Override PartName="/ppt/media/image10.png" ContentType="image/png"/>
  <Override PartName="/ppt/media/image21.png" ContentType="image/png"/>
  <Override PartName="/ppt/media/image1.jpeg" ContentType="image/jpeg"/>
  <Override PartName="/ppt/media/image47.png" ContentType="image/png"/>
  <Override PartName="/ppt/media/image90.png" ContentType="image/png"/>
  <Override PartName="/ppt/media/image25.png" ContentType="image/png"/>
  <Override PartName="/ppt/media/image91.png" ContentType="image/png"/>
  <Override PartName="/ppt/media/image26.png" ContentType="image/png"/>
  <Override PartName="/ppt/media/image3.png" ContentType="image/png"/>
  <Override PartName="/ppt/media/image15.png" ContentType="image/png"/>
  <Override PartName="/ppt/media/image80.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42.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60.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9.xml" ContentType="application/vnd.openxmlformats-officedocument.presentationml.slide+xml"/>
  <Override PartName="/ppt/slides/slide61.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9.xml" ContentType="application/vnd.openxmlformats-officedocument.presentationml.slide+xml"/>
  <Override PartName="/ppt/slides/slide65.xml" ContentType="application/vnd.openxmlformats-officedocument.presentationml.slide+xml"/>
  <Override PartName="/ppt/slides/slide28.xml" ContentType="application/vnd.openxmlformats-officedocument.presentationml.slide+xml"/>
  <Override PartName="/ppt/slides/slide64.xml" ContentType="application/vnd.openxmlformats-officedocument.presentationml.slide+xml"/>
  <Override PartName="/ppt/slides/slide27.xml" ContentType="application/vnd.openxmlformats-officedocument.presentationml.slide+xml"/>
  <Override PartName="/ppt/slides/slide63.xml" ContentType="application/vnd.openxmlformats-officedocument.presentationml.slide+xml"/>
  <Override PartName="/ppt/slides/slide26.xml" ContentType="application/vnd.openxmlformats-officedocument.presentationml.slide+xml"/>
  <Override PartName="/ppt/slides/slide62.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16.xml" ContentType="application/vnd.openxmlformats-officedocument.presentationml.slide+xml"/>
  <Override PartName="/ppt/slides/slide9.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_rels/slide39.xml.rels" ContentType="application/vnd.openxmlformats-package.relationships+xml"/>
  <Override PartName="/ppt/slides/_rels/slide31.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32.xml.rels" ContentType="application/vnd.openxmlformats-package.relationships+xml"/>
  <Override PartName="/ppt/slides/_rels/slide1.xml.rels" ContentType="application/vnd.openxmlformats-package.relationships+xml"/>
  <Override PartName="/ppt/slides/_rels/slide58.xml.rels" ContentType="application/vnd.openxmlformats-package.relationships+xml"/>
  <Override PartName="/ppt/slides/_rels/slide65.xml.rels" ContentType="application/vnd.openxmlformats-package.relationships+xml"/>
  <Override PartName="/ppt/slides/_rels/slide13.xml.rels" ContentType="application/vnd.openxmlformats-package.relationships+xml"/>
  <Override PartName="/ppt/slides/_rels/slide27.xml.rels" ContentType="application/vnd.openxmlformats-package.relationships+xml"/>
  <Override PartName="/ppt/slides/_rels/slide36.xml.rels" ContentType="application/vnd.openxmlformats-package.relationships+xml"/>
  <Override PartName="/ppt/slides/_rels/slide43.xml.rels" ContentType="application/vnd.openxmlformats-package.relationships+xml"/>
  <Override PartName="/ppt/slides/_rels/slide8.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12.xml.rels" ContentType="application/vnd.openxmlformats-package.relationships+xml"/>
  <Override PartName="/ppt/slides/_rels/slide48.xml.rels" ContentType="application/vnd.openxmlformats-package.relationships+xml"/>
  <Override PartName="/ppt/slides/_rels/slide6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55.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54.xml.rels" ContentType="application/vnd.openxmlformats-package.relationships+xml"/>
  <Override PartName="/ppt/slides/_rels/slide63.xml.rels" ContentType="application/vnd.openxmlformats-package.relationships+xml"/>
  <Override PartName="/ppt/slides/_rels/slide47.xml.rels" ContentType="application/vnd.openxmlformats-package.relationships+xml"/>
  <Override PartName="/ppt/slides/_rels/slide4.xml.rels" ContentType="application/vnd.openxmlformats-package.relationships+xml"/>
  <Override PartName="/ppt/slides/_rels/slide41.xml.rels" ContentType="application/vnd.openxmlformats-package.relationships+xml"/>
  <Override PartName="/ppt/slides/_rels/slide6.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49.xml.rels" ContentType="application/vnd.openxmlformats-package.relationships+xml"/>
  <Override PartName="/ppt/slides/_rels/slide53.xml.rels" ContentType="application/vnd.openxmlformats-package.relationships+xml"/>
  <Override PartName="/ppt/slides/_rels/slide62.xml.rels" ContentType="application/vnd.openxmlformats-package.relationships+xml"/>
  <Override PartName="/ppt/slides/_rels/slide46.xml.rels" ContentType="application/vnd.openxmlformats-package.relationships+xml"/>
  <Override PartName="/ppt/slides/_rels/slide52.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28.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14.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19.xml.rels" ContentType="application/vnd.openxmlformats-package.relationships+xml"/>
  <Override PartName="/ppt/slides/_rels/slide23.xml.rels" ContentType="application/vnd.openxmlformats-package.relationships+xml"/>
  <Override PartName="/ppt/slides/_rels/slide30.xml.rels" ContentType="application/vnd.openxmlformats-package.relationships+xml"/>
  <Override PartName="/ppt/slides/_rels/slide38.xml.rels" ContentType="application/vnd.openxmlformats-package.relationships+xml"/>
  <Override PartName="/ppt/slides/_rels/slide45.xml.rels" ContentType="application/vnd.openxmlformats-package.relationships+xml"/>
  <Override PartName="/ppt/slides/_rels/slide25.xml.rels" ContentType="application/vnd.openxmlformats-package.relationships+xml"/>
  <Override PartName="/ppt/slides/_rels/slide59.xml.rels" ContentType="application/vnd.openxmlformats-package.relationships+xml"/>
  <Override PartName="/ppt/slides/_rels/slide10.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slide6.xml" ContentType="application/vnd.openxmlformats-officedocument.presentationml.slide+xml"/>
  <Override PartName="/ppt/slides/slide1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0.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x="12192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sldImg"/>
          </p:nvPr>
        </p:nvSpPr>
        <p:spPr>
          <a:xfrm>
            <a:off x="216000" y="812520"/>
            <a:ext cx="7127280" cy="4008960"/>
          </a:xfrm>
          <a:prstGeom prst="rect">
            <a:avLst/>
          </a:prstGeom>
        </p:spPr>
        <p:txBody>
          <a:bodyPr lIns="0" rIns="0" tIns="0" bIns="0" anchor="ctr">
            <a:noAutofit/>
          </a:bodyPr>
          <a:p>
            <a:r>
              <a:rPr b="0" lang="es-ES" sz="1800" spc="-1" strike="noStrike">
                <a:solidFill>
                  <a:srgbClr val="000000"/>
                </a:solidFill>
                <a:latin typeface="Aptos"/>
              </a:rPr>
              <a:t>Pulse para desplazar la diapositiva</a:t>
            </a:r>
            <a:endParaRPr b="0" lang="es-ES" sz="1800" spc="-1" strike="noStrike">
              <a:solidFill>
                <a:srgbClr val="000000"/>
              </a:solidFill>
              <a:latin typeface="Aptos"/>
            </a:endParaRPr>
          </a:p>
        </p:txBody>
      </p:sp>
      <p:sp>
        <p:nvSpPr>
          <p:cNvPr id="83" name="PlaceHolder 2"/>
          <p:cNvSpPr>
            <a:spLocks noGrp="1"/>
          </p:cNvSpPr>
          <p:nvPr>
            <p:ph type="body"/>
          </p:nvPr>
        </p:nvSpPr>
        <p:spPr>
          <a:xfrm>
            <a:off x="756000" y="5078520"/>
            <a:ext cx="6047640" cy="4811040"/>
          </a:xfrm>
          <a:prstGeom prst="rect">
            <a:avLst/>
          </a:prstGeom>
        </p:spPr>
        <p:txBody>
          <a:bodyPr lIns="0" rIns="0" tIns="0" bIns="0">
            <a:noAutofit/>
          </a:bodyPr>
          <a:p>
            <a:r>
              <a:rPr b="0" lang="es-ES" sz="2000" spc="-1" strike="noStrike">
                <a:latin typeface="Arial"/>
              </a:rPr>
              <a:t>Pulse para editar el formato de las notas</a:t>
            </a:r>
            <a:endParaRPr b="0" lang="es-ES" sz="2000" spc="-1" strike="noStrike">
              <a:latin typeface="Arial"/>
            </a:endParaRPr>
          </a:p>
        </p:txBody>
      </p:sp>
      <p:sp>
        <p:nvSpPr>
          <p:cNvPr id="84" name="PlaceHolder 3"/>
          <p:cNvSpPr>
            <a:spLocks noGrp="1"/>
          </p:cNvSpPr>
          <p:nvPr>
            <p:ph type="hdr"/>
          </p:nvPr>
        </p:nvSpPr>
        <p:spPr>
          <a:xfrm>
            <a:off x="0" y="0"/>
            <a:ext cx="3280680" cy="534240"/>
          </a:xfrm>
          <a:prstGeom prst="rect">
            <a:avLst/>
          </a:prstGeom>
        </p:spPr>
        <p:txBody>
          <a:bodyPr lIns="0" rIns="0" tIns="0" bIns="0">
            <a:noAutofit/>
          </a:bodyPr>
          <a:p>
            <a:r>
              <a:rPr b="0" lang="es-ES" sz="1400" spc="-1" strike="noStrike">
                <a:latin typeface="Times New Roman"/>
              </a:rPr>
              <a:t>&lt;cabecera&gt;</a:t>
            </a:r>
            <a:endParaRPr b="0" lang="es-ES" sz="1400" spc="-1" strike="noStrike">
              <a:latin typeface="Times New Roman"/>
            </a:endParaRPr>
          </a:p>
        </p:txBody>
      </p:sp>
      <p:sp>
        <p:nvSpPr>
          <p:cNvPr id="85" name="PlaceHolder 4"/>
          <p:cNvSpPr>
            <a:spLocks noGrp="1"/>
          </p:cNvSpPr>
          <p:nvPr>
            <p:ph type="dt"/>
          </p:nvPr>
        </p:nvSpPr>
        <p:spPr>
          <a:xfrm>
            <a:off x="4278960" y="0"/>
            <a:ext cx="3280680" cy="534240"/>
          </a:xfrm>
          <a:prstGeom prst="rect">
            <a:avLst/>
          </a:prstGeom>
        </p:spPr>
        <p:txBody>
          <a:bodyPr lIns="0" rIns="0" tIns="0" bIns="0">
            <a:noAutofit/>
          </a:bodyPr>
          <a:p>
            <a:pPr algn="r"/>
            <a:r>
              <a:rPr b="0" lang="es-ES" sz="1400" spc="-1" strike="noStrike">
                <a:latin typeface="Times New Roman"/>
              </a:rPr>
              <a:t>&lt;fecha/hora&gt;</a:t>
            </a:r>
            <a:endParaRPr b="0" lang="es-ES" sz="1400" spc="-1" strike="noStrike">
              <a:latin typeface="Times New Roman"/>
            </a:endParaRPr>
          </a:p>
        </p:txBody>
      </p:sp>
      <p:sp>
        <p:nvSpPr>
          <p:cNvPr id="86" name="PlaceHolder 5"/>
          <p:cNvSpPr>
            <a:spLocks noGrp="1"/>
          </p:cNvSpPr>
          <p:nvPr>
            <p:ph type="ftr"/>
          </p:nvPr>
        </p:nvSpPr>
        <p:spPr>
          <a:xfrm>
            <a:off x="0" y="10157400"/>
            <a:ext cx="3280680" cy="534240"/>
          </a:xfrm>
          <a:prstGeom prst="rect">
            <a:avLst/>
          </a:prstGeom>
        </p:spPr>
        <p:txBody>
          <a:bodyPr lIns="0" rIns="0" tIns="0" bIns="0" anchor="b">
            <a:noAutofit/>
          </a:bodyPr>
          <a:p>
            <a:r>
              <a:rPr b="0" lang="es-ES" sz="1400" spc="-1" strike="noStrike">
                <a:latin typeface="Times New Roman"/>
              </a:rPr>
              <a:t>&lt;pie de página&gt;</a:t>
            </a:r>
            <a:endParaRPr b="0" lang="es-ES" sz="1400" spc="-1" strike="noStrike">
              <a:latin typeface="Times New Roman"/>
            </a:endParaRPr>
          </a:p>
        </p:txBody>
      </p:sp>
      <p:sp>
        <p:nvSpPr>
          <p:cNvPr id="87"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4150B3FF-8ACF-4785-A57F-128A9EA09977}" type="slidenum">
              <a:rPr b="0" lang="es-ES" sz="1400" spc="-1" strike="noStrike">
                <a:latin typeface="Times New Roman"/>
              </a:rPr>
              <a:t>&lt;número&gt;</a:t>
            </a:fld>
            <a:endParaRPr b="0" lang="es-E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685800" y="1143000"/>
            <a:ext cx="5486040" cy="3085920"/>
          </a:xfrm>
          <a:prstGeom prst="rect">
            <a:avLst/>
          </a:prstGeom>
        </p:spPr>
      </p:sp>
      <p:sp>
        <p:nvSpPr>
          <p:cNvPr id="736"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central dogma of molecular biology</a:t>
            </a:r>
            <a:endParaRPr b="0" lang="es-ES" sz="2000" spc="-1" strike="noStrike">
              <a:latin typeface="Arial"/>
            </a:endParaRPr>
          </a:p>
        </p:txBody>
      </p:sp>
      <p:sp>
        <p:nvSpPr>
          <p:cNvPr id="737" name="TextShape 3"/>
          <p:cNvSpPr txBox="1"/>
          <p:nvPr/>
        </p:nvSpPr>
        <p:spPr>
          <a:xfrm>
            <a:off x="3884760" y="8685360"/>
            <a:ext cx="2971440" cy="458280"/>
          </a:xfrm>
          <a:prstGeom prst="rect">
            <a:avLst/>
          </a:prstGeom>
          <a:noFill/>
          <a:ln>
            <a:noFill/>
          </a:ln>
        </p:spPr>
        <p:txBody>
          <a:bodyPr anchor="b">
            <a:noAutofit/>
          </a:bodyPr>
          <a:p>
            <a:pPr algn="r">
              <a:lnSpc>
                <a:spcPct val="100000"/>
              </a:lnSpc>
            </a:pPr>
            <a:fld id="{B6B450B3-FD59-4F05-A408-11A31579D3C8}"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685800" y="1143000"/>
            <a:ext cx="5486040" cy="3085920"/>
          </a:xfrm>
          <a:prstGeom prst="rect">
            <a:avLst/>
          </a:prstGeom>
        </p:spPr>
      </p:sp>
      <p:sp>
        <p:nvSpPr>
          <p:cNvPr id="739"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https://bio-protocol.org/en/bpdetail?id=5295&amp;type=0</a:t>
            </a:r>
            <a:endParaRPr b="0" lang="es-ES" sz="2000" spc="-1" strike="noStrike">
              <a:latin typeface="Arial"/>
            </a:endParaRPr>
          </a:p>
        </p:txBody>
      </p:sp>
      <p:sp>
        <p:nvSpPr>
          <p:cNvPr id="74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79427678-74FB-48DB-A46E-D540FAC7840B}"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685800" y="1143000"/>
            <a:ext cx="5486040" cy="3085920"/>
          </a:xfrm>
          <a:prstGeom prst="rect">
            <a:avLst/>
          </a:prstGeom>
        </p:spPr>
      </p:sp>
      <p:sp>
        <p:nvSpPr>
          <p:cNvPr id="742"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a:t>
            </a:r>
            <a:endParaRPr b="0" lang="es-ES" sz="2000" spc="-1" strike="noStrike">
              <a:latin typeface="Arial"/>
            </a:endParaRPr>
          </a:p>
          <a:p>
            <a:pPr marL="216000" indent="-216000">
              <a:lnSpc>
                <a:spcPct val="100000"/>
              </a:lnSpc>
            </a:pPr>
            <a:r>
              <a:rPr b="1" lang="en-US" sz="2000" spc="-1" strike="noStrike">
                <a:latin typeface="Arial"/>
              </a:rPr>
              <a:t>FFPE samples</a:t>
            </a:r>
            <a:r>
              <a:rPr b="0" lang="en-US" sz="2000" spc="-1" strike="noStrike">
                <a:latin typeface="Arial"/>
              </a:rPr>
              <a:t> = tissue samples preserved in formalin and paraffin for long-term storage and histological analysis.</a:t>
            </a:r>
            <a:endParaRPr b="0" lang="es-ES" sz="2000" spc="-1" strike="noStrike">
              <a:latin typeface="Arial"/>
            </a:endParaRPr>
          </a:p>
          <a:p>
            <a:pPr marL="216000" indent="-216000">
              <a:lnSpc>
                <a:spcPct val="100000"/>
              </a:lnSpc>
            </a:pPr>
            <a:r>
              <a:rPr b="0" lang="en-US" sz="2000" spc="-1" strike="noStrike">
                <a:latin typeface="Arial"/>
              </a:rPr>
              <a:t>**</a:t>
            </a:r>
            <a:endParaRPr b="0" lang="es-ES" sz="2000" spc="-1" strike="noStrike">
              <a:latin typeface="Arial"/>
            </a:endParaRPr>
          </a:p>
          <a:p>
            <a:pPr marL="216000" indent="-216000">
              <a:lnSpc>
                <a:spcPct val="100000"/>
              </a:lnSpc>
            </a:pPr>
            <a:r>
              <a:rPr b="1" lang="es-ES" sz="2000" spc="-1" strike="noStrike">
                <a:latin typeface="Arial"/>
              </a:rPr>
              <a:t>miRNA (microRNA):</a:t>
            </a:r>
            <a:r>
              <a:rPr b="0" lang="es-ES" sz="2000" spc="-1" strike="noStrike">
                <a:latin typeface="Arial"/>
              </a:rPr>
              <a:t> Small non-coding RNA (~22 nt) that regulates gene expression by binding to target mRNAs and inhibiting their translation.</a:t>
            </a:r>
            <a:endParaRPr b="0" lang="es-ES" sz="2000" spc="-1" strike="noStrike">
              <a:latin typeface="Arial"/>
            </a:endParaRPr>
          </a:p>
          <a:p>
            <a:pPr marL="216000" indent="-216000">
              <a:lnSpc>
                <a:spcPct val="100000"/>
              </a:lnSpc>
            </a:pPr>
            <a:r>
              <a:rPr b="1" lang="es-ES" sz="2000" spc="-1" strike="noStrike">
                <a:latin typeface="Arial"/>
              </a:rPr>
              <a:t>siRNA (small interfering RNA):</a:t>
            </a:r>
            <a:r>
              <a:rPr b="0" lang="es-ES" sz="2000" spc="-1" strike="noStrike">
                <a:latin typeface="Arial"/>
              </a:rPr>
              <a:t> Short double-stranded RNA that triggers degradation of complementary mRNA through RNA interference (RNAi).</a:t>
            </a:r>
            <a:endParaRPr b="0" lang="es-ES" sz="2000" spc="-1" strike="noStrike">
              <a:latin typeface="Arial"/>
            </a:endParaRPr>
          </a:p>
          <a:p>
            <a:pPr marL="216000" indent="-216000">
              <a:lnSpc>
                <a:spcPct val="100000"/>
              </a:lnSpc>
            </a:pPr>
            <a:r>
              <a:rPr b="1" lang="es-ES" sz="2000" spc="-1" strike="noStrike">
                <a:latin typeface="Arial"/>
              </a:rPr>
              <a:t>piRNA (PIWI-interacting RNA):</a:t>
            </a:r>
            <a:r>
              <a:rPr b="0" lang="es-ES" sz="2000" spc="-1" strike="noStrike">
                <a:latin typeface="Arial"/>
              </a:rPr>
              <a:t> Small RNA found mainly in germ cells that silences transposons and protects genome integrity.</a:t>
            </a:r>
            <a:endParaRPr b="0" lang="es-ES" sz="2000" spc="-1" strike="noStrike">
              <a:latin typeface="Arial"/>
            </a:endParaRPr>
          </a:p>
          <a:p>
            <a:pPr marL="216000" indent="-216000">
              <a:lnSpc>
                <a:spcPct val="100000"/>
              </a:lnSpc>
            </a:pPr>
            <a:r>
              <a:rPr b="1" lang="es-ES" sz="2000" spc="-1" strike="noStrike">
                <a:latin typeface="Arial"/>
              </a:rPr>
              <a:t>snRNA (small nuclear RNA):</a:t>
            </a:r>
            <a:r>
              <a:rPr b="0" lang="es-ES" sz="2000" spc="-1" strike="noStrike">
                <a:latin typeface="Arial"/>
              </a:rPr>
              <a:t> Small RNA involved in the splicing of pre-mRNA within the spliceosome.</a:t>
            </a:r>
            <a:endParaRPr b="0" lang="es-ES" sz="2000" spc="-1" strike="noStrike">
              <a:latin typeface="Arial"/>
            </a:endParaRPr>
          </a:p>
          <a:p>
            <a:pPr marL="216000" indent="-216000">
              <a:lnSpc>
                <a:spcPct val="100000"/>
              </a:lnSpc>
            </a:pPr>
            <a:endParaRPr b="0" lang="es-ES" sz="2000" spc="-1" strike="noStrike">
              <a:latin typeface="Arial"/>
            </a:endParaRPr>
          </a:p>
        </p:txBody>
      </p:sp>
      <p:sp>
        <p:nvSpPr>
          <p:cNvPr id="74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3D3BEFDC-72A3-4638-9684-DA003F0E41A4}"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685800" y="1143000"/>
            <a:ext cx="5486040" cy="3085920"/>
          </a:xfrm>
          <a:prstGeom prst="rect">
            <a:avLst/>
          </a:prstGeom>
        </p:spPr>
      </p:sp>
      <p:sp>
        <p:nvSpPr>
          <p:cNvPr id="745"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2000" spc="-1" strike="noStrike">
                <a:latin typeface="Arial"/>
              </a:rPr>
              <a:t>QC explanation: </a:t>
            </a:r>
            <a:r>
              <a:rPr b="0" lang="en-US" sz="2000" spc="-1" strike="noStrike">
                <a:latin typeface="Arial"/>
              </a:rPr>
              <a:t>https://www.bioinformatics.babraham.ac.uk/projects/fastqc/Help/3%20Analysis%20Modules/</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endParaRPr b="0" lang="es-ES" sz="2000" spc="-1" strike="noStrike">
              <a:latin typeface="Arial"/>
            </a:endParaRPr>
          </a:p>
        </p:txBody>
      </p:sp>
      <p:sp>
        <p:nvSpPr>
          <p:cNvPr id="74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CCD3011E-7865-48BD-8496-7B1F7E6F2BB9}"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7" name="PlaceHolder 1"/>
          <p:cNvSpPr>
            <a:spLocks noGrp="1"/>
          </p:cNvSpPr>
          <p:nvPr>
            <p:ph type="sldImg"/>
          </p:nvPr>
        </p:nvSpPr>
        <p:spPr>
          <a:xfrm>
            <a:off x="685800" y="1143000"/>
            <a:ext cx="5486040" cy="3085920"/>
          </a:xfrm>
          <a:prstGeom prst="rect">
            <a:avLst/>
          </a:prstGeom>
        </p:spPr>
      </p:sp>
      <p:sp>
        <p:nvSpPr>
          <p:cNvPr id="748"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2000" spc="-1" strike="noStrike">
                <a:latin typeface="Arial"/>
              </a:rPr>
              <a:t>ILLUMINACLIP:TruSeq3-SE:2:30:10 </a:t>
            </a:r>
            <a:r>
              <a:rPr b="0" lang="en-US" sz="2000" spc="-1" strike="noStrike">
                <a:latin typeface="Wingdings"/>
              </a:rPr>
              <a:t></a:t>
            </a:r>
            <a:r>
              <a:rPr b="0" lang="en-US" sz="2000" spc="-1" strike="noStrike">
                <a:latin typeface="Times New Roman"/>
              </a:rPr>
              <a:t> Remove Illumina adapters provided in the TruSeq3-PE.fa file (provided). Initially Trimmomatic will look for seed matches (16 bases) allowing maximally 2 mismatches. These seeds will be extended and clipped if in the case of paired end reads a score of 30 is reached (about 50 bases), or in the case of single ended reads a score of 10, (about 17 bases). </a:t>
            </a:r>
            <a:endParaRPr b="0" lang="es-ES" sz="2000" spc="-1" strike="noStrike">
              <a:latin typeface="Arial"/>
            </a:endParaRPr>
          </a:p>
        </p:txBody>
      </p:sp>
      <p:sp>
        <p:nvSpPr>
          <p:cNvPr id="749" name="TextShape 3"/>
          <p:cNvSpPr txBox="1"/>
          <p:nvPr/>
        </p:nvSpPr>
        <p:spPr>
          <a:xfrm>
            <a:off x="3884760" y="8685360"/>
            <a:ext cx="2971440" cy="458280"/>
          </a:xfrm>
          <a:prstGeom prst="rect">
            <a:avLst/>
          </a:prstGeom>
          <a:noFill/>
          <a:ln>
            <a:noFill/>
          </a:ln>
        </p:spPr>
        <p:txBody>
          <a:bodyPr anchor="b">
            <a:noAutofit/>
          </a:bodyPr>
          <a:p>
            <a:pPr algn="r">
              <a:lnSpc>
                <a:spcPct val="100000"/>
              </a:lnSpc>
            </a:pPr>
            <a:fld id="{8051FDE2-1B59-45D0-B9B7-5C52F1C3A51E}"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0" name="PlaceHolder 1"/>
          <p:cNvSpPr>
            <a:spLocks noGrp="1"/>
          </p:cNvSpPr>
          <p:nvPr>
            <p:ph type="sldImg"/>
          </p:nvPr>
        </p:nvSpPr>
        <p:spPr>
          <a:xfrm>
            <a:off x="685800" y="1143000"/>
            <a:ext cx="5486040" cy="3085920"/>
          </a:xfrm>
          <a:prstGeom prst="rect">
            <a:avLst/>
          </a:prstGeom>
        </p:spPr>
      </p:sp>
      <p:sp>
        <p:nvSpPr>
          <p:cNvPr id="751"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STAR: </a:t>
            </a:r>
            <a:r>
              <a:rPr b="0" lang="en-US" sz="1200" spc="-1" strike="noStrike">
                <a:solidFill>
                  <a:srgbClr val="000000"/>
                </a:solidFill>
                <a:latin typeface="+mn-lt"/>
                <a:ea typeface="+mn-ea"/>
              </a:rPr>
              <a:t>Spliced Transcripts Alignment to a Reference</a:t>
            </a:r>
            <a:endParaRPr b="0" lang="es-ES" sz="1200" spc="-1" strike="noStrike">
              <a:latin typeface="Arial"/>
            </a:endParaRPr>
          </a:p>
          <a:p>
            <a:pPr marL="216000" indent="-216000">
              <a:lnSpc>
                <a:spcPct val="100000"/>
              </a:lnSpc>
            </a:pPr>
            <a:r>
              <a:rPr b="0" lang="en-US" sz="2000" spc="-1" strike="noStrike">
                <a:solidFill>
                  <a:srgbClr val="000000"/>
                </a:solidFill>
                <a:latin typeface="+mn-lt"/>
                <a:ea typeface="+mn-ea"/>
              </a:rPr>
              <a:t>HISAT2: </a:t>
            </a:r>
            <a:r>
              <a:rPr b="0" lang="en-US" sz="1200" spc="-1" strike="noStrike">
                <a:solidFill>
                  <a:srgbClr val="000000"/>
                </a:solidFill>
                <a:latin typeface="+mn-lt"/>
                <a:ea typeface="+mn-ea"/>
              </a:rPr>
              <a:t>hierarchical indexing for spliced alignment of transcripts. Mainly used in humans.</a:t>
            </a:r>
            <a:endParaRPr b="0" lang="es-ES" sz="1200" spc="-1" strike="noStrike">
              <a:latin typeface="Arial"/>
            </a:endParaRPr>
          </a:p>
          <a:p>
            <a:pPr marL="216000" indent="-216000">
              <a:lnSpc>
                <a:spcPct val="100000"/>
              </a:lnSpc>
            </a:pPr>
            <a:endParaRPr b="0" lang="es-ES" sz="1200" spc="-1" strike="noStrike">
              <a:latin typeface="Arial"/>
            </a:endParaRPr>
          </a:p>
          <a:p>
            <a:pPr marL="216000" indent="-216000">
              <a:lnSpc>
                <a:spcPct val="100000"/>
              </a:lnSpc>
            </a:pPr>
            <a:r>
              <a:rPr b="1" lang="en-US" sz="1100" spc="-1" strike="noStrike">
                <a:solidFill>
                  <a:srgbClr val="000000"/>
                </a:solidFill>
                <a:latin typeface="+mn-lt"/>
                <a:ea typeface="+mn-ea"/>
              </a:rPr>
              <a:t>STAR – Full sequence alignment (splicing-aware)</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What it does: Aligns each RNA-Seq read </a:t>
            </a:r>
            <a:r>
              <a:rPr b="0" i="1" lang="en-US" sz="1100" spc="-1" strike="noStrike">
                <a:solidFill>
                  <a:srgbClr val="000000"/>
                </a:solidFill>
                <a:latin typeface="+mn-lt"/>
                <a:ea typeface="+mn-ea"/>
              </a:rPr>
              <a:t>base by base</a:t>
            </a:r>
            <a:r>
              <a:rPr b="0" lang="en-US" sz="1100" spc="-1" strike="noStrike">
                <a:solidFill>
                  <a:srgbClr val="000000"/>
                </a:solidFill>
                <a:latin typeface="+mn-lt"/>
                <a:ea typeface="+mn-ea"/>
              </a:rPr>
              <a:t> to the genome, allowing for splice junctions (exon–exon boundaries).</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How: Uses a fast seed-and-extend strategy to handle long reads and detect introns.</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Result: Very accurate mapping; produces detailed alignment files (SAM/BAM).</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Use case: Ideal for detecting new transcripts, splicing events, and variants.</a:t>
            </a:r>
            <a:endParaRPr b="0" lang="es-ES" sz="1100" spc="-1" strike="noStrike">
              <a:latin typeface="Arial"/>
            </a:endParaRPr>
          </a:p>
          <a:p>
            <a:pPr marL="216000" indent="-216000">
              <a:lnSpc>
                <a:spcPct val="100000"/>
              </a:lnSpc>
            </a:pPr>
            <a:r>
              <a:rPr b="1" lang="en-US" sz="1100" spc="-1" strike="noStrike">
                <a:solidFill>
                  <a:srgbClr val="000000"/>
                </a:solidFill>
                <a:latin typeface="+mn-lt"/>
                <a:ea typeface="+mn-ea"/>
              </a:rPr>
              <a:t>HISAT2 – Full alignment with hierarchical indexing</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What it does: Similar to STAR, but uses a graph-based FM index to align reads efficiently to the genome.</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How: Combines the Burrows–Wheeler transform and graph FM index to model exons, introns, and known variants.</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Result: Accurate, memory-efficient, and splice-aware alignments.</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Use case: Great for genome-level analysis with limited computational resources.</a:t>
            </a:r>
            <a:endParaRPr b="0" lang="es-ES" sz="1100" spc="-1" strike="noStrike">
              <a:latin typeface="Arial"/>
            </a:endParaRPr>
          </a:p>
          <a:p>
            <a:pPr marL="216000" indent="-216000">
              <a:lnSpc>
                <a:spcPct val="100000"/>
              </a:lnSpc>
            </a:pPr>
            <a:r>
              <a:rPr b="1" lang="en-US" sz="1100" spc="-1" strike="noStrike">
                <a:solidFill>
                  <a:srgbClr val="000000"/>
                </a:solidFill>
                <a:latin typeface="+mn-lt"/>
                <a:ea typeface="+mn-ea"/>
              </a:rPr>
              <a:t>Salmon – Quasi-mapping</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What it does: Maps reads </a:t>
            </a:r>
            <a:r>
              <a:rPr b="0" i="1" lang="en-US" sz="1100" spc="-1" strike="noStrike">
                <a:solidFill>
                  <a:srgbClr val="000000"/>
                </a:solidFill>
                <a:latin typeface="+mn-lt"/>
                <a:ea typeface="+mn-ea"/>
              </a:rPr>
              <a:t>approximately</a:t>
            </a:r>
            <a:r>
              <a:rPr b="0" lang="en-US" sz="1100" spc="-1" strike="noStrike">
                <a:solidFill>
                  <a:srgbClr val="000000"/>
                </a:solidFill>
                <a:latin typeface="+mn-lt"/>
                <a:ea typeface="+mn-ea"/>
              </a:rPr>
              <a:t> (not base by base) to known transcripts.</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How: Uses lightweight algorithms to determine the most likely transcript of origin without full alignment.</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Result: Very fast estimation of transcript abundances (TPM, counts).</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Use case: Expression quantification when splicing discovery is not needed.</a:t>
            </a:r>
            <a:endParaRPr b="0" lang="es-ES" sz="1100" spc="-1" strike="noStrike">
              <a:latin typeface="Arial"/>
            </a:endParaRPr>
          </a:p>
          <a:p>
            <a:pPr marL="216000" indent="-216000">
              <a:lnSpc>
                <a:spcPct val="100000"/>
              </a:lnSpc>
            </a:pPr>
            <a:r>
              <a:rPr b="1" lang="en-US" sz="1100" spc="-1" strike="noStrike">
                <a:solidFill>
                  <a:srgbClr val="000000"/>
                </a:solidFill>
                <a:latin typeface="+mn-lt"/>
                <a:ea typeface="+mn-ea"/>
              </a:rPr>
              <a:t>Kallisto – Pseudoalignment</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What it does: Assigns reads to transcripts without aligning individual bases at all.</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How: Uses </a:t>
            </a:r>
            <a:r>
              <a:rPr b="0" i="1" lang="en-US" sz="1100" spc="-1" strike="noStrike">
                <a:solidFill>
                  <a:srgbClr val="000000"/>
                </a:solidFill>
                <a:latin typeface="+mn-lt"/>
                <a:ea typeface="+mn-ea"/>
              </a:rPr>
              <a:t>k-mer matching</a:t>
            </a:r>
            <a:r>
              <a:rPr b="0" lang="en-US" sz="1100" spc="-1" strike="noStrike">
                <a:solidFill>
                  <a:srgbClr val="000000"/>
                </a:solidFill>
                <a:latin typeface="+mn-lt"/>
                <a:ea typeface="+mn-ea"/>
              </a:rPr>
              <a:t> to find which transcripts could have generated each read.</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Result: Extremely fast transcript quantification, with small memory footprint.</a:t>
            </a:r>
            <a:endParaRPr b="0" lang="es-ES" sz="1100" spc="-1" strike="noStrike">
              <a:latin typeface="Arial"/>
            </a:endParaRPr>
          </a:p>
          <a:p>
            <a:pPr marL="216000" indent="-216000">
              <a:lnSpc>
                <a:spcPct val="100000"/>
              </a:lnSpc>
            </a:pPr>
            <a:r>
              <a:rPr b="0" lang="en-US" sz="1100" spc="-1" strike="noStrike">
                <a:solidFill>
                  <a:srgbClr val="000000"/>
                </a:solidFill>
                <a:latin typeface="+mn-lt"/>
                <a:ea typeface="+mn-ea"/>
              </a:rPr>
              <a:t>Use case: Large-scale or exploratory RNA-Seq projects focused on quantification only.</a:t>
            </a:r>
            <a:endParaRPr b="0" lang="es-ES" sz="1100" spc="-1" strike="noStrike">
              <a:latin typeface="Arial"/>
            </a:endParaRPr>
          </a:p>
          <a:p>
            <a:pPr marL="216000" indent="-216000">
              <a:lnSpc>
                <a:spcPct val="100000"/>
              </a:lnSpc>
            </a:pPr>
            <a:endParaRPr b="0" lang="es-ES" sz="1100" spc="-1" strike="noStrike">
              <a:latin typeface="Arial"/>
            </a:endParaRPr>
          </a:p>
        </p:txBody>
      </p:sp>
      <p:sp>
        <p:nvSpPr>
          <p:cNvPr id="752" name="TextShape 3"/>
          <p:cNvSpPr txBox="1"/>
          <p:nvPr/>
        </p:nvSpPr>
        <p:spPr>
          <a:xfrm>
            <a:off x="3884760" y="8685360"/>
            <a:ext cx="2971440" cy="458280"/>
          </a:xfrm>
          <a:prstGeom prst="rect">
            <a:avLst/>
          </a:prstGeom>
          <a:noFill/>
          <a:ln>
            <a:noFill/>
          </a:ln>
        </p:spPr>
        <p:txBody>
          <a:bodyPr anchor="b">
            <a:noAutofit/>
          </a:bodyPr>
          <a:p>
            <a:pPr algn="r">
              <a:lnSpc>
                <a:spcPct val="100000"/>
              </a:lnSpc>
            </a:pPr>
            <a:fld id="{43DB9346-AD05-40D8-B857-E3214436E5B9}"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PlaceHolder 1"/>
          <p:cNvSpPr>
            <a:spLocks noGrp="1"/>
          </p:cNvSpPr>
          <p:nvPr>
            <p:ph type="sldImg"/>
          </p:nvPr>
        </p:nvSpPr>
        <p:spPr>
          <a:xfrm>
            <a:off x="685800" y="1143000"/>
            <a:ext cx="5486040" cy="3085920"/>
          </a:xfrm>
          <a:prstGeom prst="rect">
            <a:avLst/>
          </a:prstGeom>
        </p:spPr>
      </p:sp>
      <p:sp>
        <p:nvSpPr>
          <p:cNvPr id="754"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2000" spc="-1" strike="noStrike">
                <a:latin typeface="Arial"/>
              </a:rPr>
              <a:t>Kallisto</a:t>
            </a:r>
            <a:r>
              <a:rPr b="0" lang="en-US" sz="2000" spc="-1" strike="noStrike">
                <a:latin typeface="Arial"/>
              </a:rPr>
              <a:t> is a pseudoalignment-based RNA-seq quantification tool.</a:t>
            </a:r>
            <a:endParaRPr b="0" lang="es-ES" sz="2000" spc="-1" strike="noStrike">
              <a:latin typeface="Arial"/>
            </a:endParaRPr>
          </a:p>
          <a:p>
            <a:pPr marL="216000" indent="-216000">
              <a:lnSpc>
                <a:spcPct val="100000"/>
              </a:lnSpc>
            </a:pPr>
            <a:r>
              <a:rPr b="0" lang="en-US" sz="2000" spc="-1" strike="noStrike">
                <a:latin typeface="Arial"/>
              </a:rPr>
              <a:t>Because many reads cannot be uniquely assigned to a transcript, there is </a:t>
            </a:r>
            <a:r>
              <a:rPr b="1" lang="en-US" sz="2000" spc="-1" strike="noStrike">
                <a:latin typeface="Arial"/>
              </a:rPr>
              <a:t>uncertainty in transcript abundance estimates</a:t>
            </a:r>
            <a:r>
              <a:rPr b="0" lang="en-US" sz="2000" spc="-1" strike="noStrike">
                <a:latin typeface="Arial"/>
              </a:rPr>
              <a:t>.</a:t>
            </a:r>
            <a:endParaRPr b="0" lang="es-ES" sz="2000" spc="-1" strike="noStrike">
              <a:latin typeface="Arial"/>
            </a:endParaRPr>
          </a:p>
          <a:p>
            <a:pPr marL="216000" indent="-216000">
              <a:lnSpc>
                <a:spcPct val="100000"/>
              </a:lnSpc>
            </a:pPr>
            <a:r>
              <a:rPr b="0" lang="en-US" sz="2000" spc="-1" strike="noStrike">
                <a:latin typeface="Arial"/>
              </a:rPr>
              <a:t>To capture this uncertainty, kallisto performs </a:t>
            </a:r>
            <a:r>
              <a:rPr b="1" lang="en-US" sz="2000" spc="-1" strike="noStrike">
                <a:latin typeface="Arial"/>
              </a:rPr>
              <a:t>bootstrap sampling</a:t>
            </a:r>
            <a:r>
              <a:rPr b="0" lang="en-US" sz="2000" spc="-1" strike="noStrike">
                <a:latin typeface="Arial"/>
              </a:rPr>
              <a:t>:</a:t>
            </a:r>
            <a:endParaRPr b="0" lang="es-ES" sz="2000" spc="-1" strike="noStrike">
              <a:latin typeface="Arial"/>
            </a:endParaRPr>
          </a:p>
          <a:p>
            <a:pPr marL="216000" indent="-216000">
              <a:lnSpc>
                <a:spcPct val="100000"/>
              </a:lnSpc>
            </a:pPr>
            <a:r>
              <a:rPr b="0" lang="en-US" sz="2000" spc="-1" strike="noStrike">
                <a:latin typeface="Arial"/>
              </a:rPr>
              <a:t>It resamples the reads from the library multiple times (commonly 100 replicates).</a:t>
            </a:r>
            <a:endParaRPr b="0" lang="es-ES" sz="2000" spc="-1" strike="noStrike">
              <a:latin typeface="Arial"/>
            </a:endParaRPr>
          </a:p>
          <a:p>
            <a:pPr marL="216000" indent="-216000">
              <a:lnSpc>
                <a:spcPct val="100000"/>
              </a:lnSpc>
            </a:pPr>
            <a:r>
              <a:rPr b="0" lang="en-US" sz="2000" spc="-1" strike="noStrike">
                <a:latin typeface="Arial"/>
              </a:rPr>
              <a:t>Each replicate produces an estimate of transcript abundance.</a:t>
            </a:r>
            <a:endParaRPr b="0" lang="es-ES" sz="2000" spc="-1" strike="noStrike">
              <a:latin typeface="Arial"/>
            </a:endParaRPr>
          </a:p>
          <a:p>
            <a:pPr marL="216000" indent="-216000">
              <a:lnSpc>
                <a:spcPct val="100000"/>
              </a:lnSpc>
            </a:pPr>
            <a:r>
              <a:rPr b="0" lang="en-US" sz="2000" spc="-1" strike="noStrike">
                <a:latin typeface="Arial"/>
              </a:rPr>
              <a:t>The collection of replicates represents the </a:t>
            </a:r>
            <a:r>
              <a:rPr b="1" lang="en-US" sz="2000" spc="-1" strike="noStrike">
                <a:latin typeface="Arial"/>
              </a:rPr>
              <a:t>probability distribution</a:t>
            </a:r>
            <a:r>
              <a:rPr b="0" lang="en-US" sz="2000" spc="-1" strike="noStrike">
                <a:latin typeface="Arial"/>
              </a:rPr>
              <a:t> of transcript abundances, showing the expected range of variation.</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0" lang="en-US" sz="2000" spc="-1" strike="noStrike">
                <a:latin typeface="Arial"/>
              </a:rPr>
              <a:t>Sleuth applies a linear modeling framework that incorporates bootstrap-derived uncertainty, making differential expression testing more reliable and reducing false positives.</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0" lang="es-ES" sz="2000" spc="-1" strike="noStrike">
                <a:latin typeface="Arial"/>
              </a:rPr>
              <a:t>Kallisto’s bootstraps are resampled quantifications that reflect technical uncertainty. Sleuth leverages them to distinguish inferential noise from biological variation, enabling more robust and interpretable differential expression analysis.</a:t>
            </a:r>
            <a:endParaRPr b="0" lang="es-ES" sz="2000" spc="-1" strike="noStrike">
              <a:latin typeface="Arial"/>
            </a:endParaRPr>
          </a:p>
        </p:txBody>
      </p:sp>
      <p:sp>
        <p:nvSpPr>
          <p:cNvPr id="755" name="TextShape 3"/>
          <p:cNvSpPr txBox="1"/>
          <p:nvPr/>
        </p:nvSpPr>
        <p:spPr>
          <a:xfrm>
            <a:off x="3884760" y="8685360"/>
            <a:ext cx="2971440" cy="458280"/>
          </a:xfrm>
          <a:prstGeom prst="rect">
            <a:avLst/>
          </a:prstGeom>
          <a:noFill/>
          <a:ln>
            <a:noFill/>
          </a:ln>
        </p:spPr>
        <p:txBody>
          <a:bodyPr anchor="b">
            <a:noAutofit/>
          </a:bodyPr>
          <a:p>
            <a:pPr algn="r">
              <a:lnSpc>
                <a:spcPct val="100000"/>
              </a:lnSpc>
            </a:pPr>
            <a:fld id="{DC308B05-AF8E-463B-BE5D-055E022A1097}"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6" name="PlaceHolder 1"/>
          <p:cNvSpPr>
            <a:spLocks noGrp="1"/>
          </p:cNvSpPr>
          <p:nvPr>
            <p:ph type="sldImg"/>
          </p:nvPr>
        </p:nvSpPr>
        <p:spPr>
          <a:xfrm>
            <a:off x="685800" y="1143000"/>
            <a:ext cx="5486040" cy="3085920"/>
          </a:xfrm>
          <a:prstGeom prst="rect">
            <a:avLst/>
          </a:prstGeom>
        </p:spPr>
      </p:sp>
      <p:sp>
        <p:nvSpPr>
          <p:cNvPr id="757"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The main difference between a </a:t>
            </a:r>
            <a:r>
              <a:rPr b="1" lang="en-US" sz="2000" spc="-1" strike="noStrike">
                <a:latin typeface="Arial"/>
              </a:rPr>
              <a:t>Weighted Gene Co-expression Network (WGCN)</a:t>
            </a:r>
            <a:r>
              <a:rPr b="0" lang="en-US" sz="2000" spc="-1" strike="noStrike">
                <a:latin typeface="Arial"/>
              </a:rPr>
              <a:t> and an </a:t>
            </a:r>
            <a:r>
              <a:rPr b="1" lang="en-US" sz="2000" spc="-1" strike="noStrike">
                <a:latin typeface="Arial"/>
              </a:rPr>
              <a:t>unweighted co-expression network</a:t>
            </a:r>
            <a:r>
              <a:rPr b="0" lang="en-US" sz="2000" spc="-1" strike="noStrike">
                <a:latin typeface="Arial"/>
              </a:rPr>
              <a:t> lies in </a:t>
            </a:r>
            <a:r>
              <a:rPr b="1" lang="en-US" sz="2000" spc="-1" strike="noStrike">
                <a:latin typeface="Arial"/>
              </a:rPr>
              <a:t>how the relationships (edges)</a:t>
            </a:r>
            <a:r>
              <a:rPr b="0" lang="en-US" sz="2000" spc="-1" strike="noStrike">
                <a:latin typeface="Arial"/>
              </a:rPr>
              <a:t> between genes are represented:</a:t>
            </a:r>
            <a:endParaRPr b="0" lang="es-ES" sz="2000" spc="-1" strike="noStrike">
              <a:latin typeface="Arial"/>
            </a:endParaRPr>
          </a:p>
          <a:p>
            <a:pPr marL="216000" indent="-216000">
              <a:lnSpc>
                <a:spcPct val="100000"/>
              </a:lnSpc>
            </a:pPr>
            <a:r>
              <a:rPr b="1" lang="en-US" sz="2000" spc="-1" strike="noStrike">
                <a:latin typeface="Arial"/>
              </a:rPr>
              <a:t>Unweighted network:</a:t>
            </a:r>
            <a:endParaRPr b="0" lang="es-ES" sz="2000" spc="-1" strike="noStrike">
              <a:latin typeface="Arial"/>
            </a:endParaRPr>
          </a:p>
          <a:p>
            <a:pPr marL="216000" indent="-216000">
              <a:lnSpc>
                <a:spcPct val="100000"/>
              </a:lnSpc>
            </a:pPr>
            <a:r>
              <a:rPr b="0" lang="en-US" sz="2000" spc="-1" strike="noStrike">
                <a:latin typeface="Arial"/>
              </a:rPr>
              <a:t>Connections between genes are </a:t>
            </a:r>
            <a:r>
              <a:rPr b="1" lang="en-US" sz="2000" spc="-1" strike="noStrike">
                <a:latin typeface="Arial"/>
              </a:rPr>
              <a:t>binary</a:t>
            </a:r>
            <a:r>
              <a:rPr b="0" lang="en-US" sz="2000" spc="-1" strike="noStrike">
                <a:latin typeface="Arial"/>
              </a:rPr>
              <a:t> — a gene pair is either </a:t>
            </a:r>
            <a:r>
              <a:rPr b="1" lang="en-US" sz="2000" spc="-1" strike="noStrike">
                <a:latin typeface="Arial"/>
              </a:rPr>
              <a:t>connected or not connected</a:t>
            </a:r>
            <a:r>
              <a:rPr b="0" lang="en-US" sz="2000" spc="-1" strike="noStrike">
                <a:latin typeface="Arial"/>
              </a:rPr>
              <a:t>.</a:t>
            </a:r>
            <a:endParaRPr b="0" lang="es-ES" sz="2000" spc="-1" strike="noStrike">
              <a:latin typeface="Arial"/>
            </a:endParaRPr>
          </a:p>
          <a:p>
            <a:pPr marL="216000" indent="-216000">
              <a:lnSpc>
                <a:spcPct val="100000"/>
              </a:lnSpc>
            </a:pPr>
            <a:r>
              <a:rPr b="0" lang="en-US" sz="2000" spc="-1" strike="noStrike">
                <a:latin typeface="Arial"/>
              </a:rPr>
              <a:t>This is determined by applying a </a:t>
            </a:r>
            <a:r>
              <a:rPr b="1" lang="en-US" sz="2000" spc="-1" strike="noStrike">
                <a:latin typeface="Arial"/>
              </a:rPr>
              <a:t>correlation threshold</a:t>
            </a:r>
            <a:r>
              <a:rPr b="0" lang="en-US" sz="2000" spc="-1" strike="noStrike">
                <a:latin typeface="Arial"/>
              </a:rPr>
              <a:t>: if the correlation between two genes’ expression levels exceeds the threshold, an edge is assigned (value = 1); otherwise, no edge (value = 0).</a:t>
            </a:r>
            <a:endParaRPr b="0" lang="es-ES" sz="2000" spc="-1" strike="noStrike">
              <a:latin typeface="Arial"/>
            </a:endParaRPr>
          </a:p>
          <a:p>
            <a:pPr marL="216000" indent="-216000">
              <a:lnSpc>
                <a:spcPct val="100000"/>
              </a:lnSpc>
            </a:pPr>
            <a:r>
              <a:rPr b="0" lang="en-US" sz="2000" spc="-1" strike="noStrike">
                <a:latin typeface="Arial"/>
              </a:rPr>
              <a:t>This approach is simple but </a:t>
            </a:r>
            <a:r>
              <a:rPr b="1" lang="en-US" sz="2000" spc="-1" strike="noStrike">
                <a:latin typeface="Arial"/>
              </a:rPr>
              <a:t>loses information</a:t>
            </a:r>
            <a:r>
              <a:rPr b="0" lang="en-US" sz="2000" spc="-1" strike="noStrike">
                <a:latin typeface="Arial"/>
              </a:rPr>
              <a:t> about the actual strength of the relationship.</a:t>
            </a:r>
            <a:endParaRPr b="0" lang="es-ES" sz="2000" spc="-1" strike="noStrike">
              <a:latin typeface="Arial"/>
            </a:endParaRPr>
          </a:p>
          <a:p>
            <a:pPr marL="216000" indent="-216000">
              <a:lnSpc>
                <a:spcPct val="100000"/>
              </a:lnSpc>
            </a:pPr>
            <a:r>
              <a:rPr b="1" lang="en-US" sz="2000" spc="-1" strike="noStrike">
                <a:latin typeface="Arial"/>
              </a:rPr>
              <a:t>Weighted network:</a:t>
            </a:r>
            <a:endParaRPr b="0" lang="es-ES" sz="2000" spc="-1" strike="noStrike">
              <a:latin typeface="Arial"/>
            </a:endParaRPr>
          </a:p>
          <a:p>
            <a:pPr marL="216000" indent="-216000">
              <a:lnSpc>
                <a:spcPct val="100000"/>
              </a:lnSpc>
            </a:pPr>
            <a:r>
              <a:rPr b="0" lang="en-US" sz="2000" spc="-1" strike="noStrike">
                <a:latin typeface="Arial"/>
              </a:rPr>
              <a:t>Each edge has a </a:t>
            </a:r>
            <a:r>
              <a:rPr b="1" lang="en-US" sz="2000" spc="-1" strike="noStrike">
                <a:latin typeface="Arial"/>
              </a:rPr>
              <a:t>continuous weight</a:t>
            </a:r>
            <a:r>
              <a:rPr b="0" lang="en-US" sz="2000" spc="-1" strike="noStrike">
                <a:latin typeface="Arial"/>
              </a:rPr>
              <a:t> (e.g., between 0 and 1) representing the </a:t>
            </a:r>
            <a:r>
              <a:rPr b="1" lang="en-US" sz="2000" spc="-1" strike="noStrike">
                <a:latin typeface="Arial"/>
              </a:rPr>
              <a:t>strength of the correlation</a:t>
            </a:r>
            <a:r>
              <a:rPr b="0" lang="en-US" sz="2000" spc="-1" strike="noStrike">
                <a:latin typeface="Arial"/>
              </a:rPr>
              <a:t> between genes.</a:t>
            </a:r>
            <a:endParaRPr b="0" lang="es-ES" sz="2000" spc="-1" strike="noStrike">
              <a:latin typeface="Arial"/>
            </a:endParaRPr>
          </a:p>
          <a:p>
            <a:pPr marL="216000" indent="-216000">
              <a:lnSpc>
                <a:spcPct val="100000"/>
              </a:lnSpc>
            </a:pPr>
            <a:r>
              <a:rPr b="0" lang="en-US" sz="2000" spc="-1" strike="noStrike">
                <a:latin typeface="Arial"/>
              </a:rPr>
              <a:t>Instead of a hard cutoff, a </a:t>
            </a:r>
            <a:r>
              <a:rPr b="1" lang="en-US" sz="2000" spc="-1" strike="noStrike">
                <a:latin typeface="Arial"/>
              </a:rPr>
              <a:t>soft-thresholding function</a:t>
            </a:r>
            <a:r>
              <a:rPr b="0" lang="en-US" sz="2000" spc="-1" strike="noStrike">
                <a:latin typeface="Arial"/>
              </a:rPr>
              <a:t> (often raising the correlation to a power) is used to retain more information.</a:t>
            </a:r>
            <a:endParaRPr b="0" lang="es-ES" sz="2000" spc="-1" strike="noStrike">
              <a:latin typeface="Arial"/>
            </a:endParaRPr>
          </a:p>
          <a:p>
            <a:pPr marL="216000" indent="-216000">
              <a:lnSpc>
                <a:spcPct val="100000"/>
              </a:lnSpc>
            </a:pPr>
            <a:r>
              <a:rPr b="0" lang="en-US" sz="2000" spc="-1" strike="noStrike">
                <a:latin typeface="Arial"/>
              </a:rPr>
              <a:t>This allows for detecting </a:t>
            </a:r>
            <a:r>
              <a:rPr b="1" lang="en-US" sz="2000" spc="-1" strike="noStrike">
                <a:latin typeface="Arial"/>
              </a:rPr>
              <a:t>gradual relationships</a:t>
            </a:r>
            <a:r>
              <a:rPr b="0" lang="en-US" sz="2000" spc="-1" strike="noStrike">
                <a:latin typeface="Arial"/>
              </a:rPr>
              <a:t> and produces networks that are more </a:t>
            </a:r>
            <a:r>
              <a:rPr b="1" lang="en-US" sz="2000" spc="-1" strike="noStrike">
                <a:latin typeface="Arial"/>
              </a:rPr>
              <a:t>robust and biologically meaningful</a:t>
            </a:r>
            <a:r>
              <a:rPr b="0" lang="en-US" sz="2000" spc="-1" strike="noStrike">
                <a:latin typeface="Arial"/>
              </a:rPr>
              <a:t>.</a:t>
            </a:r>
            <a:endParaRPr b="0" lang="es-ES" sz="2000" spc="-1" strike="noStrike">
              <a:latin typeface="Arial"/>
            </a:endParaRPr>
          </a:p>
          <a:p>
            <a:pPr marL="216000" indent="-216000">
              <a:lnSpc>
                <a:spcPct val="100000"/>
              </a:lnSpc>
            </a:pPr>
            <a:r>
              <a:rPr b="0" lang="en-US" sz="2000" spc="-1" strike="noStrike">
                <a:latin typeface="Arial"/>
              </a:rPr>
              <a:t>👉 </a:t>
            </a:r>
            <a:r>
              <a:rPr b="0" lang="en-US" sz="2000" spc="-1" strike="noStrike">
                <a:latin typeface="Arial"/>
              </a:rPr>
              <a:t>In summary:</a:t>
            </a:r>
            <a:endParaRPr b="0" lang="es-ES" sz="2000" spc="-1" strike="noStrike">
              <a:latin typeface="Arial"/>
            </a:endParaRPr>
          </a:p>
          <a:p>
            <a:pPr marL="216000" indent="-216000">
              <a:lnSpc>
                <a:spcPct val="100000"/>
              </a:lnSpc>
            </a:pPr>
            <a:r>
              <a:rPr b="1" lang="en-US" sz="2000" spc="-1" strike="noStrike">
                <a:latin typeface="Arial"/>
              </a:rPr>
              <a:t>Unweighted:</a:t>
            </a:r>
            <a:r>
              <a:rPr b="0" lang="en-US" sz="2000" spc="-1" strike="noStrike">
                <a:latin typeface="Arial"/>
              </a:rPr>
              <a:t> connection = yes/no (discrete information).</a:t>
            </a:r>
            <a:endParaRPr b="0" lang="es-ES" sz="2000" spc="-1" strike="noStrike">
              <a:latin typeface="Arial"/>
            </a:endParaRPr>
          </a:p>
          <a:p>
            <a:pPr marL="216000" indent="-216000">
              <a:lnSpc>
                <a:spcPct val="100000"/>
              </a:lnSpc>
            </a:pPr>
            <a:r>
              <a:rPr b="1" lang="en-US" sz="2000" spc="-1" strike="noStrike">
                <a:latin typeface="Arial"/>
              </a:rPr>
              <a:t>Weighted:</a:t>
            </a:r>
            <a:r>
              <a:rPr b="0" lang="en-US" sz="2000" spc="-1" strike="noStrike">
                <a:latin typeface="Arial"/>
              </a:rPr>
              <a:t> connection strength varies (continuous information about co-expression).</a:t>
            </a:r>
            <a:endParaRPr b="0" lang="es-ES" sz="2000" spc="-1" strike="noStrike">
              <a:latin typeface="Arial"/>
            </a:endParaRPr>
          </a:p>
        </p:txBody>
      </p:sp>
      <p:sp>
        <p:nvSpPr>
          <p:cNvPr id="758" name="TextShape 3"/>
          <p:cNvSpPr txBox="1"/>
          <p:nvPr/>
        </p:nvSpPr>
        <p:spPr>
          <a:xfrm>
            <a:off x="3884760" y="8685360"/>
            <a:ext cx="2971440" cy="458280"/>
          </a:xfrm>
          <a:prstGeom prst="rect">
            <a:avLst/>
          </a:prstGeom>
          <a:noFill/>
          <a:ln>
            <a:noFill/>
          </a:ln>
        </p:spPr>
        <p:txBody>
          <a:bodyPr anchor="b">
            <a:noAutofit/>
          </a:bodyPr>
          <a:p>
            <a:pPr algn="r">
              <a:lnSpc>
                <a:spcPct val="100000"/>
              </a:lnSpc>
            </a:pPr>
            <a:fld id="{17DC48DC-A9C8-4B97-AC59-AB75A3AC25CC}"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9" name="PlaceHolder 1"/>
          <p:cNvSpPr>
            <a:spLocks noGrp="1"/>
          </p:cNvSpPr>
          <p:nvPr>
            <p:ph type="sldImg"/>
          </p:nvPr>
        </p:nvSpPr>
        <p:spPr>
          <a:xfrm>
            <a:off x="685800" y="1143000"/>
            <a:ext cx="5486040" cy="3085920"/>
          </a:xfrm>
          <a:prstGeom prst="rect">
            <a:avLst/>
          </a:prstGeom>
        </p:spPr>
      </p:sp>
      <p:sp>
        <p:nvSpPr>
          <p:cNvPr id="760"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A node represents a gene and an edge joining two nodes represents their relationship. Among the measures of relationship, weighted co-expression is one of the most widely used thanks to the popularity of the WGCNA R package where the relationships are quantified (weight) instead of only a presence/absence information.</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0" lang="en-US" sz="2000" spc="-1" strike="noStrike">
                <a:latin typeface="Arial"/>
              </a:rPr>
              <a:t>Several information and tutorial</a:t>
            </a:r>
            <a:endParaRPr b="0" lang="es-ES" sz="2000" spc="-1" strike="noStrike">
              <a:latin typeface="Arial"/>
            </a:endParaRPr>
          </a:p>
          <a:p>
            <a:pPr marL="216000" indent="-216000">
              <a:lnSpc>
                <a:spcPct val="100000"/>
              </a:lnSpc>
            </a:pPr>
            <a:r>
              <a:rPr b="0" lang="es-ES" sz="2000" spc="-1" strike="noStrike">
                <a:latin typeface="Arial"/>
              </a:rPr>
              <a:t>https://bigomics.ch/blog/introduction-to-wgcna-and-its-applications-in-gene-correlation-network-analysis/</a:t>
            </a:r>
            <a:endParaRPr b="0" lang="es-ES" sz="2000" spc="-1" strike="noStrike">
              <a:latin typeface="Arial"/>
            </a:endParaRPr>
          </a:p>
          <a:p>
            <a:pPr marL="216000" indent="-216000">
              <a:lnSpc>
                <a:spcPct val="100000"/>
              </a:lnSpc>
            </a:pPr>
            <a:r>
              <a:rPr b="0" lang="es-ES" sz="2000" spc="-1" strike="noStrike">
                <a:latin typeface="Arial"/>
              </a:rPr>
              <a:t>https://cran.r-project.org/web/packages/WGCNA/index.html</a:t>
            </a:r>
            <a:endParaRPr b="0" lang="es-ES" sz="2000" spc="-1" strike="noStrike">
              <a:latin typeface="Arial"/>
            </a:endParaRPr>
          </a:p>
          <a:p>
            <a:pPr marL="216000" indent="-216000">
              <a:lnSpc>
                <a:spcPct val="100000"/>
              </a:lnSpc>
            </a:pPr>
            <a:r>
              <a:rPr b="0" lang="es-ES" sz="2000" spc="-1" strike="noStrike">
                <a:latin typeface="Arial"/>
              </a:rPr>
              <a:t>https://bioinformaticsworkbook.org/tutorials/wgcna.html#gsc.tab=0</a:t>
            </a:r>
            <a:endParaRPr b="0" lang="es-ES" sz="2000" spc="-1" strike="noStrike">
              <a:latin typeface="Arial"/>
            </a:endParaRPr>
          </a:p>
          <a:p>
            <a:pPr marL="216000" indent="-216000">
              <a:lnSpc>
                <a:spcPct val="100000"/>
              </a:lnSpc>
            </a:pPr>
            <a:r>
              <a:rPr b="0" lang="es-ES" sz="2000" spc="-1" strike="noStrike">
                <a:latin typeface="Arial"/>
              </a:rPr>
              <a:t>https://github.com/evanpeikon/co_expression_network</a:t>
            </a:r>
            <a:endParaRPr b="0" lang="es-ES" sz="2000" spc="-1" strike="noStrike">
              <a:latin typeface="Arial"/>
            </a:endParaRPr>
          </a:p>
          <a:p>
            <a:pPr marL="216000" indent="-216000">
              <a:lnSpc>
                <a:spcPct val="100000"/>
              </a:lnSpc>
            </a:pPr>
            <a:r>
              <a:rPr b="1" lang="es-ES" sz="2000" spc="-1" strike="noStrike">
                <a:latin typeface="Arial"/>
              </a:rPr>
              <a:t>https://ngs101.com/how-to-build-gene-co-expression-networks-from-rna-seq-data-using-wgcna-complete-step-by-step-guide-for-absolute-beginners/</a:t>
            </a:r>
            <a:endParaRPr b="0" lang="es-ES" sz="2000" spc="-1" strike="noStrike">
              <a:latin typeface="Arial"/>
            </a:endParaRPr>
          </a:p>
          <a:p>
            <a:pPr marL="216000" indent="-216000">
              <a:lnSpc>
                <a:spcPct val="100000"/>
              </a:lnSpc>
            </a:pPr>
            <a:endParaRPr b="0" lang="es-ES" sz="2000" spc="-1" strike="noStrike">
              <a:latin typeface="Arial"/>
            </a:endParaRPr>
          </a:p>
        </p:txBody>
      </p:sp>
      <p:sp>
        <p:nvSpPr>
          <p:cNvPr id="761" name="TextShape 3"/>
          <p:cNvSpPr txBox="1"/>
          <p:nvPr/>
        </p:nvSpPr>
        <p:spPr>
          <a:xfrm>
            <a:off x="3884760" y="8685360"/>
            <a:ext cx="2971440" cy="458280"/>
          </a:xfrm>
          <a:prstGeom prst="rect">
            <a:avLst/>
          </a:prstGeom>
          <a:noFill/>
          <a:ln>
            <a:noFill/>
          </a:ln>
        </p:spPr>
        <p:txBody>
          <a:bodyPr anchor="b">
            <a:noAutofit/>
          </a:bodyPr>
          <a:p>
            <a:pPr algn="r">
              <a:lnSpc>
                <a:spcPct val="100000"/>
              </a:lnSpc>
            </a:pPr>
            <a:fld id="{49A55708-99CD-40BA-BDF6-3C2DE799E6A9}"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2" name="PlaceHolder 1"/>
          <p:cNvSpPr>
            <a:spLocks noGrp="1"/>
          </p:cNvSpPr>
          <p:nvPr>
            <p:ph type="sldImg"/>
          </p:nvPr>
        </p:nvSpPr>
        <p:spPr>
          <a:xfrm>
            <a:off x="685800" y="1143000"/>
            <a:ext cx="5486040" cy="3085920"/>
          </a:xfrm>
          <a:prstGeom prst="rect">
            <a:avLst/>
          </a:prstGeom>
        </p:spPr>
      </p:sp>
      <p:sp>
        <p:nvSpPr>
          <p:cNvPr id="763"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764" name="TextShape 3"/>
          <p:cNvSpPr txBox="1"/>
          <p:nvPr/>
        </p:nvSpPr>
        <p:spPr>
          <a:xfrm>
            <a:off x="3884760" y="8685360"/>
            <a:ext cx="2971440" cy="458280"/>
          </a:xfrm>
          <a:prstGeom prst="rect">
            <a:avLst/>
          </a:prstGeom>
          <a:noFill/>
          <a:ln>
            <a:noFill/>
          </a:ln>
        </p:spPr>
        <p:txBody>
          <a:bodyPr anchor="b">
            <a:noAutofit/>
          </a:bodyPr>
          <a:p>
            <a:pPr algn="r">
              <a:lnSpc>
                <a:spcPct val="100000"/>
              </a:lnSpc>
            </a:pPr>
            <a:fld id="{DCB0A98D-D1D5-433D-A286-F0AD1AF2FD81}"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PlaceHolder 1"/>
          <p:cNvSpPr>
            <a:spLocks noGrp="1"/>
          </p:cNvSpPr>
          <p:nvPr>
            <p:ph type="sldImg"/>
          </p:nvPr>
        </p:nvSpPr>
        <p:spPr>
          <a:xfrm>
            <a:off x="685800" y="1143000"/>
            <a:ext cx="5486040" cy="3085920"/>
          </a:xfrm>
          <a:prstGeom prst="rect">
            <a:avLst/>
          </a:prstGeom>
        </p:spPr>
      </p:sp>
      <p:sp>
        <p:nvSpPr>
          <p:cNvPr id="766"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767" name="TextShape 3"/>
          <p:cNvSpPr txBox="1"/>
          <p:nvPr/>
        </p:nvSpPr>
        <p:spPr>
          <a:xfrm>
            <a:off x="3884760" y="8685360"/>
            <a:ext cx="2971440" cy="458280"/>
          </a:xfrm>
          <a:prstGeom prst="rect">
            <a:avLst/>
          </a:prstGeom>
          <a:noFill/>
          <a:ln>
            <a:noFill/>
          </a:ln>
        </p:spPr>
        <p:txBody>
          <a:bodyPr anchor="b">
            <a:noAutofit/>
          </a:bodyPr>
          <a:p>
            <a:pPr algn="r">
              <a:lnSpc>
                <a:spcPct val="100000"/>
              </a:lnSpc>
            </a:pPr>
            <a:fld id="{7B61D772-8CB5-457E-A1FD-E417DC13786F}"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8" name="PlaceHolder 1"/>
          <p:cNvSpPr>
            <a:spLocks noGrp="1"/>
          </p:cNvSpPr>
          <p:nvPr>
            <p:ph type="sldImg"/>
          </p:nvPr>
        </p:nvSpPr>
        <p:spPr>
          <a:xfrm>
            <a:off x="685800" y="1143000"/>
            <a:ext cx="5486040" cy="3085920"/>
          </a:xfrm>
          <a:prstGeom prst="rect">
            <a:avLst/>
          </a:prstGeom>
        </p:spPr>
      </p:sp>
      <p:sp>
        <p:nvSpPr>
          <p:cNvPr id="769"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77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FC00CE94-EC35-42F0-B12E-D86816679728}"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1" name="PlaceHolder 1"/>
          <p:cNvSpPr>
            <a:spLocks noGrp="1"/>
          </p:cNvSpPr>
          <p:nvPr>
            <p:ph type="sldImg"/>
          </p:nvPr>
        </p:nvSpPr>
        <p:spPr>
          <a:xfrm>
            <a:off x="685800" y="1143000"/>
            <a:ext cx="5486040" cy="3085920"/>
          </a:xfrm>
          <a:prstGeom prst="rect">
            <a:avLst/>
          </a:prstGeom>
        </p:spPr>
      </p:sp>
      <p:sp>
        <p:nvSpPr>
          <p:cNvPr id="772"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s-ES" sz="2000" spc="-1" strike="noStrike">
                <a:latin typeface="Arial"/>
              </a:rPr>
              <a:t>Equivalent definitions </a:t>
            </a:r>
            <a:endParaRPr b="0" lang="es-ES" sz="2000" spc="-1" strike="noStrike">
              <a:latin typeface="Arial"/>
            </a:endParaRPr>
          </a:p>
          <a:p>
            <a:pPr marL="216000" indent="-216000">
              <a:lnSpc>
                <a:spcPct val="100000"/>
              </a:lnSpc>
            </a:pPr>
            <a:r>
              <a:rPr b="0" lang="es-ES" sz="2000" spc="-1" strike="noStrike">
                <a:latin typeface="Arial"/>
              </a:rPr>
              <a:t>•</a:t>
            </a:r>
            <a:r>
              <a:rPr b="0" lang="es-ES" sz="2000" spc="-1" strike="noStrike">
                <a:latin typeface="Arial"/>
              </a:rPr>
              <a:t>GS.ClinicalTrait(i) = |cor(x(i),ClinicalTrait)| where x(i) is the gene expression profile of the i-thgene </a:t>
            </a:r>
            <a:endParaRPr b="0" lang="es-ES" sz="2000" spc="-1" strike="noStrike">
              <a:latin typeface="Arial"/>
            </a:endParaRPr>
          </a:p>
          <a:p>
            <a:pPr marL="216000" indent="-216000">
              <a:lnSpc>
                <a:spcPct val="100000"/>
              </a:lnSpc>
            </a:pPr>
            <a:r>
              <a:rPr b="0" lang="es-ES" sz="2000" spc="-1" strike="noStrike">
                <a:latin typeface="Arial"/>
              </a:rPr>
              <a:t>•</a:t>
            </a:r>
            <a:r>
              <a:rPr b="0" lang="es-ES" sz="2000" spc="-1" strike="noStrike">
                <a:latin typeface="Arial"/>
              </a:rPr>
              <a:t>GS(i)=|T-test(i)| of differential expression between groups defined by the trait </a:t>
            </a:r>
            <a:endParaRPr b="0" lang="es-ES" sz="2000" spc="-1" strike="noStrike">
              <a:latin typeface="Arial"/>
            </a:endParaRPr>
          </a:p>
          <a:p>
            <a:pPr marL="216000" indent="-216000">
              <a:lnSpc>
                <a:spcPct val="100000"/>
              </a:lnSpc>
            </a:pPr>
            <a:r>
              <a:rPr b="0" lang="es-ES" sz="2000" spc="-1" strike="noStrike">
                <a:latin typeface="Arial"/>
              </a:rPr>
              <a:t>•</a:t>
            </a:r>
            <a:r>
              <a:rPr b="0" lang="es-ES" sz="2000" spc="-1" strike="noStrike">
                <a:latin typeface="Arial"/>
              </a:rPr>
              <a:t>GS(i)=-log(p-value)</a:t>
            </a:r>
            <a:endParaRPr b="0" lang="es-ES" sz="2000" spc="-1" strike="noStrike">
              <a:latin typeface="Arial"/>
            </a:endParaRPr>
          </a:p>
        </p:txBody>
      </p:sp>
      <p:sp>
        <p:nvSpPr>
          <p:cNvPr id="77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64475800-7B66-489B-85E6-DB8FC226360B}"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4" name="PlaceHolder 1"/>
          <p:cNvSpPr>
            <a:spLocks noGrp="1"/>
          </p:cNvSpPr>
          <p:nvPr>
            <p:ph type="sldImg"/>
          </p:nvPr>
        </p:nvSpPr>
        <p:spPr>
          <a:xfrm>
            <a:off x="685800" y="1143000"/>
            <a:ext cx="5486040" cy="3085920"/>
          </a:xfrm>
          <a:prstGeom prst="rect">
            <a:avLst/>
          </a:prstGeom>
        </p:spPr>
      </p:sp>
      <p:sp>
        <p:nvSpPr>
          <p:cNvPr id="775"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Website</a:t>
            </a:r>
            <a:r>
              <a:rPr b="0" lang="es-ES" sz="2000" spc="-1" strike="noStrike">
                <a:latin typeface="Arial"/>
              </a:rPr>
              <a:t> for RNAseq analysis: https://ranaseq.eu/index.php</a:t>
            </a:r>
            <a:endParaRPr b="0" lang="es-ES" sz="2000" spc="-1" strike="noStrike">
              <a:latin typeface="Arial"/>
            </a:endParaRPr>
          </a:p>
        </p:txBody>
      </p:sp>
      <p:sp>
        <p:nvSpPr>
          <p:cNvPr id="77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D58FC13A-2C4B-45BC-9645-858CAACCC402}"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PlaceHolder 1"/>
          <p:cNvSpPr>
            <a:spLocks noGrp="1"/>
          </p:cNvSpPr>
          <p:nvPr>
            <p:ph type="sldImg"/>
          </p:nvPr>
        </p:nvSpPr>
        <p:spPr>
          <a:xfrm>
            <a:off x="685800" y="1143000"/>
            <a:ext cx="5486040" cy="3085920"/>
          </a:xfrm>
          <a:prstGeom prst="rect">
            <a:avLst/>
          </a:prstGeom>
        </p:spPr>
      </p:sp>
      <p:sp>
        <p:nvSpPr>
          <p:cNvPr id="778"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MultiWGCNA: https://www.bioconductor.org/packages/release/bioc/vignettes/multiWGCNA/inst/doc/autism_full_workflow.html</a:t>
            </a:r>
            <a:endParaRPr b="0" lang="es-ES" sz="2000" spc="-1" strike="noStrike">
              <a:latin typeface="Arial"/>
            </a:endParaRPr>
          </a:p>
          <a:p>
            <a:pPr marL="216000" indent="-216000">
              <a:lnSpc>
                <a:spcPct val="100000"/>
              </a:lnSpc>
            </a:pPr>
            <a:r>
              <a:rPr b="0" lang="en-US" sz="2000" spc="-1" strike="noStrike">
                <a:latin typeface="Arial"/>
              </a:rPr>
              <a:t>MultiWGCNA: https://github.com/fogellab/multiWGCNA</a:t>
            </a:r>
            <a:endParaRPr b="0" lang="es-ES" sz="2000" spc="-1" strike="noStrike">
              <a:latin typeface="Arial"/>
            </a:endParaRPr>
          </a:p>
        </p:txBody>
      </p:sp>
      <p:sp>
        <p:nvSpPr>
          <p:cNvPr id="779" name="TextShape 3"/>
          <p:cNvSpPr txBox="1"/>
          <p:nvPr/>
        </p:nvSpPr>
        <p:spPr>
          <a:xfrm>
            <a:off x="3884760" y="8685360"/>
            <a:ext cx="2971440" cy="458280"/>
          </a:xfrm>
          <a:prstGeom prst="rect">
            <a:avLst/>
          </a:prstGeom>
          <a:noFill/>
          <a:ln>
            <a:noFill/>
          </a:ln>
        </p:spPr>
        <p:txBody>
          <a:bodyPr anchor="b">
            <a:noAutofit/>
          </a:bodyPr>
          <a:p>
            <a:pPr algn="r">
              <a:lnSpc>
                <a:spcPct val="100000"/>
              </a:lnSpc>
            </a:pPr>
            <a:fld id="{AF684942-C6DD-4035-8D95-51FC81E278AA}"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PlaceHolder 1"/>
          <p:cNvSpPr>
            <a:spLocks noGrp="1"/>
          </p:cNvSpPr>
          <p:nvPr>
            <p:ph type="sldImg"/>
          </p:nvPr>
        </p:nvSpPr>
        <p:spPr>
          <a:xfrm>
            <a:off x="685800" y="1143000"/>
            <a:ext cx="5486040" cy="3085920"/>
          </a:xfrm>
          <a:prstGeom prst="rect">
            <a:avLst/>
          </a:prstGeom>
        </p:spPr>
      </p:sp>
      <p:sp>
        <p:nvSpPr>
          <p:cNvPr id="781" name="PlaceHolder 2"/>
          <p:cNvSpPr>
            <a:spLocks noGrp="1"/>
          </p:cNvSpPr>
          <p:nvPr>
            <p:ph type="body"/>
          </p:nvPr>
        </p:nvSpPr>
        <p:spPr>
          <a:xfrm>
            <a:off x="685800" y="4400640"/>
            <a:ext cx="5486040" cy="3600000"/>
          </a:xfrm>
          <a:prstGeom prst="rect">
            <a:avLst/>
          </a:prstGeom>
        </p:spPr>
        <p:txBody>
          <a:bodyPr>
            <a:noAutofit/>
          </a:bodyPr>
          <a:p>
            <a:pPr>
              <a:lnSpc>
                <a:spcPct val="100000"/>
              </a:lnSpc>
              <a:tabLst>
                <a:tab algn="l" pos="0"/>
              </a:tabLst>
            </a:pPr>
            <a:r>
              <a:rPr b="0" lang="en-US" sz="2000" spc="-1" strike="noStrike">
                <a:latin typeface="Arial"/>
              </a:rPr>
              <a:t>This </a:t>
            </a:r>
            <a:r>
              <a:rPr b="1" lang="en-US" sz="2000" spc="-1" strike="noStrike">
                <a:latin typeface="Arial"/>
              </a:rPr>
              <a:t>Tag-Seq</a:t>
            </a:r>
            <a:r>
              <a:rPr b="0" lang="en-US" sz="2000" spc="-1" strike="noStrike">
                <a:latin typeface="Arial"/>
              </a:rPr>
              <a:t> method yields only one sequence per expressed transcript in the RNA pool,</a:t>
            </a:r>
            <a:endParaRPr b="0" lang="es-ES" sz="2000" spc="-1" strike="noStrike">
              <a:latin typeface="Arial"/>
            </a:endParaRPr>
          </a:p>
          <a:p>
            <a:pPr>
              <a:lnSpc>
                <a:spcPct val="100000"/>
              </a:lnSpc>
              <a:tabLst>
                <a:tab algn="l" pos="0"/>
              </a:tabLst>
            </a:pPr>
            <a:endParaRPr b="0" lang="es-ES" sz="2000" spc="-1" strike="noStrike">
              <a:latin typeface="Arial"/>
            </a:endParaRPr>
          </a:p>
        </p:txBody>
      </p:sp>
      <p:sp>
        <p:nvSpPr>
          <p:cNvPr id="782" name="TextShape 3"/>
          <p:cNvSpPr txBox="1"/>
          <p:nvPr/>
        </p:nvSpPr>
        <p:spPr>
          <a:xfrm>
            <a:off x="3884760" y="8685360"/>
            <a:ext cx="2971440" cy="458280"/>
          </a:xfrm>
          <a:prstGeom prst="rect">
            <a:avLst/>
          </a:prstGeom>
          <a:noFill/>
          <a:ln>
            <a:noFill/>
          </a:ln>
        </p:spPr>
        <p:txBody>
          <a:bodyPr anchor="b">
            <a:noAutofit/>
          </a:bodyPr>
          <a:p>
            <a:pPr algn="r">
              <a:lnSpc>
                <a:spcPct val="100000"/>
              </a:lnSpc>
            </a:pPr>
            <a:fld id="{B8C7AEF0-E110-4D7B-B8B5-9025D7C17CC6}"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3" name="PlaceHolder 1"/>
          <p:cNvSpPr>
            <a:spLocks noGrp="1"/>
          </p:cNvSpPr>
          <p:nvPr>
            <p:ph type="sldImg"/>
          </p:nvPr>
        </p:nvSpPr>
        <p:spPr>
          <a:xfrm>
            <a:off x="685800" y="1143000"/>
            <a:ext cx="5486040" cy="3085920"/>
          </a:xfrm>
          <a:prstGeom prst="rect">
            <a:avLst/>
          </a:prstGeom>
        </p:spPr>
      </p:sp>
      <p:sp>
        <p:nvSpPr>
          <p:cNvPr id="784"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785" name="TextShape 3"/>
          <p:cNvSpPr txBox="1"/>
          <p:nvPr/>
        </p:nvSpPr>
        <p:spPr>
          <a:xfrm>
            <a:off x="3884760" y="8685360"/>
            <a:ext cx="2971440" cy="458280"/>
          </a:xfrm>
          <a:prstGeom prst="rect">
            <a:avLst/>
          </a:prstGeom>
          <a:noFill/>
          <a:ln>
            <a:noFill/>
          </a:ln>
        </p:spPr>
        <p:txBody>
          <a:bodyPr anchor="b">
            <a:noAutofit/>
          </a:bodyPr>
          <a:p>
            <a:pPr algn="r">
              <a:lnSpc>
                <a:spcPct val="100000"/>
              </a:lnSpc>
            </a:pPr>
            <a:fld id="{3835F0C1-261E-4B6C-8E85-DA44967317A0}"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6" name="PlaceHolder 1"/>
          <p:cNvSpPr>
            <a:spLocks noGrp="1"/>
          </p:cNvSpPr>
          <p:nvPr>
            <p:ph type="sldImg"/>
          </p:nvPr>
        </p:nvSpPr>
        <p:spPr>
          <a:xfrm>
            <a:off x="685800" y="1143000"/>
            <a:ext cx="5486040" cy="3085920"/>
          </a:xfrm>
          <a:prstGeom prst="rect">
            <a:avLst/>
          </a:prstGeom>
        </p:spPr>
      </p:sp>
      <p:sp>
        <p:nvSpPr>
          <p:cNvPr id="787"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788" name="TextShape 3"/>
          <p:cNvSpPr txBox="1"/>
          <p:nvPr/>
        </p:nvSpPr>
        <p:spPr>
          <a:xfrm>
            <a:off x="3884760" y="8685360"/>
            <a:ext cx="2971440" cy="458280"/>
          </a:xfrm>
          <a:prstGeom prst="rect">
            <a:avLst/>
          </a:prstGeom>
          <a:noFill/>
          <a:ln>
            <a:noFill/>
          </a:ln>
        </p:spPr>
        <p:txBody>
          <a:bodyPr anchor="b">
            <a:noAutofit/>
          </a:bodyPr>
          <a:p>
            <a:pPr algn="r">
              <a:lnSpc>
                <a:spcPct val="100000"/>
              </a:lnSpc>
            </a:pPr>
            <a:fld id="{CFD40B08-4DD9-440A-9B17-89A2A3252F12}"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PlaceHolder 1"/>
          <p:cNvSpPr>
            <a:spLocks noGrp="1"/>
          </p:cNvSpPr>
          <p:nvPr>
            <p:ph type="sldImg"/>
          </p:nvPr>
        </p:nvSpPr>
        <p:spPr>
          <a:xfrm>
            <a:off x="685800" y="1143000"/>
            <a:ext cx="5486040" cy="3085920"/>
          </a:xfrm>
          <a:prstGeom prst="rect">
            <a:avLst/>
          </a:prstGeom>
        </p:spPr>
      </p:sp>
      <p:sp>
        <p:nvSpPr>
          <p:cNvPr id="790"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791" name="TextShape 3"/>
          <p:cNvSpPr txBox="1"/>
          <p:nvPr/>
        </p:nvSpPr>
        <p:spPr>
          <a:xfrm>
            <a:off x="3884760" y="8685360"/>
            <a:ext cx="2971440" cy="458280"/>
          </a:xfrm>
          <a:prstGeom prst="rect">
            <a:avLst/>
          </a:prstGeom>
          <a:noFill/>
          <a:ln>
            <a:noFill/>
          </a:ln>
        </p:spPr>
        <p:txBody>
          <a:bodyPr anchor="b">
            <a:noAutofit/>
          </a:bodyPr>
          <a:p>
            <a:pPr algn="r">
              <a:lnSpc>
                <a:spcPct val="100000"/>
              </a:lnSpc>
            </a:pPr>
            <a:fld id="{C884D54A-141C-4DB5-AC29-7C7D92619620}"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2" name="PlaceHolder 1"/>
          <p:cNvSpPr>
            <a:spLocks noGrp="1"/>
          </p:cNvSpPr>
          <p:nvPr>
            <p:ph type="sldImg"/>
          </p:nvPr>
        </p:nvSpPr>
        <p:spPr>
          <a:xfrm>
            <a:off x="685800" y="1143000"/>
            <a:ext cx="5486040" cy="3085920"/>
          </a:xfrm>
          <a:prstGeom prst="rect">
            <a:avLst/>
          </a:prstGeom>
        </p:spPr>
      </p:sp>
      <p:sp>
        <p:nvSpPr>
          <p:cNvPr id="793" name="PlaceHolder 2"/>
          <p:cNvSpPr>
            <a:spLocks noGrp="1"/>
          </p:cNvSpPr>
          <p:nvPr>
            <p:ph type="body"/>
          </p:nvPr>
        </p:nvSpPr>
        <p:spPr>
          <a:xfrm>
            <a:off x="685800" y="4400640"/>
            <a:ext cx="5486040" cy="3600000"/>
          </a:xfrm>
          <a:prstGeom prst="rect">
            <a:avLst/>
          </a:prstGeom>
        </p:spPr>
        <p:txBody>
          <a:bodyPr>
            <a:noAutofit/>
          </a:bodyPr>
          <a:p>
            <a:pPr>
              <a:lnSpc>
                <a:spcPct val="100000"/>
              </a:lnSpc>
              <a:tabLst>
                <a:tab algn="l" pos="0"/>
              </a:tabLst>
            </a:pPr>
            <a:r>
              <a:rPr b="0" lang="en-US" sz="2000" spc="-1" strike="noStrike">
                <a:latin typeface="Arial"/>
              </a:rPr>
              <a:t>This </a:t>
            </a:r>
            <a:r>
              <a:rPr b="1" lang="en-US" sz="2000" spc="-1" strike="noStrike">
                <a:latin typeface="Arial"/>
              </a:rPr>
              <a:t>Tag-Seq</a:t>
            </a:r>
            <a:r>
              <a:rPr b="0" lang="en-US" sz="2000" spc="-1" strike="noStrike">
                <a:latin typeface="Arial"/>
              </a:rPr>
              <a:t> method yields only one sequence per expressed transcript in the RNA pool,</a:t>
            </a:r>
            <a:endParaRPr b="0" lang="es-ES" sz="2000" spc="-1" strike="noStrike">
              <a:latin typeface="Arial"/>
            </a:endParaRPr>
          </a:p>
        </p:txBody>
      </p:sp>
      <p:sp>
        <p:nvSpPr>
          <p:cNvPr id="794" name="TextShape 3"/>
          <p:cNvSpPr txBox="1"/>
          <p:nvPr/>
        </p:nvSpPr>
        <p:spPr>
          <a:xfrm>
            <a:off x="3884760" y="8685360"/>
            <a:ext cx="2971440" cy="458280"/>
          </a:xfrm>
          <a:prstGeom prst="rect">
            <a:avLst/>
          </a:prstGeom>
          <a:noFill/>
          <a:ln>
            <a:noFill/>
          </a:ln>
        </p:spPr>
        <p:txBody>
          <a:bodyPr anchor="b">
            <a:noAutofit/>
          </a:bodyPr>
          <a:p>
            <a:pPr algn="r">
              <a:lnSpc>
                <a:spcPct val="100000"/>
              </a:lnSpc>
            </a:pPr>
            <a:fld id="{DF9B8063-E6AA-4FA8-8439-9C5C21F171E1}"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PlaceHolder 1"/>
          <p:cNvSpPr>
            <a:spLocks noGrp="1"/>
          </p:cNvSpPr>
          <p:nvPr>
            <p:ph type="sldImg"/>
          </p:nvPr>
        </p:nvSpPr>
        <p:spPr>
          <a:xfrm>
            <a:off x="685800" y="1143000"/>
            <a:ext cx="5486040" cy="3085920"/>
          </a:xfrm>
          <a:prstGeom prst="rect">
            <a:avLst/>
          </a:prstGeom>
        </p:spPr>
      </p:sp>
      <p:sp>
        <p:nvSpPr>
          <p:cNvPr id="796"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1200" spc="-1" strike="noStrike">
                <a:solidFill>
                  <a:srgbClr val="000000"/>
                </a:solidFill>
                <a:latin typeface="+mn-lt"/>
                <a:ea typeface="+mn-ea"/>
              </a:rPr>
              <a:t>Per base sequence quality: </a:t>
            </a:r>
            <a:r>
              <a:rPr b="0" lang="en-US" sz="1200" spc="-1" strike="noStrike">
                <a:solidFill>
                  <a:srgbClr val="000000"/>
                </a:solidFill>
                <a:latin typeface="+mn-lt"/>
                <a:ea typeface="+mn-ea"/>
              </a:rPr>
              <a:t>https://www.bioinformatics.babraham.ac.uk/projects/fastqc/Help/3%20Analysis%20Modules/2%20Per%20Base%20Sequence%20Quality.html</a:t>
            </a:r>
            <a:endParaRPr b="0" lang="es-ES" sz="1200" spc="-1" strike="noStrike">
              <a:latin typeface="Arial"/>
            </a:endParaRPr>
          </a:p>
          <a:p>
            <a:pPr marL="216000" indent="-216000">
              <a:lnSpc>
                <a:spcPct val="100000"/>
              </a:lnSpc>
            </a:pPr>
            <a:endParaRPr b="0" lang="es-ES" sz="1200" spc="-1" strike="noStrike">
              <a:latin typeface="Arial"/>
            </a:endParaRPr>
          </a:p>
          <a:p>
            <a:pPr marL="216000" indent="-216000">
              <a:lnSpc>
                <a:spcPct val="100000"/>
              </a:lnSpc>
            </a:pPr>
            <a:r>
              <a:rPr b="0" lang="en-US" sz="1200" spc="-1" strike="noStrike">
                <a:solidFill>
                  <a:srgbClr val="000000"/>
                </a:solidFill>
                <a:latin typeface="+mn-lt"/>
                <a:ea typeface="+mn-ea"/>
              </a:rPr>
              <a:t>For each position a BoxWhisker type plot is drawn. The elements of the plot are as follows:</a:t>
            </a:r>
            <a:endParaRPr b="0" lang="es-ES" sz="1200" spc="-1" strike="noStrike">
              <a:latin typeface="Arial"/>
            </a:endParaRPr>
          </a:p>
          <a:p>
            <a:pPr marL="216000" indent="-216000">
              <a:lnSpc>
                <a:spcPct val="100000"/>
              </a:lnSpc>
            </a:pPr>
            <a:r>
              <a:rPr b="0" lang="en-US" sz="1200" spc="-1" strike="noStrike">
                <a:solidFill>
                  <a:srgbClr val="000000"/>
                </a:solidFill>
                <a:latin typeface="+mn-lt"/>
                <a:ea typeface="+mn-ea"/>
              </a:rPr>
              <a:t>The central red line is the median value</a:t>
            </a:r>
            <a:endParaRPr b="0" lang="es-ES" sz="1200" spc="-1" strike="noStrike">
              <a:latin typeface="Arial"/>
            </a:endParaRPr>
          </a:p>
          <a:p>
            <a:pPr marL="216000" indent="-216000">
              <a:lnSpc>
                <a:spcPct val="100000"/>
              </a:lnSpc>
            </a:pPr>
            <a:r>
              <a:rPr b="0" lang="en-US" sz="1200" spc="-1" strike="noStrike">
                <a:solidFill>
                  <a:srgbClr val="000000"/>
                </a:solidFill>
                <a:latin typeface="+mn-lt"/>
                <a:ea typeface="+mn-ea"/>
              </a:rPr>
              <a:t>The yellow box represents the inter-quartile range (25-75%)</a:t>
            </a:r>
            <a:endParaRPr b="0" lang="es-ES" sz="1200" spc="-1" strike="noStrike">
              <a:latin typeface="Arial"/>
            </a:endParaRPr>
          </a:p>
          <a:p>
            <a:pPr marL="216000" indent="-216000">
              <a:lnSpc>
                <a:spcPct val="100000"/>
              </a:lnSpc>
            </a:pPr>
            <a:r>
              <a:rPr b="0" lang="en-US" sz="1200" spc="-1" strike="noStrike">
                <a:solidFill>
                  <a:srgbClr val="000000"/>
                </a:solidFill>
                <a:latin typeface="+mn-lt"/>
                <a:ea typeface="+mn-ea"/>
              </a:rPr>
              <a:t>The upper and lower whiskers represent the 10% and 90% points</a:t>
            </a:r>
            <a:endParaRPr b="0" lang="es-ES" sz="1200" spc="-1" strike="noStrike">
              <a:latin typeface="Arial"/>
            </a:endParaRPr>
          </a:p>
          <a:p>
            <a:pPr marL="216000" indent="-216000">
              <a:lnSpc>
                <a:spcPct val="100000"/>
              </a:lnSpc>
            </a:pPr>
            <a:r>
              <a:rPr b="0" lang="en-US" sz="1200" spc="-1" strike="noStrike">
                <a:solidFill>
                  <a:srgbClr val="000000"/>
                </a:solidFill>
                <a:latin typeface="+mn-lt"/>
                <a:ea typeface="+mn-ea"/>
              </a:rPr>
              <a:t>The blue line represents the mean quality</a:t>
            </a:r>
            <a:endParaRPr b="0" lang="es-ES" sz="1200" spc="-1" strike="noStrike">
              <a:latin typeface="Arial"/>
            </a:endParaRPr>
          </a:p>
          <a:p>
            <a:pPr marL="216000" indent="-216000">
              <a:lnSpc>
                <a:spcPct val="100000"/>
              </a:lnSpc>
            </a:pPr>
            <a:r>
              <a:rPr b="0" lang="en-US" sz="1200" spc="-1" strike="noStrike">
                <a:solidFill>
                  <a:srgbClr val="000000"/>
                </a:solidFill>
                <a:latin typeface="+mn-lt"/>
                <a:ea typeface="+mn-ea"/>
              </a:rPr>
              <a:t>The y-axis on the graph shows the quality scores. The higher the score the better the base call. The background of the graph divides the y axis into very good quality calls (green), calls of reasonable quality (orange), and calls of poor quality (red). The quality of calls on most platforms will degrade as the run progresses, so it is common to see base calls falling into the orange area towards the end of a read.</a:t>
            </a:r>
            <a:endParaRPr b="0" lang="es-ES" sz="1200" spc="-1" strike="noStrike">
              <a:latin typeface="Arial"/>
            </a:endParaRPr>
          </a:p>
          <a:p>
            <a:pPr marL="216000" indent="-216000">
              <a:lnSpc>
                <a:spcPct val="100000"/>
              </a:lnSpc>
            </a:pPr>
            <a:endParaRPr b="0" lang="es-ES" sz="1200" spc="-1" strike="noStrike">
              <a:latin typeface="Arial"/>
            </a:endParaRPr>
          </a:p>
          <a:p>
            <a:pPr marL="216000" indent="-216000">
              <a:lnSpc>
                <a:spcPct val="100000"/>
              </a:lnSpc>
            </a:pPr>
            <a:endParaRPr b="0" lang="es-ES" sz="1200" spc="-1" strike="noStrike">
              <a:latin typeface="Arial"/>
            </a:endParaRPr>
          </a:p>
          <a:p>
            <a:pPr marL="216000" indent="-216000">
              <a:lnSpc>
                <a:spcPct val="100000"/>
              </a:lnSpc>
            </a:pPr>
            <a:r>
              <a:rPr b="0" lang="en-US" sz="2000" spc="-1" strike="noStrike">
                <a:solidFill>
                  <a:srgbClr val="000000"/>
                </a:solidFill>
                <a:latin typeface="+mn-lt"/>
                <a:ea typeface="+mn-ea"/>
              </a:rPr>
              <a:t>https://hbctraining.github.io/Intro-to-rnaseq-hpc-salmon/lessons/qc_fastqc_assessment.html</a:t>
            </a:r>
            <a:endParaRPr b="0" lang="es-ES" sz="2000" spc="-1" strike="noStrike">
              <a:latin typeface="Arial"/>
            </a:endParaRPr>
          </a:p>
        </p:txBody>
      </p:sp>
      <p:sp>
        <p:nvSpPr>
          <p:cNvPr id="797" name="TextShape 3"/>
          <p:cNvSpPr txBox="1"/>
          <p:nvPr/>
        </p:nvSpPr>
        <p:spPr>
          <a:xfrm>
            <a:off x="3884760" y="8685360"/>
            <a:ext cx="2971440" cy="458280"/>
          </a:xfrm>
          <a:prstGeom prst="rect">
            <a:avLst/>
          </a:prstGeom>
          <a:noFill/>
          <a:ln>
            <a:noFill/>
          </a:ln>
        </p:spPr>
        <p:txBody>
          <a:bodyPr anchor="b">
            <a:noAutofit/>
          </a:bodyPr>
          <a:p>
            <a:pPr algn="r">
              <a:lnSpc>
                <a:spcPct val="100000"/>
              </a:lnSpc>
            </a:pPr>
            <a:fld id="{CBEDC8FE-69B3-47FA-A43E-51A6EC46D6FD}"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8" name="PlaceHolder 1"/>
          <p:cNvSpPr>
            <a:spLocks noGrp="1"/>
          </p:cNvSpPr>
          <p:nvPr>
            <p:ph type="sldImg"/>
          </p:nvPr>
        </p:nvSpPr>
        <p:spPr>
          <a:xfrm>
            <a:off x="685800" y="1143000"/>
            <a:ext cx="5486040" cy="3085920"/>
          </a:xfrm>
          <a:prstGeom prst="rect">
            <a:avLst/>
          </a:prstGeom>
        </p:spPr>
      </p:sp>
      <p:sp>
        <p:nvSpPr>
          <p:cNvPr id="799"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2000" spc="-1" strike="noStrike">
                <a:latin typeface="Arial"/>
              </a:rPr>
              <a:t>Per tile sequence quality: </a:t>
            </a:r>
            <a:r>
              <a:rPr b="0" lang="en-US" sz="2000" spc="-1" strike="noStrike">
                <a:latin typeface="Arial"/>
              </a:rPr>
              <a:t>https://www.bioinformatics.babraham.ac.uk/projects/fastqc/Help/3%20Analysis%20Modules/12%20Per%20Tile%20Sequence%20Quality.html</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Per sequence quality scores: </a:t>
            </a:r>
            <a:r>
              <a:rPr b="0" lang="en-US" sz="2000" spc="-1" strike="noStrike">
                <a:latin typeface="Arial"/>
              </a:rPr>
              <a:t>https://www.bioinformatics.babraham.ac.uk/projects/fastqc/Help/3%20Analysis%20Modules/3%20Per%20Sequence%20Quality%20Scores.html</a:t>
            </a:r>
            <a:endParaRPr b="0" lang="es-ES" sz="2000" spc="-1" strike="noStrike">
              <a:latin typeface="Arial"/>
            </a:endParaRPr>
          </a:p>
          <a:p>
            <a:pPr marL="216000" indent="-216000">
              <a:lnSpc>
                <a:spcPct val="100000"/>
              </a:lnSpc>
            </a:pPr>
            <a:endParaRPr b="0" lang="es-ES" sz="2000" spc="-1" strike="noStrike">
              <a:latin typeface="Arial"/>
            </a:endParaRPr>
          </a:p>
        </p:txBody>
      </p:sp>
      <p:sp>
        <p:nvSpPr>
          <p:cNvPr id="80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7A2381F3-0873-4DFF-85B4-0E517F0DA2E0}"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1" name="PlaceHolder 1"/>
          <p:cNvSpPr>
            <a:spLocks noGrp="1"/>
          </p:cNvSpPr>
          <p:nvPr>
            <p:ph type="sldImg"/>
          </p:nvPr>
        </p:nvSpPr>
        <p:spPr>
          <a:xfrm>
            <a:off x="685800" y="1143000"/>
            <a:ext cx="5486040" cy="3085920"/>
          </a:xfrm>
          <a:prstGeom prst="rect">
            <a:avLst/>
          </a:prstGeom>
        </p:spPr>
      </p:sp>
      <p:sp>
        <p:nvSpPr>
          <p:cNvPr id="802"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2000" spc="-1" strike="noStrike">
                <a:latin typeface="Arial"/>
              </a:rPr>
              <a:t>Per base sequence content: </a:t>
            </a:r>
            <a:r>
              <a:rPr b="0" lang="en-US" sz="2000" spc="-1" strike="noStrike">
                <a:latin typeface="Arial"/>
              </a:rPr>
              <a:t>https://www.bioinformatics.babraham.ac.uk/projects/fastqc/Help/3%20Analysis%20Modules/4%20Per%20Base%20Sequence%20Content.html</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Per sequence GC content: </a:t>
            </a:r>
            <a:r>
              <a:rPr b="0" lang="en-US" sz="2000" spc="-1" strike="noStrike">
                <a:latin typeface="Arial"/>
              </a:rPr>
              <a:t>https://www.bioinformatics.babraham.ac.uk/projects/fastqc/Help/3%20Analysis%20Modules/5%20Per%20Sequence%20GC%20Content.html</a:t>
            </a:r>
            <a:endParaRPr b="0" lang="es-ES" sz="2000" spc="-1" strike="noStrike">
              <a:latin typeface="Arial"/>
            </a:endParaRPr>
          </a:p>
        </p:txBody>
      </p:sp>
      <p:sp>
        <p:nvSpPr>
          <p:cNvPr id="80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160B1DC0-DAB2-4B20-A468-9B31C4410993}"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4" name="PlaceHolder 1"/>
          <p:cNvSpPr>
            <a:spLocks noGrp="1"/>
          </p:cNvSpPr>
          <p:nvPr>
            <p:ph type="sldImg"/>
          </p:nvPr>
        </p:nvSpPr>
        <p:spPr>
          <a:xfrm>
            <a:off x="685800" y="1143000"/>
            <a:ext cx="5486040" cy="3085920"/>
          </a:xfrm>
          <a:prstGeom prst="rect">
            <a:avLst/>
          </a:prstGeom>
        </p:spPr>
      </p:sp>
      <p:sp>
        <p:nvSpPr>
          <p:cNvPr id="805"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2000" spc="-1" strike="noStrike">
                <a:latin typeface="Arial"/>
              </a:rPr>
              <a:t>Per base N content: </a:t>
            </a:r>
            <a:r>
              <a:rPr b="0" lang="en-US" sz="2000" spc="-1" strike="noStrike">
                <a:latin typeface="Arial"/>
              </a:rPr>
              <a:t>https://www.bioinformatics.babraham.ac.uk/projects/fastqc/Help/3%20Analysis%20Modules/6%20Per%20Base%20N%20Content.html</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Sequence Length Distribution: </a:t>
            </a:r>
            <a:r>
              <a:rPr b="0" lang="en-US" sz="2000" spc="-1" strike="noStrike">
                <a:latin typeface="Arial"/>
              </a:rPr>
              <a:t>https://www.bioinformatics.babraham.ac.uk/projects/fastqc/Help/3%20Analysis%20Modules/7%20Sequence%20Length%20Distribution.html</a:t>
            </a:r>
            <a:endParaRPr b="0" lang="es-ES" sz="2000" spc="-1" strike="noStrike">
              <a:latin typeface="Arial"/>
            </a:endParaRPr>
          </a:p>
        </p:txBody>
      </p:sp>
      <p:sp>
        <p:nvSpPr>
          <p:cNvPr id="80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EF8293F1-686A-4247-A0EF-6420DEAB9B9C}"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7" name="PlaceHolder 1"/>
          <p:cNvSpPr>
            <a:spLocks noGrp="1"/>
          </p:cNvSpPr>
          <p:nvPr>
            <p:ph type="sldImg"/>
          </p:nvPr>
        </p:nvSpPr>
        <p:spPr>
          <a:xfrm>
            <a:off x="685800" y="1143000"/>
            <a:ext cx="5486040" cy="3085920"/>
          </a:xfrm>
          <a:prstGeom prst="rect">
            <a:avLst/>
          </a:prstGeom>
        </p:spPr>
      </p:sp>
      <p:sp>
        <p:nvSpPr>
          <p:cNvPr id="808"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2000" spc="-1" strike="noStrike">
                <a:latin typeface="Arial"/>
              </a:rPr>
              <a:t>Sequence Duplication Levels: </a:t>
            </a:r>
            <a:r>
              <a:rPr b="0" lang="en-US" sz="2000" spc="-1" strike="noStrike">
                <a:latin typeface="Arial"/>
              </a:rPr>
              <a:t>https://www.bioinformatics.babraham.ac.uk/projects/fastqc/Help/3%20Analysis%20Modules/8%20Duplicate%20Sequences.html</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Overrepresented sequences:</a:t>
            </a:r>
            <a:r>
              <a:rPr b="0" lang="en-US" sz="2000" spc="-1" strike="noStrike">
                <a:latin typeface="Arial"/>
              </a:rPr>
              <a:t> https://www.bioinformatics.babraham.ac.uk/projects/fastqc/Help/3%20Analysis%20Modules/9%20Overrepresented%20Sequences.html</a:t>
            </a:r>
            <a:endParaRPr b="0" lang="es-ES" sz="2000" spc="-1" strike="noStrike">
              <a:latin typeface="Arial"/>
            </a:endParaRPr>
          </a:p>
        </p:txBody>
      </p:sp>
      <p:sp>
        <p:nvSpPr>
          <p:cNvPr id="809" name="TextShape 3"/>
          <p:cNvSpPr txBox="1"/>
          <p:nvPr/>
        </p:nvSpPr>
        <p:spPr>
          <a:xfrm>
            <a:off x="3884760" y="8685360"/>
            <a:ext cx="2971440" cy="458280"/>
          </a:xfrm>
          <a:prstGeom prst="rect">
            <a:avLst/>
          </a:prstGeom>
          <a:noFill/>
          <a:ln>
            <a:noFill/>
          </a:ln>
        </p:spPr>
        <p:txBody>
          <a:bodyPr anchor="b">
            <a:noAutofit/>
          </a:bodyPr>
          <a:p>
            <a:pPr algn="r">
              <a:lnSpc>
                <a:spcPct val="100000"/>
              </a:lnSpc>
            </a:pPr>
            <a:fld id="{5AF58630-8CDD-4A27-962B-941D8CBD319F}"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0" name="PlaceHolder 1"/>
          <p:cNvSpPr>
            <a:spLocks noGrp="1"/>
          </p:cNvSpPr>
          <p:nvPr>
            <p:ph type="sldImg"/>
          </p:nvPr>
        </p:nvSpPr>
        <p:spPr>
          <a:xfrm>
            <a:off x="685800" y="1143000"/>
            <a:ext cx="5486040" cy="3085920"/>
          </a:xfrm>
          <a:prstGeom prst="rect">
            <a:avLst/>
          </a:prstGeom>
        </p:spPr>
      </p:sp>
      <p:sp>
        <p:nvSpPr>
          <p:cNvPr id="811"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2000" spc="-1" strike="noStrike">
                <a:latin typeface="Arial"/>
              </a:rPr>
              <a:t>Adapter Content: </a:t>
            </a:r>
            <a:r>
              <a:rPr b="0" lang="en-US" sz="2000" spc="-1" strike="noStrike">
                <a:latin typeface="Arial"/>
              </a:rPr>
              <a:t>https://www.bioinformatics.babraham.ac.uk/projects/fastqc/Help/3%20Analysis%20Modules/10%20Adapter%20Content.html</a:t>
            </a:r>
            <a:endParaRPr b="0" lang="es-ES" sz="2000" spc="-1" strike="noStrike">
              <a:latin typeface="Arial"/>
            </a:endParaRPr>
          </a:p>
        </p:txBody>
      </p:sp>
      <p:sp>
        <p:nvSpPr>
          <p:cNvPr id="812" name="TextShape 3"/>
          <p:cNvSpPr txBox="1"/>
          <p:nvPr/>
        </p:nvSpPr>
        <p:spPr>
          <a:xfrm>
            <a:off x="3884760" y="8685360"/>
            <a:ext cx="2971440" cy="458280"/>
          </a:xfrm>
          <a:prstGeom prst="rect">
            <a:avLst/>
          </a:prstGeom>
          <a:noFill/>
          <a:ln>
            <a:noFill/>
          </a:ln>
        </p:spPr>
        <p:txBody>
          <a:bodyPr anchor="b">
            <a:noAutofit/>
          </a:bodyPr>
          <a:p>
            <a:pPr algn="r">
              <a:lnSpc>
                <a:spcPct val="100000"/>
              </a:lnSpc>
            </a:pPr>
            <a:fld id="{0005019E-FC70-48DD-AC65-8622036B6BEC}"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3" name="PlaceHolder 1"/>
          <p:cNvSpPr>
            <a:spLocks noGrp="1"/>
          </p:cNvSpPr>
          <p:nvPr>
            <p:ph type="sldImg"/>
          </p:nvPr>
        </p:nvSpPr>
        <p:spPr>
          <a:xfrm>
            <a:off x="685800" y="1143000"/>
            <a:ext cx="5486040" cy="3085920"/>
          </a:xfrm>
          <a:prstGeom prst="rect">
            <a:avLst/>
          </a:prstGeom>
        </p:spPr>
      </p:sp>
      <p:sp>
        <p:nvSpPr>
          <p:cNvPr id="814"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815" name="TextShape 3"/>
          <p:cNvSpPr txBox="1"/>
          <p:nvPr/>
        </p:nvSpPr>
        <p:spPr>
          <a:xfrm>
            <a:off x="3884760" y="8685360"/>
            <a:ext cx="2971440" cy="458280"/>
          </a:xfrm>
          <a:prstGeom prst="rect">
            <a:avLst/>
          </a:prstGeom>
          <a:noFill/>
          <a:ln>
            <a:noFill/>
          </a:ln>
        </p:spPr>
        <p:txBody>
          <a:bodyPr anchor="b">
            <a:noAutofit/>
          </a:bodyPr>
          <a:p>
            <a:pPr algn="r">
              <a:lnSpc>
                <a:spcPct val="100000"/>
              </a:lnSpc>
            </a:pPr>
            <a:fld id="{B884FB40-9ED7-4CA5-82C0-8412FF044964}"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6" name="PlaceHolder 1"/>
          <p:cNvSpPr>
            <a:spLocks noGrp="1"/>
          </p:cNvSpPr>
          <p:nvPr>
            <p:ph type="sldImg"/>
          </p:nvPr>
        </p:nvSpPr>
        <p:spPr>
          <a:xfrm>
            <a:off x="685800" y="1143000"/>
            <a:ext cx="5486040" cy="3085920"/>
          </a:xfrm>
          <a:prstGeom prst="rect">
            <a:avLst/>
          </a:prstGeom>
        </p:spPr>
      </p:sp>
      <p:sp>
        <p:nvSpPr>
          <p:cNvPr id="817"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Remove Illumina adapters provided in the TruSeq3-PE.fa file (provided). Initially Trimmomatic will look for seed matches (16 bases) allowing maximally 2 mismatches. These seeds will be extended and clipped if in the case of paired end reads a score of 30 is reached (about 50 bases), or in the case of single ended reads a score of 10, (about 17 bases). Remove leading low quality or N bases (below quality 3) Remove trailing low quality or N bases (below quality 3) Scan the read with a 4-base wide sliding window, cutting when the average quality per base drops below 15 Drop reads which are less than 36 bases long after these steps</a:t>
            </a:r>
            <a:endParaRPr b="0" lang="es-ES" sz="2000" spc="-1" strike="noStrike">
              <a:latin typeface="Arial"/>
            </a:endParaRPr>
          </a:p>
          <a:p>
            <a:pPr marL="216000" indent="-216000">
              <a:lnSpc>
                <a:spcPct val="100000"/>
              </a:lnSpc>
            </a:pPr>
            <a:r>
              <a:rPr b="0" lang="en-US" sz="2000" spc="-1" strike="noStrike">
                <a:latin typeface="Arial"/>
              </a:rPr>
              <a:t>Of course the :30: parameter has no effect, but a value has to be specified nevertheless)</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0" lang="en-US" sz="2000" spc="-1" strike="noStrike">
                <a:latin typeface="Arial"/>
              </a:rPr>
              <a:t>http://www.usadellab.org/cms/uploads/supplementary/Trimmomatic/TrimmomaticManual_V0.32.pdf</a:t>
            </a:r>
            <a:endParaRPr b="0" lang="es-ES" sz="2000" spc="-1" strike="noStrike">
              <a:latin typeface="Arial"/>
            </a:endParaRPr>
          </a:p>
          <a:p>
            <a:pPr marL="216000" indent="-216000">
              <a:lnSpc>
                <a:spcPct val="100000"/>
              </a:lnSpc>
            </a:pPr>
            <a:endParaRPr b="0" lang="es-ES" sz="2000" spc="-1" strike="noStrike">
              <a:latin typeface="Arial"/>
            </a:endParaRPr>
          </a:p>
        </p:txBody>
      </p:sp>
      <p:sp>
        <p:nvSpPr>
          <p:cNvPr id="818" name="TextShape 3"/>
          <p:cNvSpPr txBox="1"/>
          <p:nvPr/>
        </p:nvSpPr>
        <p:spPr>
          <a:xfrm>
            <a:off x="3884760" y="8685360"/>
            <a:ext cx="2971440" cy="458280"/>
          </a:xfrm>
          <a:prstGeom prst="rect">
            <a:avLst/>
          </a:prstGeom>
          <a:noFill/>
          <a:ln>
            <a:noFill/>
          </a:ln>
        </p:spPr>
        <p:txBody>
          <a:bodyPr anchor="b">
            <a:noAutofit/>
          </a:bodyPr>
          <a:p>
            <a:pPr algn="r">
              <a:lnSpc>
                <a:spcPct val="100000"/>
              </a:lnSpc>
            </a:pPr>
            <a:fld id="{FF466BE8-2C1C-4D0A-8DD9-8880BE6C410F}"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9" name="PlaceHolder 1"/>
          <p:cNvSpPr>
            <a:spLocks noGrp="1"/>
          </p:cNvSpPr>
          <p:nvPr>
            <p:ph type="sldImg"/>
          </p:nvPr>
        </p:nvSpPr>
        <p:spPr>
          <a:xfrm>
            <a:off x="685800" y="1143000"/>
            <a:ext cx="5486040" cy="3085920"/>
          </a:xfrm>
          <a:prstGeom prst="rect">
            <a:avLst/>
          </a:prstGeom>
        </p:spPr>
      </p:sp>
      <p:sp>
        <p:nvSpPr>
          <p:cNvPr id="820"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https://pachterlab.github.io/kallisto/manual</a:t>
            </a:r>
            <a:endParaRPr b="0" lang="es-ES" sz="2000" spc="-1" strike="noStrike">
              <a:latin typeface="Arial"/>
            </a:endParaRPr>
          </a:p>
        </p:txBody>
      </p:sp>
      <p:sp>
        <p:nvSpPr>
          <p:cNvPr id="821" name="TextShape 3"/>
          <p:cNvSpPr txBox="1"/>
          <p:nvPr/>
        </p:nvSpPr>
        <p:spPr>
          <a:xfrm>
            <a:off x="3884760" y="8685360"/>
            <a:ext cx="2971440" cy="458280"/>
          </a:xfrm>
          <a:prstGeom prst="rect">
            <a:avLst/>
          </a:prstGeom>
          <a:noFill/>
          <a:ln>
            <a:noFill/>
          </a:ln>
        </p:spPr>
        <p:txBody>
          <a:bodyPr anchor="b">
            <a:noAutofit/>
          </a:bodyPr>
          <a:p>
            <a:pPr algn="r">
              <a:lnSpc>
                <a:spcPct val="100000"/>
              </a:lnSpc>
            </a:pPr>
            <a:fld id="{255E6933-B796-4821-B5C0-B5EA91BB3997}"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PlaceHolder 1"/>
          <p:cNvSpPr>
            <a:spLocks noGrp="1"/>
          </p:cNvSpPr>
          <p:nvPr>
            <p:ph type="sldImg"/>
          </p:nvPr>
        </p:nvSpPr>
        <p:spPr>
          <a:xfrm>
            <a:off x="685800" y="1143000"/>
            <a:ext cx="5486040" cy="3085920"/>
          </a:xfrm>
          <a:prstGeom prst="rect">
            <a:avLst/>
          </a:prstGeom>
        </p:spPr>
      </p:sp>
      <p:sp>
        <p:nvSpPr>
          <p:cNvPr id="823"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default: -l, -s values are estimated from paired end data, but are required when using –single.</a:t>
            </a:r>
            <a:endParaRPr b="0" lang="es-ES" sz="2000" spc="-1" strike="noStrike">
              <a:latin typeface="Arial"/>
            </a:endParaRPr>
          </a:p>
        </p:txBody>
      </p:sp>
      <p:sp>
        <p:nvSpPr>
          <p:cNvPr id="824" name="TextShape 3"/>
          <p:cNvSpPr txBox="1"/>
          <p:nvPr/>
        </p:nvSpPr>
        <p:spPr>
          <a:xfrm>
            <a:off x="3884760" y="8685360"/>
            <a:ext cx="2971440" cy="458280"/>
          </a:xfrm>
          <a:prstGeom prst="rect">
            <a:avLst/>
          </a:prstGeom>
          <a:noFill/>
          <a:ln>
            <a:noFill/>
          </a:ln>
        </p:spPr>
        <p:txBody>
          <a:bodyPr anchor="b">
            <a:noAutofit/>
          </a:bodyPr>
          <a:p>
            <a:pPr algn="r">
              <a:lnSpc>
                <a:spcPct val="100000"/>
              </a:lnSpc>
            </a:pPr>
            <a:fld id="{456E382D-DF55-4039-BDD7-935F7803A85B}"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5" name="PlaceHolder 1"/>
          <p:cNvSpPr>
            <a:spLocks noGrp="1"/>
          </p:cNvSpPr>
          <p:nvPr>
            <p:ph type="sldImg"/>
          </p:nvPr>
        </p:nvSpPr>
        <p:spPr>
          <a:xfrm>
            <a:off x="685800" y="1143000"/>
            <a:ext cx="5486040" cy="3085920"/>
          </a:xfrm>
          <a:prstGeom prst="rect">
            <a:avLst/>
          </a:prstGeom>
        </p:spPr>
      </p:sp>
      <p:sp>
        <p:nvSpPr>
          <p:cNvPr id="826"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https://pachterlab.github.io/kallisto/manual</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What are </a:t>
            </a:r>
            <a:r>
              <a:rPr b="1" i="1" lang="en-US" sz="2000" spc="-1" strike="noStrike">
                <a:latin typeface="Arial"/>
              </a:rPr>
              <a:t>estimate_counts</a:t>
            </a:r>
            <a:r>
              <a:rPr b="1" lang="en-US" sz="2000" spc="-1" strike="noStrike">
                <a:latin typeface="Arial"/>
              </a:rPr>
              <a:t>?</a:t>
            </a:r>
            <a:endParaRPr b="0" lang="es-ES" sz="2000" spc="-1" strike="noStrike">
              <a:latin typeface="Arial"/>
            </a:endParaRPr>
          </a:p>
          <a:p>
            <a:pPr marL="216000" indent="-216000">
              <a:lnSpc>
                <a:spcPct val="100000"/>
              </a:lnSpc>
            </a:pPr>
            <a:r>
              <a:rPr b="0" i="1" lang="en-US" sz="2000" spc="-1" strike="noStrike">
                <a:latin typeface="Arial"/>
              </a:rPr>
              <a:t>estimate_counts</a:t>
            </a:r>
            <a:r>
              <a:rPr b="0" lang="en-US" sz="2000" spc="-1" strike="noStrike">
                <a:latin typeface="Arial"/>
              </a:rPr>
              <a:t> are the </a:t>
            </a:r>
            <a:r>
              <a:rPr b="1" lang="en-US" sz="2000" spc="-1" strike="noStrike">
                <a:latin typeface="Arial"/>
              </a:rPr>
              <a:t>estimated number of reads assigned to each transcript</a:t>
            </a:r>
            <a:r>
              <a:rPr b="0" lang="en-US" sz="2000" spc="-1" strike="noStrike">
                <a:latin typeface="Arial"/>
              </a:rPr>
              <a:t>.</a:t>
            </a:r>
            <a:endParaRPr b="0" lang="es-ES" sz="2000" spc="-1" strike="noStrike">
              <a:latin typeface="Arial"/>
            </a:endParaRPr>
          </a:p>
          <a:p>
            <a:pPr marL="216000" indent="-216000">
              <a:lnSpc>
                <a:spcPct val="100000"/>
              </a:lnSpc>
            </a:pPr>
            <a:r>
              <a:rPr b="0" lang="en-US" sz="2000" spc="-1" strike="noStrike">
                <a:latin typeface="Arial"/>
              </a:rPr>
              <a:t>They are not raw counts, because many reads can map to multiple isoforms.</a:t>
            </a:r>
            <a:endParaRPr b="0" lang="es-ES" sz="2000" spc="-1" strike="noStrike">
              <a:latin typeface="Arial"/>
            </a:endParaRPr>
          </a:p>
          <a:p>
            <a:pPr marL="216000" indent="-216000">
              <a:lnSpc>
                <a:spcPct val="100000"/>
              </a:lnSpc>
            </a:pPr>
            <a:r>
              <a:rPr b="0" lang="en-US" sz="2000" spc="-1" strike="noStrike">
                <a:latin typeface="Arial"/>
              </a:rPr>
              <a:t>Instead, </a:t>
            </a:r>
            <a:r>
              <a:rPr b="0" i="1" lang="en-US" sz="2000" spc="-1" strike="noStrike">
                <a:latin typeface="Arial"/>
              </a:rPr>
              <a:t>kallisto</a:t>
            </a:r>
            <a:r>
              <a:rPr b="0" lang="en-US" sz="2000" spc="-1" strike="noStrike">
                <a:latin typeface="Arial"/>
              </a:rPr>
              <a:t> uses a </a:t>
            </a:r>
            <a:r>
              <a:rPr b="1" lang="en-US" sz="2000" spc="-1" strike="noStrike">
                <a:latin typeface="Arial"/>
              </a:rPr>
              <a:t>probabilistic model</a:t>
            </a:r>
            <a:r>
              <a:rPr b="0" lang="en-US" sz="2000" spc="-1" strike="noStrike">
                <a:latin typeface="Arial"/>
              </a:rPr>
              <a:t> to distribute reads among transcripts.</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In kallisto, </a:t>
            </a:r>
            <a:r>
              <a:rPr b="1" i="1" lang="en-US" sz="2000" spc="-1" strike="noStrike">
                <a:latin typeface="Arial"/>
              </a:rPr>
              <a:t>estimate_counts</a:t>
            </a:r>
            <a:r>
              <a:rPr b="1" lang="en-US" sz="2000" spc="-1" strike="noStrike">
                <a:latin typeface="Arial"/>
              </a:rPr>
              <a:t> are the expected number of reads per transcript, calculated via pseudoalignment and a maximum likelihood model that distributes ambiguous reads probabilistically.</a:t>
            </a:r>
            <a:endParaRPr b="0" lang="es-ES" sz="2000" spc="-1" strike="noStrike">
              <a:latin typeface="Arial"/>
            </a:endParaRPr>
          </a:p>
          <a:p>
            <a:pPr marL="216000" indent="-216000">
              <a:lnSpc>
                <a:spcPct val="100000"/>
              </a:lnSpc>
            </a:pPr>
            <a:endParaRPr b="0" lang="es-ES" sz="2000" spc="-1" strike="noStrike">
              <a:latin typeface="Arial"/>
            </a:endParaRPr>
          </a:p>
        </p:txBody>
      </p:sp>
      <p:sp>
        <p:nvSpPr>
          <p:cNvPr id="827" name="TextShape 3"/>
          <p:cNvSpPr txBox="1"/>
          <p:nvPr/>
        </p:nvSpPr>
        <p:spPr>
          <a:xfrm>
            <a:off x="3884760" y="8685360"/>
            <a:ext cx="2971440" cy="458280"/>
          </a:xfrm>
          <a:prstGeom prst="rect">
            <a:avLst/>
          </a:prstGeom>
          <a:noFill/>
          <a:ln>
            <a:noFill/>
          </a:ln>
        </p:spPr>
        <p:txBody>
          <a:bodyPr anchor="b">
            <a:noAutofit/>
          </a:bodyPr>
          <a:p>
            <a:pPr algn="r">
              <a:lnSpc>
                <a:spcPct val="100000"/>
              </a:lnSpc>
            </a:pPr>
            <a:fld id="{35E01294-1225-4818-BA48-4CD7D4DE06DC}"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8" name="PlaceHolder 1"/>
          <p:cNvSpPr>
            <a:spLocks noGrp="1"/>
          </p:cNvSpPr>
          <p:nvPr>
            <p:ph type="sldImg"/>
          </p:nvPr>
        </p:nvSpPr>
        <p:spPr>
          <a:xfrm>
            <a:off x="685800" y="1143000"/>
            <a:ext cx="5486040" cy="3085920"/>
          </a:xfrm>
          <a:prstGeom prst="rect">
            <a:avLst/>
          </a:prstGeom>
        </p:spPr>
      </p:sp>
      <p:sp>
        <p:nvSpPr>
          <p:cNvPr id="829"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2000" spc="-1" strike="noStrike">
                <a:latin typeface="Arial"/>
              </a:rPr>
              <a:t>What are </a:t>
            </a:r>
            <a:r>
              <a:rPr b="1" i="1" lang="en-US" sz="2000" spc="-1" strike="noStrike">
                <a:latin typeface="Arial"/>
              </a:rPr>
              <a:t>estimate_counts</a:t>
            </a:r>
            <a:r>
              <a:rPr b="1" lang="en-US" sz="2000" spc="-1" strike="noStrike">
                <a:latin typeface="Arial"/>
              </a:rPr>
              <a:t>?</a:t>
            </a:r>
            <a:endParaRPr b="0" lang="es-ES" sz="2000" spc="-1" strike="noStrike">
              <a:latin typeface="Arial"/>
            </a:endParaRPr>
          </a:p>
          <a:p>
            <a:pPr marL="216000" indent="-216000">
              <a:lnSpc>
                <a:spcPct val="100000"/>
              </a:lnSpc>
            </a:pPr>
            <a:r>
              <a:rPr b="0" i="1" lang="en-US" sz="2000" spc="-1" strike="noStrike">
                <a:latin typeface="Arial"/>
              </a:rPr>
              <a:t>estimate_counts</a:t>
            </a:r>
            <a:r>
              <a:rPr b="0" lang="en-US" sz="2000" spc="-1" strike="noStrike">
                <a:latin typeface="Arial"/>
              </a:rPr>
              <a:t> are the </a:t>
            </a:r>
            <a:r>
              <a:rPr b="1" lang="en-US" sz="2000" spc="-1" strike="noStrike">
                <a:latin typeface="Arial"/>
              </a:rPr>
              <a:t>estimated number of reads assigned to each transcript</a:t>
            </a:r>
            <a:r>
              <a:rPr b="0" lang="en-US" sz="2000" spc="-1" strike="noStrike">
                <a:latin typeface="Arial"/>
              </a:rPr>
              <a:t>.</a:t>
            </a:r>
            <a:endParaRPr b="0" lang="es-ES" sz="2000" spc="-1" strike="noStrike">
              <a:latin typeface="Arial"/>
            </a:endParaRPr>
          </a:p>
          <a:p>
            <a:pPr marL="216000" indent="-216000">
              <a:lnSpc>
                <a:spcPct val="100000"/>
              </a:lnSpc>
            </a:pPr>
            <a:r>
              <a:rPr b="0" lang="en-US" sz="2000" spc="-1" strike="noStrike">
                <a:latin typeface="Arial"/>
              </a:rPr>
              <a:t>They are not raw counts, because many reads can map to multiple isoforms.</a:t>
            </a:r>
            <a:endParaRPr b="0" lang="es-ES" sz="2000" spc="-1" strike="noStrike">
              <a:latin typeface="Arial"/>
            </a:endParaRPr>
          </a:p>
          <a:p>
            <a:pPr marL="216000" indent="-216000">
              <a:lnSpc>
                <a:spcPct val="100000"/>
              </a:lnSpc>
            </a:pPr>
            <a:r>
              <a:rPr b="0" lang="en-US" sz="2000" spc="-1" strike="noStrike">
                <a:latin typeface="Arial"/>
              </a:rPr>
              <a:t>Instead, </a:t>
            </a:r>
            <a:r>
              <a:rPr b="0" i="1" lang="en-US" sz="2000" spc="-1" strike="noStrike">
                <a:latin typeface="Arial"/>
              </a:rPr>
              <a:t>kallisto</a:t>
            </a:r>
            <a:r>
              <a:rPr b="0" lang="en-US" sz="2000" spc="-1" strike="noStrike">
                <a:latin typeface="Arial"/>
              </a:rPr>
              <a:t> uses a </a:t>
            </a:r>
            <a:r>
              <a:rPr b="1" lang="en-US" sz="2000" spc="-1" strike="noStrike">
                <a:latin typeface="Arial"/>
              </a:rPr>
              <a:t>probabilistic model</a:t>
            </a:r>
            <a:r>
              <a:rPr b="0" lang="en-US" sz="2000" spc="-1" strike="noStrike">
                <a:latin typeface="Arial"/>
              </a:rPr>
              <a:t> to distribute reads among transcripts.</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In kallisto, </a:t>
            </a:r>
            <a:r>
              <a:rPr b="1" i="1" lang="en-US" sz="2000" spc="-1" strike="noStrike">
                <a:latin typeface="Arial"/>
              </a:rPr>
              <a:t>estimate_counts</a:t>
            </a:r>
            <a:r>
              <a:rPr b="1" lang="en-US" sz="2000" spc="-1" strike="noStrike">
                <a:latin typeface="Arial"/>
              </a:rPr>
              <a:t> are the expected number of reads per transcript, calculated via pseudoalignment and a maximum likelihood model that distributes ambiguous reads probabilistically.</a:t>
            </a:r>
            <a:endParaRPr b="0" lang="es-ES" sz="2000" spc="-1" strike="noStrike">
              <a:latin typeface="Arial"/>
            </a:endParaRPr>
          </a:p>
        </p:txBody>
      </p:sp>
      <p:sp>
        <p:nvSpPr>
          <p:cNvPr id="83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F2C73F16-835E-4A1E-BA08-8381280DFAD9}"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1" name="PlaceHolder 1"/>
          <p:cNvSpPr>
            <a:spLocks noGrp="1"/>
          </p:cNvSpPr>
          <p:nvPr>
            <p:ph type="sldImg"/>
          </p:nvPr>
        </p:nvSpPr>
        <p:spPr>
          <a:xfrm>
            <a:off x="685800" y="1143000"/>
            <a:ext cx="5486040" cy="3085920"/>
          </a:xfrm>
          <a:prstGeom prst="rect">
            <a:avLst/>
          </a:prstGeom>
        </p:spPr>
      </p:sp>
      <p:sp>
        <p:nvSpPr>
          <p:cNvPr id="832"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83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B0C62D4C-E468-4BFD-99BE-AA91CEE2C1F2}"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4" name="PlaceHolder 1"/>
          <p:cNvSpPr>
            <a:spLocks noGrp="1"/>
          </p:cNvSpPr>
          <p:nvPr>
            <p:ph type="sldImg"/>
          </p:nvPr>
        </p:nvSpPr>
        <p:spPr>
          <a:xfrm>
            <a:off x="685800" y="1143000"/>
            <a:ext cx="5486040" cy="3085920"/>
          </a:xfrm>
          <a:prstGeom prst="rect">
            <a:avLst/>
          </a:prstGeom>
        </p:spPr>
      </p:sp>
      <p:sp>
        <p:nvSpPr>
          <p:cNvPr id="835"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https://cyverse-kallisto-tutorial.readthedocs-hosted.com/en/latest/step3.html</a:t>
            </a:r>
            <a:endParaRPr b="0" lang="es-ES" sz="2000" spc="-1" strike="noStrike">
              <a:latin typeface="Arial"/>
            </a:endParaRPr>
          </a:p>
          <a:p>
            <a:pPr marL="216000" indent="-216000">
              <a:lnSpc>
                <a:spcPct val="100000"/>
              </a:lnSpc>
            </a:pPr>
            <a:r>
              <a:rPr b="0" lang="en-US" sz="2000" spc="-1" strike="noStrike">
                <a:latin typeface="Arial"/>
              </a:rPr>
              <a:t>https://rpubs.com/kapeelc12/Sleuth</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endParaRPr b="0" lang="es-ES" sz="2000" spc="-1" strike="noStrike">
              <a:latin typeface="Arial"/>
            </a:endParaRPr>
          </a:p>
        </p:txBody>
      </p:sp>
      <p:sp>
        <p:nvSpPr>
          <p:cNvPr id="83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862726E3-BD75-4347-86BA-FCBCC355A3DE}"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7" name="PlaceHolder 1"/>
          <p:cNvSpPr>
            <a:spLocks noGrp="1"/>
          </p:cNvSpPr>
          <p:nvPr>
            <p:ph type="sldImg"/>
          </p:nvPr>
        </p:nvSpPr>
        <p:spPr>
          <a:xfrm>
            <a:off x="685800" y="1143000"/>
            <a:ext cx="5486040" cy="3085920"/>
          </a:xfrm>
          <a:prstGeom prst="rect">
            <a:avLst/>
          </a:prstGeom>
        </p:spPr>
      </p:sp>
      <p:sp>
        <p:nvSpPr>
          <p:cNvPr id="838"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https://cyverse-kallisto-tutorial.readthedocs-hosted.com/en/latest/step3.html</a:t>
            </a:r>
            <a:endParaRPr b="0" lang="es-ES" sz="2000" spc="-1" strike="noStrike">
              <a:latin typeface="Arial"/>
            </a:endParaRPr>
          </a:p>
          <a:p>
            <a:pPr marL="216000" indent="-216000">
              <a:lnSpc>
                <a:spcPct val="100000"/>
              </a:lnSpc>
            </a:pPr>
            <a:r>
              <a:rPr b="0" lang="en-US" sz="2000" spc="-1" strike="noStrike">
                <a:latin typeface="Arial"/>
              </a:rPr>
              <a:t>https://rpubs.com/kapeelc12/Sleuth</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endParaRPr b="0" lang="es-ES" sz="2000" spc="-1" strike="noStrike">
              <a:latin typeface="Arial"/>
            </a:endParaRPr>
          </a:p>
        </p:txBody>
      </p:sp>
      <p:sp>
        <p:nvSpPr>
          <p:cNvPr id="839" name="TextShape 3"/>
          <p:cNvSpPr txBox="1"/>
          <p:nvPr/>
        </p:nvSpPr>
        <p:spPr>
          <a:xfrm>
            <a:off x="3884760" y="8685360"/>
            <a:ext cx="2971440" cy="458280"/>
          </a:xfrm>
          <a:prstGeom prst="rect">
            <a:avLst/>
          </a:prstGeom>
          <a:noFill/>
          <a:ln>
            <a:noFill/>
          </a:ln>
        </p:spPr>
        <p:txBody>
          <a:bodyPr anchor="b">
            <a:noAutofit/>
          </a:bodyPr>
          <a:p>
            <a:pPr algn="r">
              <a:lnSpc>
                <a:spcPct val="100000"/>
              </a:lnSpc>
            </a:pPr>
            <a:fld id="{222CAAE4-3A7F-4CCF-ADF0-235A5D6C91CF}"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0" name="PlaceHolder 1"/>
          <p:cNvSpPr>
            <a:spLocks noGrp="1"/>
          </p:cNvSpPr>
          <p:nvPr>
            <p:ph type="sldImg"/>
          </p:nvPr>
        </p:nvSpPr>
        <p:spPr>
          <a:xfrm>
            <a:off x="685800" y="1143000"/>
            <a:ext cx="5486040" cy="3085920"/>
          </a:xfrm>
          <a:prstGeom prst="rect">
            <a:avLst/>
          </a:prstGeom>
        </p:spPr>
      </p:sp>
      <p:sp>
        <p:nvSpPr>
          <p:cNvPr id="841"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endParaRPr b="0" lang="es-ES" sz="2000" spc="-1" strike="noStrike">
              <a:latin typeface="Arial"/>
            </a:endParaRPr>
          </a:p>
          <a:p>
            <a:pPr marL="216000" indent="-216000">
              <a:lnSpc>
                <a:spcPct val="100000"/>
              </a:lnSpc>
            </a:pPr>
            <a:endParaRPr b="0" lang="es-ES" sz="2000" spc="-1" strike="noStrike">
              <a:latin typeface="Arial"/>
            </a:endParaRPr>
          </a:p>
        </p:txBody>
      </p:sp>
      <p:sp>
        <p:nvSpPr>
          <p:cNvPr id="842" name="TextShape 3"/>
          <p:cNvSpPr txBox="1"/>
          <p:nvPr/>
        </p:nvSpPr>
        <p:spPr>
          <a:xfrm>
            <a:off x="3884760" y="8685360"/>
            <a:ext cx="2971440" cy="458280"/>
          </a:xfrm>
          <a:prstGeom prst="rect">
            <a:avLst/>
          </a:prstGeom>
          <a:noFill/>
          <a:ln>
            <a:noFill/>
          </a:ln>
        </p:spPr>
        <p:txBody>
          <a:bodyPr anchor="b">
            <a:noAutofit/>
          </a:bodyPr>
          <a:p>
            <a:pPr algn="r">
              <a:lnSpc>
                <a:spcPct val="100000"/>
              </a:lnSpc>
            </a:pPr>
            <a:fld id="{26D3D85E-6925-470A-8763-A5892CD2556F}"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3" name="PlaceHolder 1"/>
          <p:cNvSpPr>
            <a:spLocks noGrp="1"/>
          </p:cNvSpPr>
          <p:nvPr>
            <p:ph type="sldImg"/>
          </p:nvPr>
        </p:nvSpPr>
        <p:spPr>
          <a:xfrm>
            <a:off x="685800" y="1143000"/>
            <a:ext cx="5486040" cy="3085920"/>
          </a:xfrm>
          <a:prstGeom prst="rect">
            <a:avLst/>
          </a:prstGeom>
        </p:spPr>
      </p:sp>
      <p:sp>
        <p:nvSpPr>
          <p:cNvPr id="844"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endParaRPr b="0" lang="es-ES" sz="2000" spc="-1" strike="noStrike">
              <a:latin typeface="Arial"/>
            </a:endParaRPr>
          </a:p>
          <a:p>
            <a:pPr marL="216000" indent="-216000">
              <a:lnSpc>
                <a:spcPct val="100000"/>
              </a:lnSpc>
            </a:pPr>
            <a:endParaRPr b="0" lang="es-ES" sz="2000" spc="-1" strike="noStrike">
              <a:latin typeface="Arial"/>
            </a:endParaRPr>
          </a:p>
        </p:txBody>
      </p:sp>
      <p:sp>
        <p:nvSpPr>
          <p:cNvPr id="845" name="TextShape 3"/>
          <p:cNvSpPr txBox="1"/>
          <p:nvPr/>
        </p:nvSpPr>
        <p:spPr>
          <a:xfrm>
            <a:off x="3884760" y="8685360"/>
            <a:ext cx="2971440" cy="458280"/>
          </a:xfrm>
          <a:prstGeom prst="rect">
            <a:avLst/>
          </a:prstGeom>
          <a:noFill/>
          <a:ln>
            <a:noFill/>
          </a:ln>
        </p:spPr>
        <p:txBody>
          <a:bodyPr anchor="b">
            <a:noAutofit/>
          </a:bodyPr>
          <a:p>
            <a:pPr algn="r">
              <a:lnSpc>
                <a:spcPct val="100000"/>
              </a:lnSpc>
            </a:pPr>
            <a:fld id="{2AF21981-DA4F-4193-905D-58BB8D9F8818}"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6" name="PlaceHolder 1"/>
          <p:cNvSpPr>
            <a:spLocks noGrp="1"/>
          </p:cNvSpPr>
          <p:nvPr>
            <p:ph type="sldImg"/>
          </p:nvPr>
        </p:nvSpPr>
        <p:spPr>
          <a:xfrm>
            <a:off x="685800" y="1143000"/>
            <a:ext cx="5486040" cy="3085920"/>
          </a:xfrm>
          <a:prstGeom prst="rect">
            <a:avLst/>
          </a:prstGeom>
        </p:spPr>
      </p:sp>
      <p:sp>
        <p:nvSpPr>
          <p:cNvPr id="847"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endParaRPr b="0" lang="es-ES" sz="2000" spc="-1" strike="noStrike">
              <a:latin typeface="Arial"/>
            </a:endParaRPr>
          </a:p>
          <a:p>
            <a:pPr marL="216000" indent="-216000">
              <a:lnSpc>
                <a:spcPct val="100000"/>
              </a:lnSpc>
            </a:pPr>
            <a:endParaRPr b="0" lang="es-ES" sz="2000" spc="-1" strike="noStrike">
              <a:latin typeface="Arial"/>
            </a:endParaRPr>
          </a:p>
        </p:txBody>
      </p:sp>
      <p:sp>
        <p:nvSpPr>
          <p:cNvPr id="848" name="TextShape 3"/>
          <p:cNvSpPr txBox="1"/>
          <p:nvPr/>
        </p:nvSpPr>
        <p:spPr>
          <a:xfrm>
            <a:off x="3884760" y="8685360"/>
            <a:ext cx="2971440" cy="458280"/>
          </a:xfrm>
          <a:prstGeom prst="rect">
            <a:avLst/>
          </a:prstGeom>
          <a:noFill/>
          <a:ln>
            <a:noFill/>
          </a:ln>
        </p:spPr>
        <p:txBody>
          <a:bodyPr anchor="b">
            <a:noAutofit/>
          </a:bodyPr>
          <a:p>
            <a:pPr algn="r">
              <a:lnSpc>
                <a:spcPct val="100000"/>
              </a:lnSpc>
            </a:pPr>
            <a:fld id="{A8A0D5D9-5FB7-4912-AFAE-E7542455CF60}"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9" name="PlaceHolder 1"/>
          <p:cNvSpPr>
            <a:spLocks noGrp="1"/>
          </p:cNvSpPr>
          <p:nvPr>
            <p:ph type="sldImg"/>
          </p:nvPr>
        </p:nvSpPr>
        <p:spPr>
          <a:xfrm>
            <a:off x="685800" y="1143000"/>
            <a:ext cx="5486040" cy="3085920"/>
          </a:xfrm>
          <a:prstGeom prst="rect">
            <a:avLst/>
          </a:prstGeom>
        </p:spPr>
      </p:sp>
      <p:sp>
        <p:nvSpPr>
          <p:cNvPr id="850"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2000" spc="-1" strike="noStrike">
                <a:latin typeface="Arial"/>
              </a:rPr>
              <a:t>X-axis (log2 fold change)</a:t>
            </a:r>
            <a:r>
              <a:rPr b="0" lang="en-US" sz="2000" spc="-1" strike="noStrike">
                <a:latin typeface="Arial"/>
              </a:rPr>
              <a:t> This represents the </a:t>
            </a:r>
            <a:r>
              <a:rPr b="1" lang="en-US" sz="2000" spc="-1" strike="noStrike">
                <a:latin typeface="Arial"/>
              </a:rPr>
              <a:t>magnitude of change in gene expression</a:t>
            </a:r>
            <a:r>
              <a:rPr b="0" lang="en-US" sz="2000" spc="-1" strike="noStrike">
                <a:latin typeface="Arial"/>
              </a:rPr>
              <a:t> between two conditions.</a:t>
            </a:r>
            <a:endParaRPr b="0" lang="es-ES" sz="2000" spc="-1" strike="noStrike">
              <a:latin typeface="Arial"/>
            </a:endParaRPr>
          </a:p>
          <a:p>
            <a:pPr marL="216000" indent="-216000">
              <a:lnSpc>
                <a:spcPct val="100000"/>
              </a:lnSpc>
            </a:pPr>
            <a:r>
              <a:rPr b="0" lang="en-US" sz="2000" spc="-1" strike="noStrike">
                <a:latin typeface="Arial"/>
              </a:rPr>
              <a:t>Positive values → genes are </a:t>
            </a:r>
            <a:r>
              <a:rPr b="1" lang="en-US" sz="2000" spc="-1" strike="noStrike">
                <a:latin typeface="Arial"/>
              </a:rPr>
              <a:t>upregulated</a:t>
            </a:r>
            <a:r>
              <a:rPr b="0" lang="en-US" sz="2000" spc="-1" strike="noStrike">
                <a:latin typeface="Arial"/>
              </a:rPr>
              <a:t> in the condition of interest.</a:t>
            </a:r>
            <a:endParaRPr b="0" lang="es-ES" sz="2000" spc="-1" strike="noStrike">
              <a:latin typeface="Arial"/>
            </a:endParaRPr>
          </a:p>
          <a:p>
            <a:pPr marL="216000" indent="-216000">
              <a:lnSpc>
                <a:spcPct val="100000"/>
              </a:lnSpc>
            </a:pPr>
            <a:r>
              <a:rPr b="0" lang="en-US" sz="2000" spc="-1" strike="noStrike">
                <a:latin typeface="Arial"/>
              </a:rPr>
              <a:t>Negative values → genes are </a:t>
            </a:r>
            <a:r>
              <a:rPr b="1" lang="en-US" sz="2000" spc="-1" strike="noStrike">
                <a:latin typeface="Arial"/>
              </a:rPr>
              <a:t>downregulated</a:t>
            </a:r>
            <a:r>
              <a:rPr b="0" lang="en-US" sz="2000" spc="-1" strike="noStrike">
                <a:latin typeface="Arial"/>
              </a:rPr>
              <a:t> (lower expression).</a:t>
            </a:r>
            <a:endParaRPr b="0" lang="es-ES" sz="2000" spc="-1" strike="noStrike">
              <a:latin typeface="Arial"/>
            </a:endParaRPr>
          </a:p>
          <a:p>
            <a:pPr marL="216000" indent="-216000">
              <a:lnSpc>
                <a:spcPct val="100000"/>
              </a:lnSpc>
            </a:pPr>
            <a:r>
              <a:rPr b="1" lang="en-US" sz="2000" spc="-1" strike="noStrike">
                <a:latin typeface="Arial"/>
              </a:rPr>
              <a:t>Y-axis (–log10 p-value or q-value)</a:t>
            </a:r>
            <a:r>
              <a:rPr b="0" lang="en-US" sz="2000" spc="-1" strike="noStrike">
                <a:latin typeface="Arial"/>
              </a:rPr>
              <a:t> This represents the </a:t>
            </a:r>
            <a:r>
              <a:rPr b="1" lang="en-US" sz="2000" spc="-1" strike="noStrike">
                <a:latin typeface="Arial"/>
              </a:rPr>
              <a:t>statistical significance</a:t>
            </a:r>
            <a:r>
              <a:rPr b="0" lang="en-US" sz="2000" spc="-1" strike="noStrike">
                <a:latin typeface="Arial"/>
              </a:rPr>
              <a:t> of the change.</a:t>
            </a:r>
            <a:endParaRPr b="0" lang="es-ES" sz="2000" spc="-1" strike="noStrike">
              <a:latin typeface="Arial"/>
            </a:endParaRPr>
          </a:p>
          <a:p>
            <a:pPr marL="216000" indent="-216000">
              <a:lnSpc>
                <a:spcPct val="100000"/>
              </a:lnSpc>
            </a:pPr>
            <a:r>
              <a:rPr b="0" lang="en-US" sz="2000" spc="-1" strike="noStrike">
                <a:latin typeface="Arial"/>
              </a:rPr>
              <a:t>The higher the point, the more statistically significant the result (smaller p-value or q-value).</a:t>
            </a:r>
            <a:endParaRPr b="0" lang="es-ES" sz="2000" spc="-1" strike="noStrike">
              <a:latin typeface="Arial"/>
            </a:endParaRPr>
          </a:p>
          <a:p>
            <a:pPr marL="216000" indent="-216000">
              <a:lnSpc>
                <a:spcPct val="100000"/>
              </a:lnSpc>
            </a:pPr>
            <a:r>
              <a:rPr b="0" lang="en-US" sz="2000" spc="-1" strike="noStrike">
                <a:latin typeface="Arial"/>
              </a:rPr>
              <a:t>Sleuth often uses the adjusted p-value (</a:t>
            </a:r>
            <a:r>
              <a:rPr b="0" i="1" lang="en-US" sz="2000" spc="-1" strike="noStrike">
                <a:latin typeface="Arial"/>
              </a:rPr>
              <a:t>q-value</a:t>
            </a:r>
            <a:r>
              <a:rPr b="0" lang="en-US" sz="2000" spc="-1" strike="noStrike">
                <a:latin typeface="Arial"/>
              </a:rPr>
              <a:t>) to account for multiple testing.</a:t>
            </a:r>
            <a:endParaRPr b="0" lang="es-ES" sz="2000" spc="-1" strike="noStrike">
              <a:latin typeface="Arial"/>
            </a:endParaRPr>
          </a:p>
          <a:p>
            <a:pPr marL="216000" indent="-216000">
              <a:lnSpc>
                <a:spcPct val="100000"/>
              </a:lnSpc>
            </a:pPr>
            <a:r>
              <a:rPr b="1" lang="en-US" sz="2000" spc="-1" strike="noStrike">
                <a:latin typeface="Arial"/>
              </a:rPr>
              <a:t>Each point</a:t>
            </a:r>
            <a:r>
              <a:rPr b="0" lang="en-US" sz="2000" spc="-1" strike="noStrike">
                <a:latin typeface="Arial"/>
              </a:rPr>
              <a:t> Corresponds to a gene or transcript. Its position reflects both:</a:t>
            </a:r>
            <a:endParaRPr b="0" lang="es-ES" sz="2000" spc="-1" strike="noStrike">
              <a:latin typeface="Arial"/>
            </a:endParaRPr>
          </a:p>
          <a:p>
            <a:pPr marL="216000" indent="-216000">
              <a:lnSpc>
                <a:spcPct val="100000"/>
              </a:lnSpc>
            </a:pPr>
            <a:r>
              <a:rPr b="0" lang="en-US" sz="2000" spc="-1" strike="noStrike">
                <a:latin typeface="Arial"/>
              </a:rPr>
              <a:t>The </a:t>
            </a:r>
            <a:r>
              <a:rPr b="1" lang="en-US" sz="2000" spc="-1" strike="noStrike">
                <a:latin typeface="Arial"/>
              </a:rPr>
              <a:t>biological effect size</a:t>
            </a:r>
            <a:r>
              <a:rPr b="0" lang="en-US" sz="2000" spc="-1" strike="noStrike">
                <a:latin typeface="Arial"/>
              </a:rPr>
              <a:t> (fold change).</a:t>
            </a:r>
            <a:endParaRPr b="0" lang="es-ES" sz="2000" spc="-1" strike="noStrike">
              <a:latin typeface="Arial"/>
            </a:endParaRPr>
          </a:p>
          <a:p>
            <a:pPr marL="216000" indent="-216000">
              <a:lnSpc>
                <a:spcPct val="100000"/>
              </a:lnSpc>
            </a:pPr>
            <a:r>
              <a:rPr b="0" lang="en-US" sz="2000" spc="-1" strike="noStrike">
                <a:latin typeface="Arial"/>
              </a:rPr>
              <a:t>The </a:t>
            </a:r>
            <a:r>
              <a:rPr b="1" lang="en-US" sz="2000" spc="-1" strike="noStrike">
                <a:latin typeface="Arial"/>
              </a:rPr>
              <a:t>confidence in that effect</a:t>
            </a:r>
            <a:r>
              <a:rPr b="0" lang="en-US" sz="2000" spc="-1" strike="noStrike">
                <a:latin typeface="Arial"/>
              </a:rPr>
              <a:t> (significance).</a:t>
            </a:r>
            <a:endParaRPr b="0" lang="es-ES" sz="2000" spc="-1" strike="noStrike">
              <a:latin typeface="Arial"/>
            </a:endParaRPr>
          </a:p>
          <a:p>
            <a:pPr marL="216000" indent="-216000">
              <a:lnSpc>
                <a:spcPct val="100000"/>
              </a:lnSpc>
            </a:pPr>
            <a:r>
              <a:rPr b="0" lang="en-US" sz="2000" spc="-1" strike="noStrike">
                <a:latin typeface="Arial"/>
              </a:rPr>
              <a:t>-------------------------------------------------------------</a:t>
            </a:r>
            <a:endParaRPr b="0" lang="es-ES" sz="2000" spc="-1" strike="noStrike">
              <a:latin typeface="Arial"/>
            </a:endParaRPr>
          </a:p>
          <a:p>
            <a:pPr marL="216000" indent="-216000">
              <a:lnSpc>
                <a:spcPct val="100000"/>
              </a:lnSpc>
            </a:pPr>
            <a:r>
              <a:rPr b="0" lang="en-US" sz="2000" spc="-1" strike="noStrike">
                <a:latin typeface="Arial"/>
              </a:rPr>
              <a:t>-------------------------------------------------------------</a:t>
            </a:r>
            <a:endParaRPr b="0" lang="es-ES" sz="2000" spc="-1" strike="noStrike">
              <a:latin typeface="Arial"/>
            </a:endParaRPr>
          </a:p>
          <a:p>
            <a:pPr marL="216000" indent="-216000">
              <a:lnSpc>
                <a:spcPct val="100000"/>
              </a:lnSpc>
            </a:pPr>
            <a:r>
              <a:rPr b="1" lang="en-US" sz="1200" spc="-1" strike="noStrike">
                <a:solidFill>
                  <a:srgbClr val="000000"/>
                </a:solidFill>
                <a:latin typeface="+mn-lt"/>
                <a:ea typeface="+mn-ea"/>
              </a:rPr>
              <a:t>target_id:</a:t>
            </a:r>
            <a:r>
              <a:rPr b="1" lang="en-US" sz="2000" spc="-1" strike="noStrike">
                <a:solidFill>
                  <a:srgbClr val="000000"/>
                </a:solidFill>
                <a:latin typeface="+mn-lt"/>
                <a:ea typeface="+mn-ea"/>
              </a:rPr>
              <a:t> </a:t>
            </a:r>
            <a:r>
              <a:rPr b="0" lang="en-US" sz="2000" spc="-1" strike="noStrike">
                <a:solidFill>
                  <a:srgbClr val="000000"/>
                </a:solidFill>
                <a:latin typeface="+mn-lt"/>
                <a:ea typeface="+mn-ea"/>
              </a:rPr>
              <a:t>The identifier of the transcript or gene (usually the kallisto transcript ID).</a:t>
            </a:r>
            <a:endParaRPr b="0" lang="es-ES" sz="2000" spc="-1" strike="noStrike">
              <a:latin typeface="Arial"/>
            </a:endParaRPr>
          </a:p>
          <a:p>
            <a:pPr marL="216000" indent="-216000">
              <a:lnSpc>
                <a:spcPct val="100000"/>
              </a:lnSpc>
            </a:pPr>
            <a:r>
              <a:rPr b="1" lang="en-US" sz="1200" spc="-1" strike="noStrike">
                <a:solidFill>
                  <a:srgbClr val="000000"/>
                </a:solidFill>
                <a:latin typeface="+mn-lt"/>
                <a:ea typeface="+mn-ea"/>
              </a:rPr>
              <a:t>pval:</a:t>
            </a:r>
            <a:r>
              <a:rPr b="1" lang="en-US" sz="2000" spc="-1" strike="noStrike">
                <a:solidFill>
                  <a:srgbClr val="000000"/>
                </a:solidFill>
                <a:latin typeface="+mn-lt"/>
                <a:ea typeface="+mn-ea"/>
              </a:rPr>
              <a:t> </a:t>
            </a:r>
            <a:r>
              <a:rPr b="0" lang="en-US" sz="2000" spc="-1" strike="noStrike">
                <a:solidFill>
                  <a:srgbClr val="000000"/>
                </a:solidFill>
                <a:latin typeface="+mn-lt"/>
                <a:ea typeface="+mn-ea"/>
              </a:rPr>
              <a:t>The raw </a:t>
            </a:r>
            <a:r>
              <a:rPr b="0" i="1" lang="en-US" sz="2000" spc="-1" strike="noStrike">
                <a:solidFill>
                  <a:srgbClr val="000000"/>
                </a:solidFill>
                <a:latin typeface="+mn-lt"/>
                <a:ea typeface="+mn-ea"/>
              </a:rPr>
              <a:t>p-value</a:t>
            </a:r>
            <a:r>
              <a:rPr b="0" lang="en-US" sz="2000" spc="-1" strike="noStrike">
                <a:solidFill>
                  <a:srgbClr val="000000"/>
                </a:solidFill>
                <a:latin typeface="+mn-lt"/>
                <a:ea typeface="+mn-ea"/>
              </a:rPr>
              <a:t> from the statistical test of differential expression. It indicates the probability of observing such an effect if there were no real difference.</a:t>
            </a:r>
            <a:endParaRPr b="0" lang="es-ES" sz="2000" spc="-1" strike="noStrike">
              <a:latin typeface="Arial"/>
            </a:endParaRPr>
          </a:p>
          <a:p>
            <a:pPr marL="216000" indent="-216000">
              <a:lnSpc>
                <a:spcPct val="100000"/>
              </a:lnSpc>
            </a:pPr>
            <a:r>
              <a:rPr b="1" lang="en-US" sz="1200" spc="-1" strike="noStrike">
                <a:solidFill>
                  <a:srgbClr val="000000"/>
                </a:solidFill>
                <a:latin typeface="+mn-lt"/>
                <a:ea typeface="+mn-ea"/>
              </a:rPr>
              <a:t>qval:</a:t>
            </a:r>
            <a:r>
              <a:rPr b="1" lang="en-US" sz="2000" spc="-1" strike="noStrike">
                <a:solidFill>
                  <a:srgbClr val="000000"/>
                </a:solidFill>
                <a:latin typeface="+mn-lt"/>
                <a:ea typeface="+mn-ea"/>
              </a:rPr>
              <a:t> </a:t>
            </a:r>
            <a:r>
              <a:rPr b="0" lang="en-US" sz="2000" spc="-1" strike="noStrike">
                <a:solidFill>
                  <a:srgbClr val="000000"/>
                </a:solidFill>
                <a:latin typeface="+mn-lt"/>
                <a:ea typeface="+mn-ea"/>
              </a:rPr>
              <a:t>The </a:t>
            </a:r>
            <a:r>
              <a:rPr b="0" i="1" lang="en-US" sz="2000" spc="-1" strike="noStrike">
                <a:solidFill>
                  <a:srgbClr val="000000"/>
                </a:solidFill>
                <a:latin typeface="+mn-lt"/>
                <a:ea typeface="+mn-ea"/>
              </a:rPr>
              <a:t>p-value</a:t>
            </a:r>
            <a:r>
              <a:rPr b="0" lang="en-US" sz="2000" spc="-1" strike="noStrike">
                <a:solidFill>
                  <a:srgbClr val="000000"/>
                </a:solidFill>
                <a:latin typeface="+mn-lt"/>
                <a:ea typeface="+mn-ea"/>
              </a:rPr>
              <a:t> adjusted for multiple testing using False Discovery Rate (FDR). This is more reliable for identifying truly significant genes when thousands of tests are performed.</a:t>
            </a:r>
            <a:endParaRPr b="0" lang="es-ES" sz="2000" spc="-1" strike="noStrike">
              <a:latin typeface="Arial"/>
            </a:endParaRPr>
          </a:p>
          <a:p>
            <a:pPr marL="216000" indent="-216000">
              <a:lnSpc>
                <a:spcPct val="100000"/>
              </a:lnSpc>
            </a:pPr>
            <a:r>
              <a:rPr b="1" lang="en-US" sz="1200" spc="-1" strike="noStrike">
                <a:solidFill>
                  <a:srgbClr val="000000"/>
                </a:solidFill>
                <a:latin typeface="+mn-lt"/>
                <a:ea typeface="+mn-ea"/>
              </a:rPr>
              <a:t>b:</a:t>
            </a:r>
            <a:r>
              <a:rPr b="1" lang="en-US" sz="2000" spc="-1" strike="noStrike">
                <a:solidFill>
                  <a:srgbClr val="000000"/>
                </a:solidFill>
                <a:latin typeface="+mn-lt"/>
                <a:ea typeface="+mn-ea"/>
              </a:rPr>
              <a:t> </a:t>
            </a:r>
            <a:r>
              <a:rPr b="0" lang="en-US" sz="2000" spc="-1" strike="noStrike">
                <a:solidFill>
                  <a:srgbClr val="000000"/>
                </a:solidFill>
                <a:latin typeface="+mn-lt"/>
                <a:ea typeface="+mn-ea"/>
              </a:rPr>
              <a:t>The estimated coefficient from the linear model. In practice, this represents the </a:t>
            </a:r>
            <a:r>
              <a:rPr b="1" lang="en-US" sz="2000" spc="-1" strike="noStrike">
                <a:solidFill>
                  <a:srgbClr val="000000"/>
                </a:solidFill>
                <a:latin typeface="+mn-lt"/>
                <a:ea typeface="+mn-ea"/>
              </a:rPr>
              <a:t>log2 fold change</a:t>
            </a:r>
            <a:r>
              <a:rPr b="0" lang="en-US" sz="2000" spc="-1" strike="noStrike">
                <a:solidFill>
                  <a:srgbClr val="000000"/>
                </a:solidFill>
                <a:latin typeface="+mn-lt"/>
                <a:ea typeface="+mn-ea"/>
              </a:rPr>
              <a:t> between conditions.</a:t>
            </a:r>
            <a:endParaRPr b="0" lang="es-ES" sz="2000" spc="-1" strike="noStrike">
              <a:latin typeface="Arial"/>
            </a:endParaRPr>
          </a:p>
          <a:p>
            <a:pPr marL="216000" indent="-216000">
              <a:lnSpc>
                <a:spcPct val="100000"/>
              </a:lnSpc>
            </a:pPr>
            <a:r>
              <a:rPr b="1" lang="en-US" sz="1200" spc="-1" strike="noStrike">
                <a:solidFill>
                  <a:srgbClr val="000000"/>
                </a:solidFill>
                <a:latin typeface="+mn-lt"/>
                <a:ea typeface="+mn-ea"/>
              </a:rPr>
              <a:t>se_b:</a:t>
            </a:r>
            <a:r>
              <a:rPr b="1" lang="en-US" sz="2000" spc="-1" strike="noStrike">
                <a:solidFill>
                  <a:srgbClr val="000000"/>
                </a:solidFill>
                <a:latin typeface="+mn-lt"/>
                <a:ea typeface="+mn-ea"/>
              </a:rPr>
              <a:t> </a:t>
            </a:r>
            <a:r>
              <a:rPr b="0" lang="en-US" sz="2000" spc="-1" strike="noStrike">
                <a:solidFill>
                  <a:srgbClr val="000000"/>
                </a:solidFill>
                <a:latin typeface="+mn-lt"/>
                <a:ea typeface="+mn-ea"/>
              </a:rPr>
              <a:t>The standard error of the coefficient </a:t>
            </a:r>
            <a:r>
              <a:rPr b="0" lang="en-US" sz="1200" spc="-1" strike="noStrike">
                <a:solidFill>
                  <a:srgbClr val="000000"/>
                </a:solidFill>
                <a:latin typeface="+mn-lt"/>
                <a:ea typeface="+mn-ea"/>
              </a:rPr>
              <a:t>b</a:t>
            </a:r>
            <a:r>
              <a:rPr b="0" lang="en-US" sz="2000" spc="-1" strike="noStrike">
                <a:solidFill>
                  <a:srgbClr val="000000"/>
                </a:solidFill>
                <a:latin typeface="+mn-lt"/>
                <a:ea typeface="+mn-ea"/>
              </a:rPr>
              <a:t>. It measures the uncertainty of the fold change estimate.</a:t>
            </a:r>
            <a:endParaRPr b="0" lang="es-ES" sz="2000" spc="-1" strike="noStrike">
              <a:latin typeface="Arial"/>
            </a:endParaRPr>
          </a:p>
          <a:p>
            <a:pPr marL="216000" indent="-216000">
              <a:lnSpc>
                <a:spcPct val="100000"/>
              </a:lnSpc>
            </a:pPr>
            <a:r>
              <a:rPr b="1" lang="en-US" sz="1200" spc="-1" strike="noStrike">
                <a:solidFill>
                  <a:srgbClr val="000000"/>
                </a:solidFill>
                <a:latin typeface="+mn-lt"/>
                <a:ea typeface="+mn-ea"/>
              </a:rPr>
              <a:t>mean:</a:t>
            </a:r>
            <a:r>
              <a:rPr b="1" lang="en-US" sz="2000" spc="-1" strike="noStrike">
                <a:solidFill>
                  <a:srgbClr val="000000"/>
                </a:solidFill>
                <a:latin typeface="+mn-lt"/>
                <a:ea typeface="+mn-ea"/>
              </a:rPr>
              <a:t> </a:t>
            </a:r>
            <a:r>
              <a:rPr b="0" lang="en-US" sz="2000" spc="-1" strike="noStrike">
                <a:solidFill>
                  <a:srgbClr val="000000"/>
                </a:solidFill>
                <a:latin typeface="+mn-lt"/>
                <a:ea typeface="+mn-ea"/>
              </a:rPr>
              <a:t>The average abundance (TPM or normalized counts) of the transcript across samples.</a:t>
            </a:r>
            <a:endParaRPr b="0" lang="es-ES" sz="2000" spc="-1" strike="noStrike">
              <a:latin typeface="Arial"/>
            </a:endParaRPr>
          </a:p>
          <a:p>
            <a:pPr marL="216000" indent="-216000">
              <a:lnSpc>
                <a:spcPct val="100000"/>
              </a:lnSpc>
            </a:pPr>
            <a:r>
              <a:rPr b="1" lang="en-US" sz="1200" spc="-1" strike="noStrike">
                <a:solidFill>
                  <a:srgbClr val="000000"/>
                </a:solidFill>
                <a:latin typeface="+mn-lt"/>
                <a:ea typeface="+mn-ea"/>
              </a:rPr>
              <a:t>var:</a:t>
            </a:r>
            <a:r>
              <a:rPr b="1" lang="en-US" sz="2000" spc="-1" strike="noStrike">
                <a:solidFill>
                  <a:srgbClr val="000000"/>
                </a:solidFill>
                <a:latin typeface="+mn-lt"/>
                <a:ea typeface="+mn-ea"/>
              </a:rPr>
              <a:t> </a:t>
            </a:r>
            <a:r>
              <a:rPr b="0" lang="en-US" sz="2000" spc="-1" strike="noStrike">
                <a:solidFill>
                  <a:srgbClr val="000000"/>
                </a:solidFill>
                <a:latin typeface="+mn-lt"/>
                <a:ea typeface="+mn-ea"/>
              </a:rPr>
              <a:t>The total observed variance in transcript abundance across samples.</a:t>
            </a:r>
            <a:endParaRPr b="0" lang="es-ES" sz="2000" spc="-1" strike="noStrike">
              <a:latin typeface="Arial"/>
            </a:endParaRPr>
          </a:p>
          <a:p>
            <a:pPr marL="216000" indent="-216000">
              <a:lnSpc>
                <a:spcPct val="100000"/>
              </a:lnSpc>
            </a:pPr>
            <a:r>
              <a:rPr b="1" lang="en-US" sz="1200" spc="-1" strike="noStrike">
                <a:solidFill>
                  <a:srgbClr val="000000"/>
                </a:solidFill>
                <a:latin typeface="+mn-lt"/>
                <a:ea typeface="+mn-ea"/>
              </a:rPr>
              <a:t>tech_var:</a:t>
            </a:r>
            <a:r>
              <a:rPr b="1" lang="en-US" sz="2000" spc="-1" strike="noStrike">
                <a:solidFill>
                  <a:srgbClr val="000000"/>
                </a:solidFill>
                <a:latin typeface="+mn-lt"/>
                <a:ea typeface="+mn-ea"/>
              </a:rPr>
              <a:t> </a:t>
            </a:r>
            <a:r>
              <a:rPr b="0" lang="en-US" sz="2000" spc="-1" strike="noStrike">
                <a:solidFill>
                  <a:srgbClr val="000000"/>
                </a:solidFill>
                <a:latin typeface="+mn-lt"/>
                <a:ea typeface="+mn-ea"/>
              </a:rPr>
              <a:t>The technical variance estimated from kallisto bootstraps. This reflects uncertainty due to the quantification process rather than biological differences.</a:t>
            </a:r>
            <a:endParaRPr b="0" lang="es-ES" sz="2000" spc="-1" strike="noStrike">
              <a:latin typeface="Arial"/>
            </a:endParaRPr>
          </a:p>
          <a:p>
            <a:pPr marL="216000" indent="-216000">
              <a:lnSpc>
                <a:spcPct val="100000"/>
              </a:lnSpc>
            </a:pPr>
            <a:r>
              <a:rPr b="1" lang="en-US" sz="1200" spc="-1" strike="noStrike">
                <a:solidFill>
                  <a:srgbClr val="000000"/>
                </a:solidFill>
                <a:latin typeface="+mn-lt"/>
                <a:ea typeface="+mn-ea"/>
              </a:rPr>
              <a:t>sigma_sq:</a:t>
            </a:r>
            <a:r>
              <a:rPr b="1" lang="en-US" sz="2000" spc="-1" strike="noStrike">
                <a:solidFill>
                  <a:srgbClr val="000000"/>
                </a:solidFill>
                <a:latin typeface="+mn-lt"/>
                <a:ea typeface="+mn-ea"/>
              </a:rPr>
              <a:t> </a:t>
            </a:r>
            <a:r>
              <a:rPr b="0" lang="en-US" sz="2000" spc="-1" strike="noStrike">
                <a:solidFill>
                  <a:srgbClr val="000000"/>
                </a:solidFill>
                <a:latin typeface="+mn-lt"/>
                <a:ea typeface="+mn-ea"/>
              </a:rPr>
              <a:t>The initial estimate of biological variance (after separating out technical variance).</a:t>
            </a:r>
            <a:endParaRPr b="0" lang="es-ES" sz="2000" spc="-1" strike="noStrike">
              <a:latin typeface="Arial"/>
            </a:endParaRPr>
          </a:p>
          <a:p>
            <a:pPr marL="216000" indent="-216000">
              <a:lnSpc>
                <a:spcPct val="100000"/>
              </a:lnSpc>
            </a:pPr>
            <a:r>
              <a:rPr b="1" lang="en-US" sz="1200" spc="-1" strike="noStrike">
                <a:solidFill>
                  <a:srgbClr val="000000"/>
                </a:solidFill>
                <a:latin typeface="+mn-lt"/>
                <a:ea typeface="+mn-ea"/>
              </a:rPr>
              <a:t>smooth_sigma_sq:</a:t>
            </a:r>
            <a:r>
              <a:rPr b="1" lang="en-US" sz="2000" spc="-1" strike="noStrike">
                <a:solidFill>
                  <a:srgbClr val="000000"/>
                </a:solidFill>
                <a:latin typeface="+mn-lt"/>
                <a:ea typeface="+mn-ea"/>
              </a:rPr>
              <a:t> </a:t>
            </a:r>
            <a:r>
              <a:rPr b="0" lang="en-US" sz="2000" spc="-1" strike="noStrike">
                <a:solidFill>
                  <a:srgbClr val="000000"/>
                </a:solidFill>
                <a:latin typeface="+mn-lt"/>
                <a:ea typeface="+mn-ea"/>
              </a:rPr>
              <a:t>A smoothed version of </a:t>
            </a:r>
            <a:r>
              <a:rPr b="0" lang="en-US" sz="1200" spc="-1" strike="noStrike">
                <a:solidFill>
                  <a:srgbClr val="000000"/>
                </a:solidFill>
                <a:latin typeface="+mn-lt"/>
                <a:ea typeface="+mn-ea"/>
              </a:rPr>
              <a:t>sigma_sq</a:t>
            </a:r>
            <a:r>
              <a:rPr b="0" lang="en-US" sz="2000" spc="-1" strike="noStrike">
                <a:solidFill>
                  <a:srgbClr val="000000"/>
                </a:solidFill>
                <a:latin typeface="+mn-lt"/>
                <a:ea typeface="+mn-ea"/>
              </a:rPr>
              <a:t>, obtained using shrinkage or regularization to stabilize estimates for transcripts with limited data.</a:t>
            </a:r>
            <a:endParaRPr b="0" lang="es-ES" sz="2000" spc="-1" strike="noStrike">
              <a:latin typeface="Arial"/>
            </a:endParaRPr>
          </a:p>
          <a:p>
            <a:pPr marL="216000" indent="-216000">
              <a:lnSpc>
                <a:spcPct val="100000"/>
              </a:lnSpc>
            </a:pPr>
            <a:r>
              <a:rPr b="1" lang="en-US" sz="1200" spc="-1" strike="noStrike">
                <a:solidFill>
                  <a:srgbClr val="000000"/>
                </a:solidFill>
                <a:latin typeface="+mn-lt"/>
                <a:ea typeface="+mn-ea"/>
              </a:rPr>
              <a:t>final_sigma_sq:</a:t>
            </a:r>
            <a:r>
              <a:rPr b="1" lang="en-US" sz="2000" spc="-1" strike="noStrike">
                <a:solidFill>
                  <a:srgbClr val="000000"/>
                </a:solidFill>
                <a:latin typeface="+mn-lt"/>
                <a:ea typeface="+mn-ea"/>
              </a:rPr>
              <a:t> </a:t>
            </a:r>
            <a:r>
              <a:rPr b="0" lang="en-US" sz="2000" spc="-1" strike="noStrike">
                <a:solidFill>
                  <a:srgbClr val="000000"/>
                </a:solidFill>
                <a:latin typeface="+mn-lt"/>
                <a:ea typeface="+mn-ea"/>
              </a:rPr>
              <a:t>The final biological variance estimate used in the model. It combines information from </a:t>
            </a:r>
            <a:r>
              <a:rPr b="0" lang="en-US" sz="1200" spc="-1" strike="noStrike">
                <a:solidFill>
                  <a:srgbClr val="000000"/>
                </a:solidFill>
                <a:latin typeface="+mn-lt"/>
                <a:ea typeface="+mn-ea"/>
              </a:rPr>
              <a:t>sigma_sq</a:t>
            </a:r>
            <a:r>
              <a:rPr b="0" lang="en-US" sz="2000" spc="-1" strike="noStrike">
                <a:solidFill>
                  <a:srgbClr val="000000"/>
                </a:solidFill>
                <a:latin typeface="+mn-lt"/>
                <a:ea typeface="+mn-ea"/>
              </a:rPr>
              <a:t> and </a:t>
            </a:r>
            <a:r>
              <a:rPr b="0" lang="en-US" sz="1200" spc="-1" strike="noStrike">
                <a:solidFill>
                  <a:srgbClr val="000000"/>
                </a:solidFill>
                <a:latin typeface="+mn-lt"/>
                <a:ea typeface="+mn-ea"/>
              </a:rPr>
              <a:t>smooth_sigma_sq</a:t>
            </a:r>
            <a:r>
              <a:rPr b="0" lang="en-US" sz="2000" spc="-1" strike="noStrike">
                <a:solidFill>
                  <a:srgbClr val="000000"/>
                </a:solidFill>
                <a:latin typeface="+mn-lt"/>
                <a:ea typeface="+mn-ea"/>
              </a:rPr>
              <a:t> to provide a robust variance value.</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endParaRPr b="0" lang="es-ES" sz="2000" spc="-1" strike="noStrike">
              <a:latin typeface="Arial"/>
            </a:endParaRPr>
          </a:p>
        </p:txBody>
      </p:sp>
      <p:sp>
        <p:nvSpPr>
          <p:cNvPr id="851" name="TextShape 3"/>
          <p:cNvSpPr txBox="1"/>
          <p:nvPr/>
        </p:nvSpPr>
        <p:spPr>
          <a:xfrm>
            <a:off x="3884760" y="8685360"/>
            <a:ext cx="2971440" cy="458280"/>
          </a:xfrm>
          <a:prstGeom prst="rect">
            <a:avLst/>
          </a:prstGeom>
          <a:noFill/>
          <a:ln>
            <a:noFill/>
          </a:ln>
        </p:spPr>
        <p:txBody>
          <a:bodyPr anchor="b">
            <a:noAutofit/>
          </a:bodyPr>
          <a:p>
            <a:pPr algn="r">
              <a:lnSpc>
                <a:spcPct val="100000"/>
              </a:lnSpc>
            </a:pPr>
            <a:fld id="{D35DE2E6-ABD8-4553-AD3B-1F119B37D19D}"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sldImg"/>
          </p:nvPr>
        </p:nvSpPr>
        <p:spPr>
          <a:xfrm>
            <a:off x="685800" y="1143000"/>
            <a:ext cx="5486040" cy="3085920"/>
          </a:xfrm>
          <a:prstGeom prst="rect">
            <a:avLst/>
          </a:prstGeom>
        </p:spPr>
      </p:sp>
      <p:sp>
        <p:nvSpPr>
          <p:cNvPr id="853"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What you see in practice</a:t>
            </a:r>
            <a:endParaRPr b="0" lang="es-ES" sz="2000" spc="-1" strike="noStrike">
              <a:latin typeface="Arial"/>
            </a:endParaRPr>
          </a:p>
          <a:p>
            <a:pPr marL="216000" indent="-216000">
              <a:lnSpc>
                <a:spcPct val="100000"/>
              </a:lnSpc>
            </a:pPr>
            <a:r>
              <a:rPr b="0" lang="en-US" sz="2000" spc="-1" strike="noStrike">
                <a:latin typeface="Arial"/>
              </a:rPr>
              <a:t>The curve typically has a </a:t>
            </a:r>
            <a:r>
              <a:rPr b="1" lang="en-US" sz="2000" spc="-1" strike="noStrike">
                <a:latin typeface="Arial"/>
              </a:rPr>
              <a:t>peak at low expression values</a:t>
            </a:r>
            <a:r>
              <a:rPr b="0" lang="en-US" sz="2000" spc="-1" strike="noStrike">
                <a:latin typeface="Arial"/>
              </a:rPr>
              <a:t>, because most transcripts are expressed at low levels.</a:t>
            </a:r>
            <a:endParaRPr b="0" lang="es-ES" sz="2000" spc="-1" strike="noStrike">
              <a:latin typeface="Arial"/>
            </a:endParaRPr>
          </a:p>
          <a:p>
            <a:pPr marL="216000" indent="-216000">
              <a:lnSpc>
                <a:spcPct val="100000"/>
              </a:lnSpc>
            </a:pPr>
            <a:r>
              <a:rPr b="0" lang="en-US" sz="2000" spc="-1" strike="noStrike">
                <a:latin typeface="Arial"/>
              </a:rPr>
              <a:t>There’s often a </a:t>
            </a:r>
            <a:r>
              <a:rPr b="1" lang="en-US" sz="2000" spc="-1" strike="noStrike">
                <a:latin typeface="Arial"/>
              </a:rPr>
              <a:t>long tail toward higher values</a:t>
            </a:r>
            <a:r>
              <a:rPr b="0" lang="en-US" sz="2000" spc="-1" strike="noStrike">
                <a:latin typeface="Arial"/>
              </a:rPr>
              <a:t>, representing fewer transcripts with very high expression.</a:t>
            </a:r>
            <a:endParaRPr b="0" lang="es-ES" sz="2000" spc="-1" strike="noStrike">
              <a:latin typeface="Arial"/>
            </a:endParaRPr>
          </a:p>
          <a:p>
            <a:pPr marL="216000" indent="-216000">
              <a:lnSpc>
                <a:spcPct val="100000"/>
              </a:lnSpc>
            </a:pPr>
            <a:r>
              <a:rPr b="0" lang="en-US" sz="2000" spc="-1" strike="noStrike">
                <a:latin typeface="Arial"/>
              </a:rPr>
              <a:t>By comparing density plots across conditions or replicates, you can check whether the overall distribution of expression is similar (important for normalization and quality control).</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Why Sleuth shows this</a:t>
            </a:r>
            <a:endParaRPr b="0" lang="es-ES" sz="2000" spc="-1" strike="noStrike">
              <a:latin typeface="Arial"/>
            </a:endParaRPr>
          </a:p>
          <a:p>
            <a:pPr marL="216000" indent="-216000">
              <a:lnSpc>
                <a:spcPct val="100000"/>
              </a:lnSpc>
            </a:pPr>
            <a:r>
              <a:rPr b="0" lang="en-US" sz="2000" spc="-1" strike="noStrike">
                <a:latin typeface="Arial"/>
              </a:rPr>
              <a:t>It’s a </a:t>
            </a:r>
            <a:r>
              <a:rPr b="1" lang="en-US" sz="2000" spc="-1" strike="noStrike">
                <a:latin typeface="Arial"/>
              </a:rPr>
              <a:t>QC visualization</a:t>
            </a:r>
            <a:r>
              <a:rPr b="0" lang="en-US" sz="2000" spc="-1" strike="noStrike">
                <a:latin typeface="Arial"/>
              </a:rPr>
              <a:t>: helps you see the global distribution of transcript abundances.</a:t>
            </a:r>
            <a:endParaRPr b="0" lang="es-ES" sz="2000" spc="-1" strike="noStrike">
              <a:latin typeface="Arial"/>
            </a:endParaRPr>
          </a:p>
          <a:p>
            <a:pPr marL="216000" indent="-216000">
              <a:lnSpc>
                <a:spcPct val="100000"/>
              </a:lnSpc>
            </a:pPr>
            <a:r>
              <a:rPr b="0" lang="en-US" sz="2000" spc="-1" strike="noStrike">
                <a:latin typeface="Arial"/>
              </a:rPr>
              <a:t>It highlights whether one sample has a very different distribution (which could indicate technical issues).</a:t>
            </a:r>
            <a:endParaRPr b="0" lang="es-ES" sz="2000" spc="-1" strike="noStrike">
              <a:latin typeface="Arial"/>
            </a:endParaRPr>
          </a:p>
          <a:p>
            <a:pPr marL="216000" indent="-216000">
              <a:lnSpc>
                <a:spcPct val="100000"/>
              </a:lnSpc>
            </a:pPr>
            <a:r>
              <a:rPr b="0" lang="en-US" sz="2000" spc="-1" strike="noStrike">
                <a:latin typeface="Arial"/>
              </a:rPr>
              <a:t>It also illustrates the typical “many low, few high” pattern of transcript expression in RNA-seq data.</a:t>
            </a:r>
            <a:endParaRPr b="0" lang="es-ES" sz="2000" spc="-1" strike="noStrike">
              <a:latin typeface="Arial"/>
            </a:endParaRPr>
          </a:p>
          <a:p>
            <a:pPr marL="216000" indent="-216000">
              <a:lnSpc>
                <a:spcPct val="100000"/>
              </a:lnSpc>
            </a:pPr>
            <a:endParaRPr b="0" lang="es-ES" sz="2000" spc="-1" strike="noStrike">
              <a:latin typeface="Arial"/>
            </a:endParaRPr>
          </a:p>
        </p:txBody>
      </p:sp>
      <p:sp>
        <p:nvSpPr>
          <p:cNvPr id="854" name="TextShape 3"/>
          <p:cNvSpPr txBox="1"/>
          <p:nvPr/>
        </p:nvSpPr>
        <p:spPr>
          <a:xfrm>
            <a:off x="3884760" y="8685360"/>
            <a:ext cx="2971440" cy="458280"/>
          </a:xfrm>
          <a:prstGeom prst="rect">
            <a:avLst/>
          </a:prstGeom>
          <a:noFill/>
          <a:ln>
            <a:noFill/>
          </a:ln>
        </p:spPr>
        <p:txBody>
          <a:bodyPr anchor="b">
            <a:noAutofit/>
          </a:bodyPr>
          <a:p>
            <a:pPr algn="r">
              <a:lnSpc>
                <a:spcPct val="100000"/>
              </a:lnSpc>
            </a:pPr>
            <a:fld id="{E7EF9D28-599A-425D-BE06-7D74DBBC2B19}"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5" name="PlaceHolder 1"/>
          <p:cNvSpPr>
            <a:spLocks noGrp="1"/>
          </p:cNvSpPr>
          <p:nvPr>
            <p:ph type="sldImg"/>
          </p:nvPr>
        </p:nvSpPr>
        <p:spPr>
          <a:xfrm>
            <a:off x="685800" y="1143000"/>
            <a:ext cx="5486040" cy="3085920"/>
          </a:xfrm>
          <a:prstGeom prst="rect">
            <a:avLst/>
          </a:prstGeom>
        </p:spPr>
      </p:sp>
      <p:sp>
        <p:nvSpPr>
          <p:cNvPr id="856"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1" lang="en-US" sz="2000" spc="-1" strike="noStrike">
                <a:latin typeface="Arial"/>
              </a:rPr>
              <a:t>Blue dots:</a:t>
            </a:r>
            <a:r>
              <a:rPr b="0" lang="en-US" sz="2000" spc="-1" strike="noStrike">
                <a:latin typeface="Arial"/>
              </a:rPr>
              <a:t> Transcripts within the interquartile range, used as stable reference points.</a:t>
            </a:r>
            <a:endParaRPr b="0" lang="es-ES" sz="2000" spc="-1" strike="noStrike">
              <a:latin typeface="Arial"/>
            </a:endParaRPr>
          </a:p>
          <a:p>
            <a:pPr marL="216000" indent="-216000">
              <a:lnSpc>
                <a:spcPct val="100000"/>
              </a:lnSpc>
            </a:pPr>
            <a:r>
              <a:rPr b="1" lang="en-US" sz="2000" spc="-1" strike="noStrike">
                <a:latin typeface="Arial"/>
              </a:rPr>
              <a:t>Red curve:</a:t>
            </a:r>
            <a:r>
              <a:rPr b="0" lang="en-US" sz="2000" spc="-1" strike="noStrike">
                <a:latin typeface="Arial"/>
              </a:rPr>
              <a:t> Fitted line showing the relationship between abundance and variance, used for shrinkage (stabilizing variance estimates).</a:t>
            </a:r>
            <a:endParaRPr b="0" lang="es-ES" sz="2000" spc="-1" strike="noStrike">
              <a:latin typeface="Arial"/>
            </a:endParaRPr>
          </a:p>
          <a:p>
            <a:pPr marL="216000" indent="-216000">
              <a:lnSpc>
                <a:spcPct val="100000"/>
              </a:lnSpc>
            </a:pPr>
            <a:r>
              <a:rPr b="1" lang="en-US" sz="2000" spc="-1" strike="noStrike">
                <a:latin typeface="Arial"/>
              </a:rPr>
              <a:t>Points at y = 0:</a:t>
            </a:r>
            <a:r>
              <a:rPr b="0" lang="en-US" sz="2000" spc="-1" strike="noStrike">
                <a:latin typeface="Arial"/>
              </a:rPr>
              <a:t> Cases where inferential variance (from kallisto bootstraps) is greater than the observed raw variance, so Sleuth sets biological variance to zero.</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In summary:</a:t>
            </a:r>
            <a:r>
              <a:rPr b="0" lang="en-US" sz="2000" spc="-1" strike="noStrike">
                <a:latin typeface="Arial"/>
              </a:rPr>
              <a:t> The plot visualizes how transcript variability relates to abundance and shows how Sleuth applies shrinkage to produce robust variance estimates for differential expression analysis.</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0" lang="en-US" sz="2000" spc="-1" strike="noStrike">
                <a:latin typeface="Arial"/>
              </a:rPr>
              <a:t>Shrinkage in Sleuth’s mean–variance plot is a way of </a:t>
            </a:r>
            <a:r>
              <a:rPr b="1" lang="en-US" sz="2000" spc="-1" strike="noStrike">
                <a:latin typeface="Arial"/>
              </a:rPr>
              <a:t>regularizing variance estimates</a:t>
            </a:r>
            <a:r>
              <a:rPr b="0" lang="en-US" sz="2000" spc="-1" strike="noStrike">
                <a:latin typeface="Arial"/>
              </a:rPr>
              <a:t>: noisy points are adjusted toward a smooth trend so that the analysis is more robust and less sensitive to random fluctuations.</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Why it’s useful</a:t>
            </a:r>
            <a:endParaRPr b="0" lang="es-ES" sz="2000" spc="-1" strike="noStrike">
              <a:latin typeface="Arial"/>
            </a:endParaRPr>
          </a:p>
          <a:p>
            <a:pPr marL="216000" indent="-216000">
              <a:lnSpc>
                <a:spcPct val="100000"/>
              </a:lnSpc>
            </a:pPr>
            <a:r>
              <a:rPr b="0" lang="en-US" sz="2000" spc="-1" strike="noStrike">
                <a:latin typeface="Arial"/>
              </a:rPr>
              <a:t>Stabilizes variance estimates across transcripts.</a:t>
            </a:r>
            <a:endParaRPr b="0" lang="es-ES" sz="2000" spc="-1" strike="noStrike">
              <a:latin typeface="Arial"/>
            </a:endParaRPr>
          </a:p>
          <a:p>
            <a:pPr marL="216000" indent="-216000">
              <a:lnSpc>
                <a:spcPct val="100000"/>
              </a:lnSpc>
            </a:pPr>
            <a:r>
              <a:rPr b="0" lang="en-US" sz="2000" spc="-1" strike="noStrike">
                <a:latin typeface="Arial"/>
              </a:rPr>
              <a:t>Prevents low-abundance genes from appearing artificially variable.</a:t>
            </a:r>
            <a:endParaRPr b="0" lang="es-ES" sz="2000" spc="-1" strike="noStrike">
              <a:latin typeface="Arial"/>
            </a:endParaRPr>
          </a:p>
          <a:p>
            <a:pPr marL="216000" indent="-216000">
              <a:lnSpc>
                <a:spcPct val="100000"/>
              </a:lnSpc>
            </a:pPr>
            <a:r>
              <a:rPr b="0" lang="en-US" sz="2000" spc="-1" strike="noStrike">
                <a:latin typeface="Arial"/>
              </a:rPr>
              <a:t>Improves the reliability of downstream statistical tests (like differential expression), because variance is modeled consistently.</a:t>
            </a:r>
            <a:endParaRPr b="0" lang="es-ES" sz="2000" spc="-1" strike="noStrike">
              <a:latin typeface="Arial"/>
            </a:endParaRPr>
          </a:p>
          <a:p>
            <a:pPr marL="216000" indent="-216000">
              <a:lnSpc>
                <a:spcPct val="100000"/>
              </a:lnSpc>
            </a:pPr>
            <a:endParaRPr b="0" lang="es-ES" sz="2000" spc="-1" strike="noStrike">
              <a:latin typeface="Arial"/>
            </a:endParaRPr>
          </a:p>
        </p:txBody>
      </p:sp>
      <p:sp>
        <p:nvSpPr>
          <p:cNvPr id="857" name="TextShape 3"/>
          <p:cNvSpPr txBox="1"/>
          <p:nvPr/>
        </p:nvSpPr>
        <p:spPr>
          <a:xfrm>
            <a:off x="3884760" y="8685360"/>
            <a:ext cx="2971440" cy="458280"/>
          </a:xfrm>
          <a:prstGeom prst="rect">
            <a:avLst/>
          </a:prstGeom>
          <a:noFill/>
          <a:ln>
            <a:noFill/>
          </a:ln>
        </p:spPr>
        <p:txBody>
          <a:bodyPr anchor="b">
            <a:noAutofit/>
          </a:bodyPr>
          <a:p>
            <a:pPr algn="r">
              <a:lnSpc>
                <a:spcPct val="100000"/>
              </a:lnSpc>
            </a:pPr>
            <a:fld id="{55CA0A75-BD98-4A20-80A6-857AC957CBDB}"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8" name="PlaceHolder 1"/>
          <p:cNvSpPr>
            <a:spLocks noGrp="1"/>
          </p:cNvSpPr>
          <p:nvPr>
            <p:ph type="sldImg"/>
          </p:nvPr>
        </p:nvSpPr>
        <p:spPr>
          <a:xfrm>
            <a:off x="685800" y="1143000"/>
            <a:ext cx="5486040" cy="3085920"/>
          </a:xfrm>
          <a:prstGeom prst="rect">
            <a:avLst/>
          </a:prstGeom>
        </p:spPr>
      </p:sp>
      <p:sp>
        <p:nvSpPr>
          <p:cNvPr id="859"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Q–Q (Quantile–Quantile) plots</a:t>
            </a:r>
            <a:r>
              <a:rPr b="0" lang="en-US" sz="2000" spc="-1" strike="noStrike">
                <a:latin typeface="Arial"/>
              </a:rPr>
              <a:t> compare the distribution of observed test statistics (from your RNA-seq analysis) against the distribution expected under the null hypothesis (no differential expression).</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0" lang="en-US" sz="2000" spc="-1" strike="noStrike">
                <a:latin typeface="Arial"/>
              </a:rPr>
              <a:t>The </a:t>
            </a:r>
            <a:r>
              <a:rPr b="1" lang="en-US" sz="2000" spc="-1" strike="noStrike">
                <a:latin typeface="Arial"/>
              </a:rPr>
              <a:t>x-axis</a:t>
            </a:r>
            <a:r>
              <a:rPr b="0" lang="en-US" sz="2000" spc="-1" strike="noStrike">
                <a:latin typeface="Arial"/>
              </a:rPr>
              <a:t> represents the theoretical quantiles (expected values if there were no true differences).</a:t>
            </a:r>
            <a:endParaRPr b="0" lang="es-ES" sz="2000" spc="-1" strike="noStrike">
              <a:latin typeface="Arial"/>
            </a:endParaRPr>
          </a:p>
          <a:p>
            <a:pPr marL="216000" indent="-216000">
              <a:lnSpc>
                <a:spcPct val="100000"/>
              </a:lnSpc>
            </a:pPr>
            <a:r>
              <a:rPr b="0" lang="en-US" sz="2000" spc="-1" strike="noStrike">
                <a:latin typeface="Arial"/>
              </a:rPr>
              <a:t>The </a:t>
            </a:r>
            <a:r>
              <a:rPr b="1" lang="en-US" sz="2000" spc="-1" strike="noStrike">
                <a:latin typeface="Arial"/>
              </a:rPr>
              <a:t>y-axis</a:t>
            </a:r>
            <a:r>
              <a:rPr b="0" lang="en-US" sz="2000" spc="-1" strike="noStrike">
                <a:latin typeface="Arial"/>
              </a:rPr>
              <a:t> represents the observed quantiles (your actual test results; </a:t>
            </a:r>
            <a:r>
              <a:rPr b="1" lang="en-US" sz="2000" spc="-1" strike="noStrike">
                <a:latin typeface="Arial"/>
              </a:rPr>
              <a:t>Likelihood Ratio Test</a:t>
            </a:r>
            <a:r>
              <a:rPr b="0" lang="en-US" sz="2000" spc="-1" strike="noStrike">
                <a:latin typeface="Arial"/>
              </a:rPr>
              <a:t> y el </a:t>
            </a:r>
            <a:r>
              <a:rPr b="1" lang="en-US" sz="2000" spc="-1" strike="noStrike">
                <a:latin typeface="Arial"/>
              </a:rPr>
              <a:t>Wald Test</a:t>
            </a:r>
            <a:r>
              <a:rPr b="0" lang="en-US" sz="2000" spc="-1" strike="noStrike">
                <a:latin typeface="Arial"/>
              </a:rPr>
              <a:t>).</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1" lang="en-US" sz="2000" spc="-1" strike="noStrike">
                <a:latin typeface="Arial"/>
              </a:rPr>
              <a:t>How to interpret it</a:t>
            </a:r>
            <a:endParaRPr b="0" lang="es-ES" sz="2000" spc="-1" strike="noStrike">
              <a:latin typeface="Arial"/>
            </a:endParaRPr>
          </a:p>
          <a:p>
            <a:pPr marL="216000" indent="-216000">
              <a:lnSpc>
                <a:spcPct val="100000"/>
              </a:lnSpc>
            </a:pPr>
            <a:r>
              <a:rPr b="1" lang="en-US" sz="2000" spc="-1" strike="noStrike">
                <a:latin typeface="Arial"/>
              </a:rPr>
              <a:t>Points along the diagonal line:</a:t>
            </a:r>
            <a:r>
              <a:rPr b="0" lang="en-US" sz="2000" spc="-1" strike="noStrike">
                <a:latin typeface="Arial"/>
              </a:rPr>
              <a:t> Observed values match the expected distribution → no evidence of differential expression.</a:t>
            </a:r>
            <a:endParaRPr b="0" lang="es-ES" sz="2000" spc="-1" strike="noStrike">
              <a:latin typeface="Arial"/>
            </a:endParaRPr>
          </a:p>
          <a:p>
            <a:pPr marL="216000" indent="-216000">
              <a:lnSpc>
                <a:spcPct val="100000"/>
              </a:lnSpc>
            </a:pPr>
            <a:r>
              <a:rPr b="1" lang="en-US" sz="2000" spc="-1" strike="noStrike">
                <a:latin typeface="Arial"/>
              </a:rPr>
              <a:t>Points deviating upward from the line:</a:t>
            </a:r>
            <a:r>
              <a:rPr b="0" lang="en-US" sz="2000" spc="-1" strike="noStrike">
                <a:latin typeface="Arial"/>
              </a:rPr>
              <a:t> More extreme test statistics than expected → potential true differential expression.</a:t>
            </a:r>
            <a:endParaRPr b="0" lang="es-ES" sz="2000" spc="-1" strike="noStrike">
              <a:latin typeface="Arial"/>
            </a:endParaRPr>
          </a:p>
          <a:p>
            <a:pPr marL="216000" indent="-216000">
              <a:lnSpc>
                <a:spcPct val="100000"/>
              </a:lnSpc>
            </a:pPr>
            <a:r>
              <a:rPr b="1" lang="en-US" sz="2000" spc="-1" strike="noStrike">
                <a:latin typeface="Arial"/>
              </a:rPr>
              <a:t>Red points:</a:t>
            </a:r>
            <a:r>
              <a:rPr b="0" lang="en-US" sz="2000" spc="-1" strike="noStrike">
                <a:latin typeface="Arial"/>
              </a:rPr>
              <a:t> Genes/transcripts considered </a:t>
            </a:r>
            <a:r>
              <a:rPr b="1" lang="en-US" sz="2000" spc="-1" strike="noStrike">
                <a:latin typeface="Arial"/>
              </a:rPr>
              <a:t>significant</a:t>
            </a:r>
            <a:r>
              <a:rPr b="0" lang="en-US" sz="2000" spc="-1" strike="noStrike">
                <a:latin typeface="Arial"/>
              </a:rPr>
              <a:t> at the chosen FDR threshold (q-value cutoff). These are the candidates Sleuth highlights as differentially expressed.</a:t>
            </a: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endParaRPr b="0" lang="es-ES" sz="2000" spc="-1" strike="noStrike">
              <a:latin typeface="Arial"/>
            </a:endParaRPr>
          </a:p>
          <a:p>
            <a:pPr marL="216000" indent="-216000">
              <a:lnSpc>
                <a:spcPct val="100000"/>
              </a:lnSpc>
            </a:pPr>
            <a:r>
              <a:rPr b="0" lang="en-US" sz="2000" spc="-1" strike="noStrike">
                <a:latin typeface="Arial"/>
              </a:rPr>
              <a:t>Sleuth’s Q–Q plot compares observed vs. expected test statistics. Red points mark significant genes at the chosen FDR level, and deviations from the diagonal line reveal evidence of differential expression beyond random noise.</a:t>
            </a:r>
            <a:endParaRPr b="0" lang="es-ES" sz="2000" spc="-1" strike="noStrike">
              <a:latin typeface="Arial"/>
            </a:endParaRPr>
          </a:p>
        </p:txBody>
      </p:sp>
      <p:sp>
        <p:nvSpPr>
          <p:cNvPr id="86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1EB3ABE2-8D6B-464A-9FE0-7AA201E6656B}"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1" name="PlaceHolder 1"/>
          <p:cNvSpPr>
            <a:spLocks noGrp="1"/>
          </p:cNvSpPr>
          <p:nvPr>
            <p:ph type="sldImg"/>
          </p:nvPr>
        </p:nvSpPr>
        <p:spPr>
          <a:xfrm>
            <a:off x="685800" y="1143000"/>
            <a:ext cx="5486040" cy="3085920"/>
          </a:xfrm>
          <a:prstGeom prst="rect">
            <a:avLst/>
          </a:prstGeom>
        </p:spPr>
      </p:sp>
      <p:sp>
        <p:nvSpPr>
          <p:cNvPr id="862"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endParaRPr b="0" lang="es-ES" sz="2000" spc="-1" strike="noStrike">
              <a:latin typeface="Arial"/>
            </a:endParaRPr>
          </a:p>
          <a:p>
            <a:pPr marL="216000" indent="-216000">
              <a:lnSpc>
                <a:spcPct val="100000"/>
              </a:lnSpc>
            </a:pPr>
            <a:endParaRPr b="0" lang="es-ES" sz="2000" spc="-1" strike="noStrike">
              <a:latin typeface="Arial"/>
            </a:endParaRPr>
          </a:p>
        </p:txBody>
      </p:sp>
      <p:sp>
        <p:nvSpPr>
          <p:cNvPr id="86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48CCEF28-479D-4629-AC12-7D621D7CF2C8}"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4" name="PlaceHolder 1"/>
          <p:cNvSpPr>
            <a:spLocks noGrp="1"/>
          </p:cNvSpPr>
          <p:nvPr>
            <p:ph type="sldImg"/>
          </p:nvPr>
        </p:nvSpPr>
        <p:spPr>
          <a:xfrm>
            <a:off x="685800" y="1143000"/>
            <a:ext cx="5486040" cy="3085920"/>
          </a:xfrm>
          <a:prstGeom prst="rect">
            <a:avLst/>
          </a:prstGeom>
        </p:spPr>
      </p:sp>
      <p:sp>
        <p:nvSpPr>
          <p:cNvPr id="865"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https://fuzzyatelin.github.io/bioanth-stats/module-F21-Group1/module-F21-Group1.html</a:t>
            </a:r>
            <a:endParaRPr b="0" lang="es-ES" sz="2000" spc="-1" strike="noStrike">
              <a:latin typeface="Arial"/>
            </a:endParaRPr>
          </a:p>
        </p:txBody>
      </p:sp>
      <p:sp>
        <p:nvSpPr>
          <p:cNvPr id="86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53A8A849-A418-4F1C-9FD4-2553E23AD1E7}"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7" name="PlaceHolder 1"/>
          <p:cNvSpPr>
            <a:spLocks noGrp="1"/>
          </p:cNvSpPr>
          <p:nvPr>
            <p:ph type="sldImg"/>
          </p:nvPr>
        </p:nvSpPr>
        <p:spPr>
          <a:xfrm>
            <a:off x="685800" y="1143000"/>
            <a:ext cx="5486040" cy="3085920"/>
          </a:xfrm>
          <a:prstGeom prst="rect">
            <a:avLst/>
          </a:prstGeom>
        </p:spPr>
      </p:sp>
      <p:sp>
        <p:nvSpPr>
          <p:cNvPr id="868"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869" name="TextShape 3"/>
          <p:cNvSpPr txBox="1"/>
          <p:nvPr/>
        </p:nvSpPr>
        <p:spPr>
          <a:xfrm>
            <a:off x="3884760" y="8685360"/>
            <a:ext cx="2971440" cy="458280"/>
          </a:xfrm>
          <a:prstGeom prst="rect">
            <a:avLst/>
          </a:prstGeom>
          <a:noFill/>
          <a:ln>
            <a:noFill/>
          </a:ln>
        </p:spPr>
        <p:txBody>
          <a:bodyPr anchor="b">
            <a:noAutofit/>
          </a:bodyPr>
          <a:p>
            <a:pPr algn="r">
              <a:lnSpc>
                <a:spcPct val="100000"/>
              </a:lnSpc>
            </a:pPr>
            <a:fld id="{76082AF1-EDCA-40FE-9B8F-C286EBA2E3DB}"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0" name="PlaceHolder 1"/>
          <p:cNvSpPr>
            <a:spLocks noGrp="1"/>
          </p:cNvSpPr>
          <p:nvPr>
            <p:ph type="sldImg"/>
          </p:nvPr>
        </p:nvSpPr>
        <p:spPr>
          <a:xfrm>
            <a:off x="685800" y="1143000"/>
            <a:ext cx="5486040" cy="3085920"/>
          </a:xfrm>
          <a:prstGeom prst="rect">
            <a:avLst/>
          </a:prstGeom>
        </p:spPr>
      </p:sp>
      <p:sp>
        <p:nvSpPr>
          <p:cNvPr id="871"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872" name="TextShape 3"/>
          <p:cNvSpPr txBox="1"/>
          <p:nvPr/>
        </p:nvSpPr>
        <p:spPr>
          <a:xfrm>
            <a:off x="3884760" y="8685360"/>
            <a:ext cx="2971440" cy="458280"/>
          </a:xfrm>
          <a:prstGeom prst="rect">
            <a:avLst/>
          </a:prstGeom>
          <a:noFill/>
          <a:ln>
            <a:noFill/>
          </a:ln>
        </p:spPr>
        <p:txBody>
          <a:bodyPr anchor="b">
            <a:noAutofit/>
          </a:bodyPr>
          <a:p>
            <a:pPr algn="r">
              <a:lnSpc>
                <a:spcPct val="100000"/>
              </a:lnSpc>
            </a:pPr>
            <a:fld id="{E2391F1B-C247-4F94-B826-DBEDC588237B}"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PlaceHolder 1"/>
          <p:cNvSpPr>
            <a:spLocks noGrp="1"/>
          </p:cNvSpPr>
          <p:nvPr>
            <p:ph type="sldImg"/>
          </p:nvPr>
        </p:nvSpPr>
        <p:spPr>
          <a:xfrm>
            <a:off x="685800" y="1143000"/>
            <a:ext cx="5486040" cy="3085920"/>
          </a:xfrm>
          <a:prstGeom prst="rect">
            <a:avLst/>
          </a:prstGeom>
        </p:spPr>
      </p:sp>
      <p:sp>
        <p:nvSpPr>
          <p:cNvPr id="874"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875" name="TextShape 3"/>
          <p:cNvSpPr txBox="1"/>
          <p:nvPr/>
        </p:nvSpPr>
        <p:spPr>
          <a:xfrm>
            <a:off x="3884760" y="8685360"/>
            <a:ext cx="2971440" cy="458280"/>
          </a:xfrm>
          <a:prstGeom prst="rect">
            <a:avLst/>
          </a:prstGeom>
          <a:noFill/>
          <a:ln>
            <a:noFill/>
          </a:ln>
        </p:spPr>
        <p:txBody>
          <a:bodyPr anchor="b">
            <a:noAutofit/>
          </a:bodyPr>
          <a:p>
            <a:pPr algn="r">
              <a:lnSpc>
                <a:spcPct val="100000"/>
              </a:lnSpc>
            </a:pPr>
            <a:fld id="{AEE86D75-A9F3-44A5-ADE1-0376F1D0E1C4}"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6" name="PlaceHolder 1"/>
          <p:cNvSpPr>
            <a:spLocks noGrp="1"/>
          </p:cNvSpPr>
          <p:nvPr>
            <p:ph type="sldImg"/>
          </p:nvPr>
        </p:nvSpPr>
        <p:spPr>
          <a:xfrm>
            <a:off x="685800" y="1143000"/>
            <a:ext cx="5486040" cy="3085920"/>
          </a:xfrm>
          <a:prstGeom prst="rect">
            <a:avLst/>
          </a:prstGeom>
        </p:spPr>
      </p:sp>
      <p:sp>
        <p:nvSpPr>
          <p:cNvPr id="877"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1200" spc="-1" strike="noStrike">
                <a:solidFill>
                  <a:srgbClr val="000000"/>
                </a:solidFill>
                <a:latin typeface="+mn-lt"/>
                <a:ea typeface="+mn-ea"/>
              </a:rPr>
              <a:t>[leaf_rwc (relative water content in leaf); leaf_wc (water content in leaf); lma (leaf mass per area); pro (leaf proline content); abvrgd (above ground biomass); blwgrd (below ground biomass); ttlmass (total mass); rmr (root mass ratio); delta13c (carbon isotope, a proxy for lifetime integrated WUE); leafc (leaf carbon content); leafn (leaf nitrogen content); cn (leaf carbon/nitrogen ratio)] </a:t>
            </a:r>
            <a:endParaRPr b="0" lang="es-ES" sz="1200" spc="-1" strike="noStrike">
              <a:latin typeface="Arial"/>
            </a:endParaRPr>
          </a:p>
        </p:txBody>
      </p:sp>
      <p:sp>
        <p:nvSpPr>
          <p:cNvPr id="878" name="TextShape 3"/>
          <p:cNvSpPr txBox="1"/>
          <p:nvPr/>
        </p:nvSpPr>
        <p:spPr>
          <a:xfrm>
            <a:off x="3884760" y="8685360"/>
            <a:ext cx="2971440" cy="458280"/>
          </a:xfrm>
          <a:prstGeom prst="rect">
            <a:avLst/>
          </a:prstGeom>
          <a:noFill/>
          <a:ln>
            <a:noFill/>
          </a:ln>
        </p:spPr>
        <p:txBody>
          <a:bodyPr anchor="b">
            <a:noAutofit/>
          </a:bodyPr>
          <a:p>
            <a:pPr algn="r">
              <a:lnSpc>
                <a:spcPct val="100000"/>
              </a:lnSpc>
            </a:pPr>
            <a:fld id="{DE7E24AE-696F-409C-BEA9-4746A75A5572}"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9" name="PlaceHolder 1"/>
          <p:cNvSpPr>
            <a:spLocks noGrp="1"/>
          </p:cNvSpPr>
          <p:nvPr>
            <p:ph type="sldImg"/>
          </p:nvPr>
        </p:nvSpPr>
        <p:spPr>
          <a:xfrm>
            <a:off x="685800" y="1143000"/>
            <a:ext cx="5486040" cy="3085920"/>
          </a:xfrm>
          <a:prstGeom prst="rect">
            <a:avLst/>
          </a:prstGeom>
        </p:spPr>
      </p:sp>
      <p:sp>
        <p:nvSpPr>
          <p:cNvPr id="880" name="PlaceHolder 2"/>
          <p:cNvSpPr>
            <a:spLocks noGrp="1"/>
          </p:cNvSpPr>
          <p:nvPr>
            <p:ph type="body"/>
          </p:nvPr>
        </p:nvSpPr>
        <p:spPr>
          <a:xfrm>
            <a:off x="685800" y="4400640"/>
            <a:ext cx="5486040" cy="3600000"/>
          </a:xfrm>
          <a:prstGeom prst="rect">
            <a:avLst/>
          </a:prstGeom>
        </p:spPr>
        <p:txBody>
          <a:bodyPr>
            <a:noAutofit/>
          </a:bodyPr>
          <a:p>
            <a:pPr marL="216000" indent="-216000">
              <a:lnSpc>
                <a:spcPct val="100000"/>
              </a:lnSpc>
            </a:pPr>
            <a:r>
              <a:rPr b="0" lang="en-US" sz="2000" spc="-1" strike="noStrike">
                <a:latin typeface="Arial"/>
              </a:rPr>
              <a:t>The Gene Ontology (GO) provides a structured, controlled vocabulary to describe gene functions across species, covering biological processes, molecular functions, and cellular components."</a:t>
            </a:r>
            <a:endParaRPr b="0" lang="es-ES" sz="2000" spc="-1" strike="noStrike">
              <a:latin typeface="Arial"/>
            </a:endParaRPr>
          </a:p>
        </p:txBody>
      </p:sp>
      <p:sp>
        <p:nvSpPr>
          <p:cNvPr id="881" name="TextShape 3"/>
          <p:cNvSpPr txBox="1"/>
          <p:nvPr/>
        </p:nvSpPr>
        <p:spPr>
          <a:xfrm>
            <a:off x="3884760" y="8685360"/>
            <a:ext cx="2971440" cy="458280"/>
          </a:xfrm>
          <a:prstGeom prst="rect">
            <a:avLst/>
          </a:prstGeom>
          <a:noFill/>
          <a:ln>
            <a:noFill/>
          </a:ln>
        </p:spPr>
        <p:txBody>
          <a:bodyPr anchor="b">
            <a:noAutofit/>
          </a:bodyPr>
          <a:p>
            <a:pPr algn="r">
              <a:lnSpc>
                <a:spcPct val="100000"/>
              </a:lnSpc>
            </a:pPr>
            <a:fld id="{BE2403A5-7242-4970-81F8-8039E0F1A9F3}"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2" name="PlaceHolder 1"/>
          <p:cNvSpPr>
            <a:spLocks noGrp="1"/>
          </p:cNvSpPr>
          <p:nvPr>
            <p:ph type="sldImg"/>
          </p:nvPr>
        </p:nvSpPr>
        <p:spPr>
          <a:xfrm>
            <a:off x="685800" y="1143000"/>
            <a:ext cx="5486040" cy="3085920"/>
          </a:xfrm>
          <a:prstGeom prst="rect">
            <a:avLst/>
          </a:prstGeom>
        </p:spPr>
      </p:sp>
      <p:sp>
        <p:nvSpPr>
          <p:cNvPr id="883"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884" name="TextShape 3"/>
          <p:cNvSpPr txBox="1"/>
          <p:nvPr/>
        </p:nvSpPr>
        <p:spPr>
          <a:xfrm>
            <a:off x="3884760" y="8685360"/>
            <a:ext cx="2971440" cy="458280"/>
          </a:xfrm>
          <a:prstGeom prst="rect">
            <a:avLst/>
          </a:prstGeom>
          <a:noFill/>
          <a:ln>
            <a:noFill/>
          </a:ln>
        </p:spPr>
        <p:txBody>
          <a:bodyPr anchor="b">
            <a:noAutofit/>
          </a:bodyPr>
          <a:p>
            <a:pPr algn="r">
              <a:lnSpc>
                <a:spcPct val="100000"/>
              </a:lnSpc>
            </a:pPr>
            <a:fld id="{58647E50-B246-4B6B-9F6F-815B6AC5B000}" type="slidenum">
              <a:rPr b="0" lang="es-ES" sz="1200" spc="-1" strike="noStrike">
                <a:latin typeface="Times New Roman"/>
              </a:rPr>
              <a:t>&lt;número&gt;</a:t>
            </a:fld>
            <a:endParaRPr b="0" lang="es-ES" sz="1200" spc="-1" strike="noStrike">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5" name="PlaceHolder 1"/>
          <p:cNvSpPr>
            <a:spLocks noGrp="1"/>
          </p:cNvSpPr>
          <p:nvPr>
            <p:ph type="sldImg"/>
          </p:nvPr>
        </p:nvSpPr>
        <p:spPr>
          <a:xfrm>
            <a:off x="685800" y="1143000"/>
            <a:ext cx="5486040" cy="3085920"/>
          </a:xfrm>
          <a:prstGeom prst="rect">
            <a:avLst/>
          </a:prstGeom>
        </p:spPr>
      </p:sp>
      <p:sp>
        <p:nvSpPr>
          <p:cNvPr id="886" name="PlaceHolder 2"/>
          <p:cNvSpPr>
            <a:spLocks noGrp="1"/>
          </p:cNvSpPr>
          <p:nvPr>
            <p:ph type="body"/>
          </p:nvPr>
        </p:nvSpPr>
        <p:spPr>
          <a:xfrm>
            <a:off x="685800" y="4400640"/>
            <a:ext cx="5486040" cy="3600000"/>
          </a:xfrm>
          <a:prstGeom prst="rect">
            <a:avLst/>
          </a:prstGeom>
        </p:spPr>
        <p:txBody>
          <a:bodyPr>
            <a:noAutofit/>
          </a:bodyPr>
          <a:p>
            <a:endParaRPr b="0" lang="es-ES" sz="2000" spc="-1" strike="noStrike">
              <a:latin typeface="Arial"/>
            </a:endParaRPr>
          </a:p>
        </p:txBody>
      </p:sp>
      <p:sp>
        <p:nvSpPr>
          <p:cNvPr id="887" name="TextShape 3"/>
          <p:cNvSpPr txBox="1"/>
          <p:nvPr/>
        </p:nvSpPr>
        <p:spPr>
          <a:xfrm>
            <a:off x="3884760" y="8685360"/>
            <a:ext cx="2971440" cy="458280"/>
          </a:xfrm>
          <a:prstGeom prst="rect">
            <a:avLst/>
          </a:prstGeom>
          <a:noFill/>
          <a:ln>
            <a:noFill/>
          </a:ln>
        </p:spPr>
        <p:txBody>
          <a:bodyPr anchor="b">
            <a:noAutofit/>
          </a:bodyPr>
          <a:p>
            <a:pPr algn="r">
              <a:lnSpc>
                <a:spcPct val="100000"/>
              </a:lnSpc>
            </a:pPr>
            <a:fld id="{F402232D-01E9-4AA8-8BF0-51CE20661DD7}" type="slidenum">
              <a:rPr b="0" lang="es-ES" sz="1200" spc="-1" strike="noStrike">
                <a:latin typeface="Times New Roman"/>
              </a:rPr>
              <a:t>&lt;número&gt;</a:t>
            </a:fld>
            <a:endParaRPr b="0" lang="es-E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6"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s-E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8" name="PlaceHolder 2"/>
          <p:cNvSpPr>
            <a:spLocks noGrp="1"/>
          </p:cNvSpPr>
          <p:nvPr>
            <p:ph type="body"/>
          </p:nvPr>
        </p:nvSpPr>
        <p:spPr>
          <a:xfrm>
            <a:off x="609480" y="1604520"/>
            <a:ext cx="10972440" cy="397728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10"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2800" spc="-1" strike="noStrike">
              <a:solidFill>
                <a:srgbClr val="000000"/>
              </a:solidFill>
              <a:latin typeface="Aptos"/>
            </a:endParaRPr>
          </a:p>
        </p:txBody>
      </p:sp>
      <p:sp>
        <p:nvSpPr>
          <p:cNvPr id="11"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s-E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15"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16"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2800" spc="-1" strike="noStrike">
              <a:solidFill>
                <a:srgbClr val="000000"/>
              </a:solidFill>
              <a:latin typeface="Aptos"/>
            </a:endParaRPr>
          </a:p>
        </p:txBody>
      </p:sp>
      <p:sp>
        <p:nvSpPr>
          <p:cNvPr id="17"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19"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2800" spc="-1" strike="noStrike">
              <a:solidFill>
                <a:srgbClr val="000000"/>
              </a:solidFill>
              <a:latin typeface="Aptos"/>
            </a:endParaRPr>
          </a:p>
        </p:txBody>
      </p:sp>
      <p:sp>
        <p:nvSpPr>
          <p:cNvPr id="20"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21" name="PlaceHolder 4"/>
          <p:cNvSpPr>
            <a:spLocks noGrp="1"/>
          </p:cNvSpPr>
          <p:nvPr>
            <p:ph type="body"/>
          </p:nvPr>
        </p:nvSpPr>
        <p:spPr>
          <a:xfrm>
            <a:off x="6231960" y="368208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23"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24"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25" name="PlaceHolder 4"/>
          <p:cNvSpPr>
            <a:spLocks noGrp="1"/>
          </p:cNvSpPr>
          <p:nvPr>
            <p:ph type="body"/>
          </p:nvPr>
        </p:nvSpPr>
        <p:spPr>
          <a:xfrm>
            <a:off x="609480" y="3682080"/>
            <a:ext cx="1097244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27" name="PlaceHolder 2"/>
          <p:cNvSpPr>
            <a:spLocks noGrp="1"/>
          </p:cNvSpPr>
          <p:nvPr>
            <p:ph type="body"/>
          </p:nvPr>
        </p:nvSpPr>
        <p:spPr>
          <a:xfrm>
            <a:off x="609480" y="1604520"/>
            <a:ext cx="109724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28" name="PlaceHolder 3"/>
          <p:cNvSpPr>
            <a:spLocks noGrp="1"/>
          </p:cNvSpPr>
          <p:nvPr>
            <p:ph type="body"/>
          </p:nvPr>
        </p:nvSpPr>
        <p:spPr>
          <a:xfrm>
            <a:off x="609480" y="3682080"/>
            <a:ext cx="1097244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30"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31"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32"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33" name="PlaceHolder 5"/>
          <p:cNvSpPr>
            <a:spLocks noGrp="1"/>
          </p:cNvSpPr>
          <p:nvPr>
            <p:ph type="body"/>
          </p:nvPr>
        </p:nvSpPr>
        <p:spPr>
          <a:xfrm>
            <a:off x="6231960" y="368208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35" name="PlaceHolder 2"/>
          <p:cNvSpPr>
            <a:spLocks noGrp="1"/>
          </p:cNvSpPr>
          <p:nvPr>
            <p:ph type="body"/>
          </p:nvPr>
        </p:nvSpPr>
        <p:spPr>
          <a:xfrm>
            <a:off x="609480" y="160452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36" name="PlaceHolder 3"/>
          <p:cNvSpPr>
            <a:spLocks noGrp="1"/>
          </p:cNvSpPr>
          <p:nvPr>
            <p:ph type="body"/>
          </p:nvPr>
        </p:nvSpPr>
        <p:spPr>
          <a:xfrm>
            <a:off x="4319640" y="160452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37" name="PlaceHolder 4"/>
          <p:cNvSpPr>
            <a:spLocks noGrp="1"/>
          </p:cNvSpPr>
          <p:nvPr>
            <p:ph type="body"/>
          </p:nvPr>
        </p:nvSpPr>
        <p:spPr>
          <a:xfrm>
            <a:off x="8029800" y="160452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38" name="PlaceHolder 5"/>
          <p:cNvSpPr>
            <a:spLocks noGrp="1"/>
          </p:cNvSpPr>
          <p:nvPr>
            <p:ph type="body"/>
          </p:nvPr>
        </p:nvSpPr>
        <p:spPr>
          <a:xfrm>
            <a:off x="609480" y="368208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39" name="PlaceHolder 6"/>
          <p:cNvSpPr>
            <a:spLocks noGrp="1"/>
          </p:cNvSpPr>
          <p:nvPr>
            <p:ph type="body"/>
          </p:nvPr>
        </p:nvSpPr>
        <p:spPr>
          <a:xfrm>
            <a:off x="4319640" y="368208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40" name="PlaceHolder 7"/>
          <p:cNvSpPr>
            <a:spLocks noGrp="1"/>
          </p:cNvSpPr>
          <p:nvPr>
            <p:ph type="body"/>
          </p:nvPr>
        </p:nvSpPr>
        <p:spPr>
          <a:xfrm>
            <a:off x="8029800" y="368208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47"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s-E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49" name="PlaceHolder 2"/>
          <p:cNvSpPr>
            <a:spLocks noGrp="1"/>
          </p:cNvSpPr>
          <p:nvPr>
            <p:ph type="body"/>
          </p:nvPr>
        </p:nvSpPr>
        <p:spPr>
          <a:xfrm>
            <a:off x="609480" y="1604520"/>
            <a:ext cx="10972440" cy="397728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51"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2800" spc="-1" strike="noStrike">
              <a:solidFill>
                <a:srgbClr val="000000"/>
              </a:solidFill>
              <a:latin typeface="Aptos"/>
            </a:endParaRPr>
          </a:p>
        </p:txBody>
      </p:sp>
      <p:sp>
        <p:nvSpPr>
          <p:cNvPr id="52"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s-E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56"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57" name="PlaceHolder 3"/>
          <p:cNvSpPr>
            <a:spLocks noGrp="1"/>
          </p:cNvSpPr>
          <p:nvPr>
            <p:ph type="body"/>
          </p:nvPr>
        </p:nvSpPr>
        <p:spPr>
          <a:xfrm>
            <a:off x="6231960" y="1604520"/>
            <a:ext cx="5354280" cy="3977280"/>
          </a:xfrm>
          <a:prstGeom prst="rect">
            <a:avLst/>
          </a:prstGeom>
        </p:spPr>
        <p:txBody>
          <a:bodyPr lIns="0" rIns="0" tIns="0" bIns="0">
            <a:normAutofit/>
          </a:bodyPr>
          <a:p>
            <a:endParaRPr b="0" lang="es-ES" sz="2800" spc="-1" strike="noStrike">
              <a:solidFill>
                <a:srgbClr val="000000"/>
              </a:solidFill>
              <a:latin typeface="Aptos"/>
            </a:endParaRPr>
          </a:p>
        </p:txBody>
      </p:sp>
      <p:sp>
        <p:nvSpPr>
          <p:cNvPr id="58"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60" name="PlaceHolder 2"/>
          <p:cNvSpPr>
            <a:spLocks noGrp="1"/>
          </p:cNvSpPr>
          <p:nvPr>
            <p:ph type="body"/>
          </p:nvPr>
        </p:nvSpPr>
        <p:spPr>
          <a:xfrm>
            <a:off x="609480" y="1604520"/>
            <a:ext cx="5354280" cy="3977280"/>
          </a:xfrm>
          <a:prstGeom prst="rect">
            <a:avLst/>
          </a:prstGeom>
        </p:spPr>
        <p:txBody>
          <a:bodyPr lIns="0" rIns="0" tIns="0" bIns="0">
            <a:normAutofit/>
          </a:bodyPr>
          <a:p>
            <a:endParaRPr b="0" lang="es-ES" sz="2800" spc="-1" strike="noStrike">
              <a:solidFill>
                <a:srgbClr val="000000"/>
              </a:solidFill>
              <a:latin typeface="Aptos"/>
            </a:endParaRPr>
          </a:p>
        </p:txBody>
      </p:sp>
      <p:sp>
        <p:nvSpPr>
          <p:cNvPr id="61"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62" name="PlaceHolder 4"/>
          <p:cNvSpPr>
            <a:spLocks noGrp="1"/>
          </p:cNvSpPr>
          <p:nvPr>
            <p:ph type="body"/>
          </p:nvPr>
        </p:nvSpPr>
        <p:spPr>
          <a:xfrm>
            <a:off x="6231960" y="368208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64"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65"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66" name="PlaceHolder 4"/>
          <p:cNvSpPr>
            <a:spLocks noGrp="1"/>
          </p:cNvSpPr>
          <p:nvPr>
            <p:ph type="body"/>
          </p:nvPr>
        </p:nvSpPr>
        <p:spPr>
          <a:xfrm>
            <a:off x="609480" y="3682080"/>
            <a:ext cx="1097244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68" name="PlaceHolder 2"/>
          <p:cNvSpPr>
            <a:spLocks noGrp="1"/>
          </p:cNvSpPr>
          <p:nvPr>
            <p:ph type="body"/>
          </p:nvPr>
        </p:nvSpPr>
        <p:spPr>
          <a:xfrm>
            <a:off x="609480" y="1604520"/>
            <a:ext cx="109724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69" name="PlaceHolder 3"/>
          <p:cNvSpPr>
            <a:spLocks noGrp="1"/>
          </p:cNvSpPr>
          <p:nvPr>
            <p:ph type="body"/>
          </p:nvPr>
        </p:nvSpPr>
        <p:spPr>
          <a:xfrm>
            <a:off x="609480" y="3682080"/>
            <a:ext cx="1097244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71" name="PlaceHolder 2"/>
          <p:cNvSpPr>
            <a:spLocks noGrp="1"/>
          </p:cNvSpPr>
          <p:nvPr>
            <p:ph type="body"/>
          </p:nvPr>
        </p:nvSpPr>
        <p:spPr>
          <a:xfrm>
            <a:off x="60948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72" name="PlaceHolder 3"/>
          <p:cNvSpPr>
            <a:spLocks noGrp="1"/>
          </p:cNvSpPr>
          <p:nvPr>
            <p:ph type="body"/>
          </p:nvPr>
        </p:nvSpPr>
        <p:spPr>
          <a:xfrm>
            <a:off x="6231960" y="160452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73" name="PlaceHolder 4"/>
          <p:cNvSpPr>
            <a:spLocks noGrp="1"/>
          </p:cNvSpPr>
          <p:nvPr>
            <p:ph type="body"/>
          </p:nvPr>
        </p:nvSpPr>
        <p:spPr>
          <a:xfrm>
            <a:off x="609480" y="368208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74" name="PlaceHolder 5"/>
          <p:cNvSpPr>
            <a:spLocks noGrp="1"/>
          </p:cNvSpPr>
          <p:nvPr>
            <p:ph type="body"/>
          </p:nvPr>
        </p:nvSpPr>
        <p:spPr>
          <a:xfrm>
            <a:off x="6231960" y="3682080"/>
            <a:ext cx="535428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s-ES" sz="1800" spc="-1" strike="noStrike">
              <a:solidFill>
                <a:srgbClr val="000000"/>
              </a:solidFill>
              <a:latin typeface="Aptos"/>
            </a:endParaRPr>
          </a:p>
        </p:txBody>
      </p:sp>
      <p:sp>
        <p:nvSpPr>
          <p:cNvPr id="76" name="PlaceHolder 2"/>
          <p:cNvSpPr>
            <a:spLocks noGrp="1"/>
          </p:cNvSpPr>
          <p:nvPr>
            <p:ph type="body"/>
          </p:nvPr>
        </p:nvSpPr>
        <p:spPr>
          <a:xfrm>
            <a:off x="609480" y="160452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77" name="PlaceHolder 3"/>
          <p:cNvSpPr>
            <a:spLocks noGrp="1"/>
          </p:cNvSpPr>
          <p:nvPr>
            <p:ph type="body"/>
          </p:nvPr>
        </p:nvSpPr>
        <p:spPr>
          <a:xfrm>
            <a:off x="4319640" y="160452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78" name="PlaceHolder 4"/>
          <p:cNvSpPr>
            <a:spLocks noGrp="1"/>
          </p:cNvSpPr>
          <p:nvPr>
            <p:ph type="body"/>
          </p:nvPr>
        </p:nvSpPr>
        <p:spPr>
          <a:xfrm>
            <a:off x="8029800" y="160452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79" name="PlaceHolder 5"/>
          <p:cNvSpPr>
            <a:spLocks noGrp="1"/>
          </p:cNvSpPr>
          <p:nvPr>
            <p:ph type="body"/>
          </p:nvPr>
        </p:nvSpPr>
        <p:spPr>
          <a:xfrm>
            <a:off x="609480" y="368208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80" name="PlaceHolder 6"/>
          <p:cNvSpPr>
            <a:spLocks noGrp="1"/>
          </p:cNvSpPr>
          <p:nvPr>
            <p:ph type="body"/>
          </p:nvPr>
        </p:nvSpPr>
        <p:spPr>
          <a:xfrm>
            <a:off x="4319640" y="368208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
        <p:nvSpPr>
          <p:cNvPr id="81" name="PlaceHolder 7"/>
          <p:cNvSpPr>
            <a:spLocks noGrp="1"/>
          </p:cNvSpPr>
          <p:nvPr>
            <p:ph type="body"/>
          </p:nvPr>
        </p:nvSpPr>
        <p:spPr>
          <a:xfrm>
            <a:off x="8029800" y="3682080"/>
            <a:ext cx="3533040" cy="1896840"/>
          </a:xfrm>
          <a:prstGeom prst="rect">
            <a:avLst/>
          </a:prstGeom>
        </p:spPr>
        <p:txBody>
          <a:bodyPr lIns="0" rIns="0" tIns="0" bIns="0">
            <a:normAutofit/>
          </a:bodyPr>
          <a:p>
            <a:endParaRPr b="0" lang="es-ES" sz="2800" spc="-1" strike="noStrike">
              <a:solidFill>
                <a:srgbClr val="000000"/>
              </a:solidFill>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p:spPr>
        <p:txBody>
          <a:bodyPr anchor="b">
            <a:noAutofit/>
          </a:bodyPr>
          <a:p>
            <a:pPr algn="ctr">
              <a:lnSpc>
                <a:spcPct val="90000"/>
              </a:lnSpc>
            </a:pPr>
            <a:r>
              <a:rPr b="0" lang="es-ES" sz="6000" spc="-1" strike="noStrike">
                <a:solidFill>
                  <a:srgbClr val="000000"/>
                </a:solidFill>
                <a:latin typeface="Aptos Display"/>
              </a:rPr>
              <a:t>Haga clic </a:t>
            </a:r>
            <a:r>
              <a:rPr b="0" lang="es-ES" sz="6000" spc="-1" strike="noStrike">
                <a:solidFill>
                  <a:srgbClr val="000000"/>
                </a:solidFill>
                <a:latin typeface="Aptos Display"/>
              </a:rPr>
              <a:t>para </a:t>
            </a:r>
            <a:r>
              <a:rPr b="0" lang="es-ES" sz="6000" spc="-1" strike="noStrike">
                <a:solidFill>
                  <a:srgbClr val="000000"/>
                </a:solidFill>
                <a:latin typeface="Aptos Display"/>
              </a:rPr>
              <a:t>modificar el </a:t>
            </a:r>
            <a:r>
              <a:rPr b="0" lang="es-ES" sz="6000" spc="-1" strike="noStrike">
                <a:solidFill>
                  <a:srgbClr val="000000"/>
                </a:solidFill>
                <a:latin typeface="Aptos Display"/>
              </a:rPr>
              <a:t>estilo de </a:t>
            </a:r>
            <a:r>
              <a:rPr b="0" lang="es-ES" sz="6000" spc="-1" strike="noStrike">
                <a:solidFill>
                  <a:srgbClr val="000000"/>
                </a:solidFill>
                <a:latin typeface="Aptos Display"/>
              </a:rPr>
              <a:t>título del </a:t>
            </a:r>
            <a:r>
              <a:rPr b="0" lang="es-ES" sz="6000" spc="-1" strike="noStrike">
                <a:solidFill>
                  <a:srgbClr val="000000"/>
                </a:solidFill>
                <a:latin typeface="Aptos Display"/>
              </a:rPr>
              <a:t>patrón</a:t>
            </a:r>
            <a:endParaRPr b="0" lang="es-ES" sz="6000" spc="-1" strike="noStrike">
              <a:solidFill>
                <a:srgbClr val="000000"/>
              </a:solidFill>
              <a:latin typeface="Aptos"/>
            </a:endParaRPr>
          </a:p>
        </p:txBody>
      </p:sp>
      <p:sp>
        <p:nvSpPr>
          <p:cNvPr id="1" name="PlaceHolder 2"/>
          <p:cNvSpPr>
            <a:spLocks noGrp="1"/>
          </p:cNvSpPr>
          <p:nvPr>
            <p:ph type="dt"/>
          </p:nvPr>
        </p:nvSpPr>
        <p:spPr>
          <a:xfrm>
            <a:off x="838080" y="6356520"/>
            <a:ext cx="2742840" cy="364680"/>
          </a:xfrm>
          <a:prstGeom prst="rect">
            <a:avLst/>
          </a:prstGeom>
        </p:spPr>
        <p:txBody>
          <a:bodyPr anchor="ctr">
            <a:noAutofit/>
          </a:bodyPr>
          <a:p>
            <a:pPr>
              <a:lnSpc>
                <a:spcPct val="100000"/>
              </a:lnSpc>
            </a:pPr>
            <a:fld id="{0D4C9B4A-B9D5-4773-8B53-4E2D36B4D458}" type="datetime">
              <a:rPr b="0" lang="es-ES" sz="1200" spc="-1" strike="noStrike">
                <a:solidFill>
                  <a:srgbClr val="787878"/>
                </a:solidFill>
                <a:latin typeface="Aptos"/>
              </a:rPr>
              <a:t>15/12/25</a:t>
            </a:fld>
            <a:endParaRPr b="0" lang="es-ES" sz="1200" spc="-1" strike="noStrike">
              <a:latin typeface="Times New Roman"/>
            </a:endParaRPr>
          </a:p>
        </p:txBody>
      </p:sp>
      <p:sp>
        <p:nvSpPr>
          <p:cNvPr id="2" name="PlaceHolder 3"/>
          <p:cNvSpPr>
            <a:spLocks noGrp="1"/>
          </p:cNvSpPr>
          <p:nvPr>
            <p:ph type="ftr"/>
          </p:nvPr>
        </p:nvSpPr>
        <p:spPr>
          <a:xfrm>
            <a:off x="4038480" y="6356520"/>
            <a:ext cx="4114440" cy="364680"/>
          </a:xfrm>
          <a:prstGeom prst="rect">
            <a:avLst/>
          </a:prstGeom>
        </p:spPr>
        <p:txBody>
          <a:bodyPr anchor="ctr">
            <a:noAutofit/>
          </a:bodyPr>
          <a:p>
            <a:endParaRPr b="0" lang="es-ES" sz="2400" spc="-1" strike="noStrike">
              <a:latin typeface="Times New Roman"/>
            </a:endParaRPr>
          </a:p>
        </p:txBody>
      </p:sp>
      <p:sp>
        <p:nvSpPr>
          <p:cNvPr id="3" name="PlaceHolder 4"/>
          <p:cNvSpPr>
            <a:spLocks noGrp="1"/>
          </p:cNvSpPr>
          <p:nvPr>
            <p:ph type="sldNum"/>
          </p:nvPr>
        </p:nvSpPr>
        <p:spPr>
          <a:xfrm>
            <a:off x="8610480" y="6356520"/>
            <a:ext cx="2742840" cy="364680"/>
          </a:xfrm>
          <a:prstGeom prst="rect">
            <a:avLst/>
          </a:prstGeom>
        </p:spPr>
        <p:txBody>
          <a:bodyPr anchor="ctr">
            <a:noAutofit/>
          </a:bodyPr>
          <a:p>
            <a:pPr algn="r">
              <a:lnSpc>
                <a:spcPct val="100000"/>
              </a:lnSpc>
            </a:pPr>
            <a:fld id="{EC699BE6-4D9F-4E85-81D0-013CAEDC469A}" type="slidenum">
              <a:rPr b="0" lang="es-ES" sz="1200" spc="-1" strike="noStrike">
                <a:solidFill>
                  <a:srgbClr val="787878"/>
                </a:solidFill>
                <a:latin typeface="Aptos"/>
              </a:rPr>
              <a:t>&lt;número&gt;</a:t>
            </a:fld>
            <a:endParaRPr b="0" lang="es-ES" sz="1200" spc="-1" strike="noStrike">
              <a:latin typeface="Times New Roman"/>
            </a:endParaRPr>
          </a:p>
        </p:txBody>
      </p:sp>
      <p:sp>
        <p:nvSpPr>
          <p:cNvPr id="4" name="PlaceHolder 5"/>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s-ES" sz="2800" spc="-1" strike="noStrike">
                <a:solidFill>
                  <a:srgbClr val="000000"/>
                </a:solidFill>
                <a:latin typeface="Aptos"/>
              </a:rPr>
              <a:t>Pulse para editar el formato de texto del esquema</a:t>
            </a:r>
            <a:endParaRPr b="0" lang="es-ES" sz="2800" spc="-1" strike="noStrike">
              <a:solidFill>
                <a:srgbClr val="000000"/>
              </a:solidFill>
              <a:latin typeface="Aptos"/>
            </a:endParaRPr>
          </a:p>
          <a:p>
            <a:pPr lvl="1" marL="864000" indent="-324000">
              <a:spcBef>
                <a:spcPts val="1134"/>
              </a:spcBef>
              <a:buClr>
                <a:srgbClr val="000000"/>
              </a:buClr>
              <a:buSzPct val="75000"/>
              <a:buFont typeface="Symbol" charset="2"/>
              <a:buChar char=""/>
            </a:pPr>
            <a:r>
              <a:rPr b="0" lang="es-ES" sz="2000" spc="-1" strike="noStrike">
                <a:solidFill>
                  <a:srgbClr val="000000"/>
                </a:solidFill>
                <a:latin typeface="Aptos"/>
              </a:rPr>
              <a:t>Segundo nivel del esquema</a:t>
            </a:r>
            <a:endParaRPr b="0" lang="es-ES" sz="2000" spc="-1" strike="noStrike">
              <a:solidFill>
                <a:srgbClr val="000000"/>
              </a:solidFill>
              <a:latin typeface="Aptos"/>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ptos"/>
              </a:rPr>
              <a:t>Tercer nivel del esquema</a:t>
            </a:r>
            <a:endParaRPr b="0" lang="es-ES" sz="1800" spc="-1" strike="noStrike">
              <a:solidFill>
                <a:srgbClr val="000000"/>
              </a:solidFill>
              <a:latin typeface="Aptos"/>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ptos"/>
              </a:rPr>
              <a:t>Cuarto nivel del esquema</a:t>
            </a:r>
            <a:endParaRPr b="0" lang="es-ES" sz="1800" spc="-1" strike="noStrike">
              <a:solidFill>
                <a:srgbClr val="000000"/>
              </a:solidFill>
              <a:latin typeface="Aptos"/>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ptos"/>
              </a:rPr>
              <a:t>Quinto nivel del esquema</a:t>
            </a:r>
            <a:endParaRPr b="0" lang="es-ES" sz="2000" spc="-1" strike="noStrike">
              <a:solidFill>
                <a:srgbClr val="000000"/>
              </a:solidFill>
              <a:latin typeface="Aptos"/>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ptos"/>
              </a:rPr>
              <a:t>Sexto nivel del esquema</a:t>
            </a:r>
            <a:endParaRPr b="0" lang="es-ES" sz="2000" spc="-1" strike="noStrike">
              <a:solidFill>
                <a:srgbClr val="000000"/>
              </a:solidFill>
              <a:latin typeface="Aptos"/>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ptos"/>
              </a:rPr>
              <a:t>Séptimo nivel del esquema</a:t>
            </a:r>
            <a:endParaRPr b="0" lang="es-ES" sz="2000" spc="-1" strike="noStrike">
              <a:solidFill>
                <a:srgbClr val="000000"/>
              </a:solidFill>
              <a:latin typeface="Aptos"/>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dt"/>
          </p:nvPr>
        </p:nvSpPr>
        <p:spPr>
          <a:xfrm>
            <a:off x="838080" y="6356520"/>
            <a:ext cx="2742840" cy="364680"/>
          </a:xfrm>
          <a:prstGeom prst="rect">
            <a:avLst/>
          </a:prstGeom>
        </p:spPr>
        <p:txBody>
          <a:bodyPr anchor="ctr">
            <a:noAutofit/>
          </a:bodyPr>
          <a:p>
            <a:pPr>
              <a:lnSpc>
                <a:spcPct val="100000"/>
              </a:lnSpc>
            </a:pPr>
            <a:fld id="{889D1C26-5398-47D5-937E-89A1A3C5ADFB}" type="datetime">
              <a:rPr b="0" lang="es-ES" sz="1200" spc="-1" strike="noStrike">
                <a:solidFill>
                  <a:srgbClr val="787878"/>
                </a:solidFill>
                <a:latin typeface="Aptos"/>
              </a:rPr>
              <a:t>15/12/25</a:t>
            </a:fld>
            <a:endParaRPr b="0" lang="es-ES" sz="1200" spc="-1" strike="noStrike">
              <a:latin typeface="Times New Roman"/>
            </a:endParaRPr>
          </a:p>
        </p:txBody>
      </p:sp>
      <p:sp>
        <p:nvSpPr>
          <p:cNvPr id="42" name="PlaceHolder 2"/>
          <p:cNvSpPr>
            <a:spLocks noGrp="1"/>
          </p:cNvSpPr>
          <p:nvPr>
            <p:ph type="ftr"/>
          </p:nvPr>
        </p:nvSpPr>
        <p:spPr>
          <a:xfrm>
            <a:off x="4038480" y="6356520"/>
            <a:ext cx="4114440" cy="364680"/>
          </a:xfrm>
          <a:prstGeom prst="rect">
            <a:avLst/>
          </a:prstGeom>
        </p:spPr>
        <p:txBody>
          <a:bodyPr anchor="ctr">
            <a:noAutofit/>
          </a:bodyPr>
          <a:p>
            <a:endParaRPr b="0" lang="es-ES" sz="2400" spc="-1" strike="noStrike">
              <a:latin typeface="Times New Roman"/>
            </a:endParaRPr>
          </a:p>
        </p:txBody>
      </p:sp>
      <p:sp>
        <p:nvSpPr>
          <p:cNvPr id="43" name="PlaceHolder 3"/>
          <p:cNvSpPr>
            <a:spLocks noGrp="1"/>
          </p:cNvSpPr>
          <p:nvPr>
            <p:ph type="sldNum"/>
          </p:nvPr>
        </p:nvSpPr>
        <p:spPr>
          <a:xfrm>
            <a:off x="8610480" y="6356520"/>
            <a:ext cx="2742840" cy="364680"/>
          </a:xfrm>
          <a:prstGeom prst="rect">
            <a:avLst/>
          </a:prstGeom>
        </p:spPr>
        <p:txBody>
          <a:bodyPr anchor="ctr">
            <a:noAutofit/>
          </a:bodyPr>
          <a:p>
            <a:pPr algn="r">
              <a:lnSpc>
                <a:spcPct val="100000"/>
              </a:lnSpc>
            </a:pPr>
            <a:fld id="{2D41BF00-690A-4709-8EF5-6C002B4BBAFD}" type="slidenum">
              <a:rPr b="0" lang="es-ES" sz="1200" spc="-1" strike="noStrike">
                <a:solidFill>
                  <a:srgbClr val="787878"/>
                </a:solidFill>
                <a:latin typeface="Aptos"/>
              </a:rPr>
              <a:t>&lt;número&gt;</a:t>
            </a:fld>
            <a:endParaRPr b="0" lang="es-ES" sz="1200" spc="-1" strike="noStrike">
              <a:latin typeface="Times New Roman"/>
            </a:endParaRPr>
          </a:p>
        </p:txBody>
      </p:sp>
      <p:sp>
        <p:nvSpPr>
          <p:cNvPr id="44" name="PlaceHolder 4"/>
          <p:cNvSpPr>
            <a:spLocks noGrp="1"/>
          </p:cNvSpPr>
          <p:nvPr>
            <p:ph type="title"/>
          </p:nvPr>
        </p:nvSpPr>
        <p:spPr>
          <a:xfrm>
            <a:off x="609480" y="273600"/>
            <a:ext cx="10972440" cy="1144800"/>
          </a:xfrm>
          <a:prstGeom prst="rect">
            <a:avLst/>
          </a:prstGeom>
        </p:spPr>
        <p:txBody>
          <a:bodyPr lIns="0" rIns="0" tIns="0" bIns="0" anchor="ctr">
            <a:noAutofit/>
          </a:bodyPr>
          <a:p>
            <a:r>
              <a:rPr b="0" lang="es-ES" sz="1800" spc="-1" strike="noStrike">
                <a:solidFill>
                  <a:srgbClr val="000000"/>
                </a:solidFill>
                <a:latin typeface="Aptos"/>
              </a:rPr>
              <a:t>Pulse para editar el formato del texto de título</a:t>
            </a:r>
            <a:endParaRPr b="0" lang="es-ES" sz="1800" spc="-1" strike="noStrike">
              <a:solidFill>
                <a:srgbClr val="000000"/>
              </a:solidFill>
              <a:latin typeface="Aptos"/>
            </a:endParaRPr>
          </a:p>
        </p:txBody>
      </p:sp>
      <p:sp>
        <p:nvSpPr>
          <p:cNvPr id="45" name="PlaceHolder 5"/>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s-ES" sz="2800" spc="-1" strike="noStrike">
                <a:solidFill>
                  <a:srgbClr val="000000"/>
                </a:solidFill>
                <a:latin typeface="Aptos"/>
              </a:rPr>
              <a:t>Pulse para editar el formato de texto del esquema</a:t>
            </a:r>
            <a:endParaRPr b="0" lang="es-ES" sz="2800" spc="-1" strike="noStrike">
              <a:solidFill>
                <a:srgbClr val="000000"/>
              </a:solidFill>
              <a:latin typeface="Aptos"/>
            </a:endParaRPr>
          </a:p>
          <a:p>
            <a:pPr lvl="1" marL="864000" indent="-324000">
              <a:spcBef>
                <a:spcPts val="1134"/>
              </a:spcBef>
              <a:buClr>
                <a:srgbClr val="000000"/>
              </a:buClr>
              <a:buSzPct val="75000"/>
              <a:buFont typeface="Symbol" charset="2"/>
              <a:buChar char=""/>
            </a:pPr>
            <a:r>
              <a:rPr b="0" lang="es-ES" sz="2000" spc="-1" strike="noStrike">
                <a:solidFill>
                  <a:srgbClr val="000000"/>
                </a:solidFill>
                <a:latin typeface="Aptos"/>
              </a:rPr>
              <a:t>Segundo nivel del esquema</a:t>
            </a:r>
            <a:endParaRPr b="0" lang="es-ES" sz="2000" spc="-1" strike="noStrike">
              <a:solidFill>
                <a:srgbClr val="000000"/>
              </a:solidFill>
              <a:latin typeface="Aptos"/>
            </a:endParaRPr>
          </a:p>
          <a:p>
            <a:pPr lvl="2" marL="1296000" indent="-288000">
              <a:spcBef>
                <a:spcPts val="850"/>
              </a:spcBef>
              <a:buClr>
                <a:srgbClr val="000000"/>
              </a:buClr>
              <a:buSzPct val="45000"/>
              <a:buFont typeface="Wingdings" charset="2"/>
              <a:buChar char=""/>
            </a:pPr>
            <a:r>
              <a:rPr b="0" lang="es-ES" sz="1800" spc="-1" strike="noStrike">
                <a:solidFill>
                  <a:srgbClr val="000000"/>
                </a:solidFill>
                <a:latin typeface="Aptos"/>
              </a:rPr>
              <a:t>Tercer nivel del esquema</a:t>
            </a:r>
            <a:endParaRPr b="0" lang="es-ES" sz="1800" spc="-1" strike="noStrike">
              <a:solidFill>
                <a:srgbClr val="000000"/>
              </a:solidFill>
              <a:latin typeface="Aptos"/>
            </a:endParaRPr>
          </a:p>
          <a:p>
            <a:pPr lvl="3" marL="1728000" indent="-216000">
              <a:spcBef>
                <a:spcPts val="567"/>
              </a:spcBef>
              <a:buClr>
                <a:srgbClr val="000000"/>
              </a:buClr>
              <a:buSzPct val="75000"/>
              <a:buFont typeface="Symbol" charset="2"/>
              <a:buChar char=""/>
            </a:pPr>
            <a:r>
              <a:rPr b="0" lang="es-ES" sz="1800" spc="-1" strike="noStrike">
                <a:solidFill>
                  <a:srgbClr val="000000"/>
                </a:solidFill>
                <a:latin typeface="Aptos"/>
              </a:rPr>
              <a:t>Cuarto nivel del esquema</a:t>
            </a:r>
            <a:endParaRPr b="0" lang="es-ES" sz="1800" spc="-1" strike="noStrike">
              <a:solidFill>
                <a:srgbClr val="000000"/>
              </a:solidFill>
              <a:latin typeface="Aptos"/>
            </a:endParaRPr>
          </a:p>
          <a:p>
            <a:pPr lvl="4" marL="2160000" indent="-216000">
              <a:spcBef>
                <a:spcPts val="283"/>
              </a:spcBef>
              <a:buClr>
                <a:srgbClr val="000000"/>
              </a:buClr>
              <a:buSzPct val="45000"/>
              <a:buFont typeface="Wingdings" charset="2"/>
              <a:buChar char=""/>
            </a:pPr>
            <a:r>
              <a:rPr b="0" lang="es-ES" sz="2000" spc="-1" strike="noStrike">
                <a:solidFill>
                  <a:srgbClr val="000000"/>
                </a:solidFill>
                <a:latin typeface="Aptos"/>
              </a:rPr>
              <a:t>Quinto nivel del esquema</a:t>
            </a:r>
            <a:endParaRPr b="0" lang="es-ES" sz="2000" spc="-1" strike="noStrike">
              <a:solidFill>
                <a:srgbClr val="000000"/>
              </a:solidFill>
              <a:latin typeface="Aptos"/>
            </a:endParaRPr>
          </a:p>
          <a:p>
            <a:pPr lvl="5" marL="2592000" indent="-216000">
              <a:spcBef>
                <a:spcPts val="283"/>
              </a:spcBef>
              <a:buClr>
                <a:srgbClr val="000000"/>
              </a:buClr>
              <a:buSzPct val="45000"/>
              <a:buFont typeface="Wingdings" charset="2"/>
              <a:buChar char=""/>
            </a:pPr>
            <a:r>
              <a:rPr b="0" lang="es-ES" sz="2000" spc="-1" strike="noStrike">
                <a:solidFill>
                  <a:srgbClr val="000000"/>
                </a:solidFill>
                <a:latin typeface="Aptos"/>
              </a:rPr>
              <a:t>Sexto nivel del esquema</a:t>
            </a:r>
            <a:endParaRPr b="0" lang="es-ES" sz="2000" spc="-1" strike="noStrike">
              <a:solidFill>
                <a:srgbClr val="000000"/>
              </a:solidFill>
              <a:latin typeface="Aptos"/>
            </a:endParaRPr>
          </a:p>
          <a:p>
            <a:pPr lvl="6" marL="3024000" indent="-216000">
              <a:spcBef>
                <a:spcPts val="283"/>
              </a:spcBef>
              <a:buClr>
                <a:srgbClr val="000000"/>
              </a:buClr>
              <a:buSzPct val="45000"/>
              <a:buFont typeface="Wingdings" charset="2"/>
              <a:buChar char=""/>
            </a:pPr>
            <a:r>
              <a:rPr b="0" lang="es-ES" sz="2000" spc="-1" strike="noStrike">
                <a:solidFill>
                  <a:srgbClr val="000000"/>
                </a:solidFill>
                <a:latin typeface="Aptos"/>
              </a:rPr>
              <a:t>Séptimo nivel del esquema</a:t>
            </a:r>
            <a:endParaRPr b="0" lang="es-ES" sz="2000" spc="-1" strike="noStrike">
              <a:solidFill>
                <a:srgbClr val="000000"/>
              </a:solidFill>
              <a:latin typeface="Aptos"/>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3.xml"/><Relationship Id="rId6"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slideLayout" Target="../slideLayouts/slideLayout13.xml"/><Relationship Id="rId7"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slideLayout" Target="../slideLayouts/slideLayout13.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slideLayout" Target="../slideLayouts/slideLayout13.xml"/><Relationship Id="rId5"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slideLayout" Target="../slideLayouts/slideLayout13.xml"/><Relationship Id="rId9"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slideLayout" Target="../slideLayouts/slideLayout13.xml"/><Relationship Id="rId4"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8.jpeg"/><Relationship Id="rId2" Type="http://schemas.openxmlformats.org/officeDocument/2006/relationships/image" Target="../media/image39.gif"/><Relationship Id="rId3" Type="http://schemas.openxmlformats.org/officeDocument/2006/relationships/image" Target="../media/image40.png"/><Relationship Id="rId4" Type="http://schemas.openxmlformats.org/officeDocument/2006/relationships/image" Target="../media/image41.jpe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image" Target="../media/image44.png"/><Relationship Id="rId8" Type="http://schemas.openxmlformats.org/officeDocument/2006/relationships/image" Target="../media/image45.png"/><Relationship Id="rId9" Type="http://schemas.openxmlformats.org/officeDocument/2006/relationships/image" Target="../media/image46.png"/><Relationship Id="rId10" Type="http://schemas.openxmlformats.org/officeDocument/2006/relationships/image" Target="../media/image47.png"/><Relationship Id="rId11" Type="http://schemas.openxmlformats.org/officeDocument/2006/relationships/image" Target="../media/image48.png"/><Relationship Id="rId12" Type="http://schemas.openxmlformats.org/officeDocument/2006/relationships/image" Target="../media/image49.png"/><Relationship Id="rId13" Type="http://schemas.openxmlformats.org/officeDocument/2006/relationships/image" Target="../media/image50.png"/><Relationship Id="rId14" Type="http://schemas.openxmlformats.org/officeDocument/2006/relationships/slideLayout" Target="../slideLayouts/slideLayout13.xml"/><Relationship Id="rId15"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3.xml"/><Relationship Id="rId5"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hyperlink" Target="https://github.com/eead-csic-compbio/bioinformatics/tree/main/docker" TargetMode="External"/><Relationship Id="rId2" Type="http://schemas.openxmlformats.org/officeDocument/2006/relationships/hyperlink" Target="file://wsl.localhost/Ubuntu-22.04/home/iamz/transcriptome_class" TargetMode="External"/><Relationship Id="rId3" Type="http://schemas.openxmlformats.org/officeDocument/2006/relationships/hyperlink" Target="file://wsl.localhost/Ubuntu-22.04/home/rsancho/transcriptome_class" TargetMode="External"/><Relationship Id="rId4" Type="http://schemas.openxmlformats.org/officeDocument/2006/relationships/slideLayout" Target="../slideLayouts/slideLayout13.xml"/><Relationship Id="rId5"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hyperlink" Target="file://wsl.localhost/Ubuntu-22.04/home/iamz/transcriptome_class/report/ABR3_D_03_fastqc.html" TargetMode="External"/><Relationship Id="rId2"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slideLayout" Target="../slideLayouts/slideLayout13.xml"/><Relationship Id="rId6"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slideLayout" Target="../slideLayouts/slideLayout13.xml"/><Relationship Id="rId6"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62.png"/><Relationship Id="rId2" Type="http://schemas.openxmlformats.org/officeDocument/2006/relationships/image" Target="../media/image63.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slideLayout" Target="../slideLayouts/slideLayout13.xml"/><Relationship Id="rId6"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image" Target="../media/image67.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slideLayout" Target="../slideLayouts/slideLayout13.xml"/><Relationship Id="rId6"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70.png"/><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13.xml"/><Relationship Id="rId6"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image" Target="../media/image75.png"/><Relationship Id="rId3" Type="http://schemas.openxmlformats.org/officeDocument/2006/relationships/slideLayout" Target="../slideLayouts/slideLayout13.xml"/><Relationship Id="rId4"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hyperlink" Target="http://www.usadellab.org/cms/?page=trimmomatic" TargetMode="External"/><Relationship Id="rId2" Type="http://schemas.openxmlformats.org/officeDocument/2006/relationships/slideLayout" Target="../slideLayouts/slideLayout13.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6.xml.rels><?xml version="1.0" encoding="UTF-8"?>
<Relationships xmlns="http://schemas.openxmlformats.org/package/2006/relationships"><Relationship Id="rId1" Type="http://schemas.openxmlformats.org/officeDocument/2006/relationships/image" Target="../media/image76.png"/><Relationship Id="rId2" Type="http://schemas.openxmlformats.org/officeDocument/2006/relationships/image" Target="../media/image77.png"/><Relationship Id="rId3" Type="http://schemas.openxmlformats.org/officeDocument/2006/relationships/slideLayout" Target="../slideLayouts/slideLayout13.xml"/>
</Relationships>
</file>

<file path=ppt/slides/_rels/slide37.xml.rels><?xml version="1.0" encoding="UTF-8"?>
<Relationships xmlns="http://schemas.openxmlformats.org/package/2006/relationships"><Relationship Id="rId1" Type="http://schemas.openxmlformats.org/officeDocument/2006/relationships/image" Target="../media/image78.png"/><Relationship Id="rId2" Type="http://schemas.openxmlformats.org/officeDocument/2006/relationships/image" Target="../media/image79.png"/><Relationship Id="rId3" Type="http://schemas.openxmlformats.org/officeDocument/2006/relationships/slideLayout" Target="../slideLayouts/slideLayout13.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hyperlink" Target="https://phytozome.jgi.doe.gov/" TargetMode="External"/><Relationship Id="rId2" Type="http://schemas.openxmlformats.org/officeDocument/2006/relationships/slideLayout" Target="../slideLayouts/slideLayout13.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slideLayout" Target="../slideLayouts/slideLayout13.xml"/><Relationship Id="rId5"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hyperlink" Target="file://wsl.localhost/Ubuntu-22.04/home/iamz/transcriptome_class/04_Sleuth" TargetMode="External"/><Relationship Id="rId2" Type="http://schemas.openxmlformats.org/officeDocument/2006/relationships/slideLayout" Target="../slideLayouts/slideLayout13.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83.png"/><Relationship Id="rId2" Type="http://schemas.openxmlformats.org/officeDocument/2006/relationships/slideLayout" Target="../slideLayouts/slideLayout13.xml"/><Relationship Id="rId3"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84.png"/><Relationship Id="rId2" Type="http://schemas.openxmlformats.org/officeDocument/2006/relationships/slideLayout" Target="../slideLayouts/slideLayout13.xml"/><Relationship Id="rId3"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85.png"/><Relationship Id="rId2" Type="http://schemas.openxmlformats.org/officeDocument/2006/relationships/slideLayout" Target="../slideLayouts/slideLayout13.xml"/><Relationship Id="rId3"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86.png"/><Relationship Id="rId2" Type="http://schemas.openxmlformats.org/officeDocument/2006/relationships/slideLayout" Target="../slideLayouts/slideLayout13.xml"/><Relationship Id="rId3"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slideLayout" Target="../slideLayouts/slideLayout13.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88.png"/><Relationship Id="rId2" Type="http://schemas.openxmlformats.org/officeDocument/2006/relationships/slideLayout" Target="../slideLayouts/slideLayout13.xml"/><Relationship Id="rId3"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hyperlink" Target="file://wsl.localhost/Ubuntu-22.04/home/iamz/transcriptome_class/05_WGCNA" TargetMode="External"/><Relationship Id="rId2" Type="http://schemas.openxmlformats.org/officeDocument/2006/relationships/slideLayout" Target="../slideLayouts/slideLayout13.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89.png"/><Relationship Id="rId2" Type="http://schemas.openxmlformats.org/officeDocument/2006/relationships/slideLayout" Target="../slideLayouts/slideLayout13.xml"/><Relationship Id="rId3"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90.png"/><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13.xml"/><Relationship Id="rId6"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94.png"/><Relationship Id="rId2" Type="http://schemas.openxmlformats.org/officeDocument/2006/relationships/slideLayout" Target="../slideLayouts/slideLayout13.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95.png"/><Relationship Id="rId2" Type="http://schemas.openxmlformats.org/officeDocument/2006/relationships/slideLayout" Target="../slideLayouts/slideLayout13.xml"/><Relationship Id="rId3"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hyperlink" Target="https://pantherdb.org/" TargetMode="External"/><Relationship Id="rId2" Type="http://schemas.openxmlformats.org/officeDocument/2006/relationships/slideLayout" Target="../slideLayouts/slideLayout13.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96.png"/><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slideLayout" Target="../slideLayouts/slideLayout13.xml"/><Relationship Id="rId5"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99.png"/><Relationship Id="rId2" Type="http://schemas.openxmlformats.org/officeDocument/2006/relationships/slideLayout" Target="../slideLayouts/slideLayout13.xml"/>
</Relationships>
</file>

<file path=ppt/slides/_rels/slide62.xml.rels><?xml version="1.0" encoding="UTF-8"?>
<Relationships xmlns="http://schemas.openxmlformats.org/package/2006/relationships"><Relationship Id="rId1" Type="http://schemas.openxmlformats.org/officeDocument/2006/relationships/image" Target="../media/image100.png"/><Relationship Id="rId2" Type="http://schemas.openxmlformats.org/officeDocument/2006/relationships/image" Target="../media/image101.png"/><Relationship Id="rId3" Type="http://schemas.openxmlformats.org/officeDocument/2006/relationships/slideLayout" Target="../slideLayouts/slideLayout13.xml"/><Relationship Id="rId4"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4.xml.rels><?xml version="1.0" encoding="UTF-8"?>
<Relationships xmlns="http://schemas.openxmlformats.org/package/2006/relationships"><Relationship Id="rId1" Type="http://schemas.openxmlformats.org/officeDocument/2006/relationships/image" Target="../media/image102.png"/><Relationship Id="rId2" Type="http://schemas.openxmlformats.org/officeDocument/2006/relationships/hyperlink" Target="https://eead-csic-compbio.github.io/bioinformatics/session1.html" TargetMode="External"/><Relationship Id="rId3" Type="http://schemas.openxmlformats.org/officeDocument/2006/relationships/hyperlink" Target="https://eead-csic-compbio.github.io/bioinformatics/session1.html" TargetMode="External"/><Relationship Id="rId4" Type="http://schemas.openxmlformats.org/officeDocument/2006/relationships/slideLayout" Target="../slideLayouts/slideLayout13.xml"/>
</Relationships>
</file>

<file path=ppt/slides/_rels/slide65.xml.rels><?xml version="1.0" encoding="UTF-8"?>
<Relationships xmlns="http://schemas.openxmlformats.org/package/2006/relationships"><Relationship Id="rId1" Type="http://schemas.openxmlformats.org/officeDocument/2006/relationships/hyperlink" Target="mailto:rsancho@eead.csic.es" TargetMode="Externa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image" Target="../media/image105.png"/><Relationship Id="rId5"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8" name="Imagen 8" descr="Diagrama&#10;&#10;El contenido generado por IA puede ser incorrecto."/>
          <p:cNvPicPr/>
          <p:nvPr/>
        </p:nvPicPr>
        <p:blipFill>
          <a:blip r:embed="rId1"/>
          <a:stretch/>
        </p:blipFill>
        <p:spPr>
          <a:xfrm>
            <a:off x="2198880" y="949680"/>
            <a:ext cx="7794360" cy="3980520"/>
          </a:xfrm>
          <a:prstGeom prst="rect">
            <a:avLst/>
          </a:prstGeom>
          <a:ln>
            <a:noFill/>
          </a:ln>
          <a:effectLst>
            <a:softEdge rad="112500"/>
          </a:effectLst>
        </p:spPr>
      </p:pic>
      <p:pic>
        <p:nvPicPr>
          <p:cNvPr id="89" name="Picture 2" descr="CIHEAM Zaragoza"/>
          <p:cNvPicPr/>
          <p:nvPr/>
        </p:nvPicPr>
        <p:blipFill>
          <a:blip r:embed="rId2"/>
          <a:stretch/>
        </p:blipFill>
        <p:spPr>
          <a:xfrm>
            <a:off x="230760" y="5878440"/>
            <a:ext cx="1885680" cy="761760"/>
          </a:xfrm>
          <a:prstGeom prst="rect">
            <a:avLst/>
          </a:prstGeom>
          <a:ln>
            <a:noFill/>
          </a:ln>
        </p:spPr>
      </p:pic>
      <p:pic>
        <p:nvPicPr>
          <p:cNvPr id="90" name="Picture 4" descr=""/>
          <p:cNvPicPr/>
          <p:nvPr/>
        </p:nvPicPr>
        <p:blipFill>
          <a:blip r:embed="rId3"/>
          <a:stretch/>
        </p:blipFill>
        <p:spPr>
          <a:xfrm>
            <a:off x="9189360" y="6040080"/>
            <a:ext cx="2771280" cy="599760"/>
          </a:xfrm>
          <a:prstGeom prst="rect">
            <a:avLst/>
          </a:prstGeom>
          <a:ln>
            <a:noFill/>
          </a:ln>
        </p:spPr>
      </p:pic>
      <p:sp>
        <p:nvSpPr>
          <p:cNvPr id="91" name="CustomShape 1"/>
          <p:cNvSpPr/>
          <p:nvPr/>
        </p:nvSpPr>
        <p:spPr>
          <a:xfrm>
            <a:off x="2775600" y="380160"/>
            <a:ext cx="6640560" cy="10645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3200" spc="-1" strike="noStrike">
                <a:solidFill>
                  <a:srgbClr val="000000"/>
                </a:solidFill>
                <a:latin typeface="Aptos"/>
              </a:rPr>
              <a:t>ANALYSIS OF TRANSCRIPTOMES</a:t>
            </a:r>
            <a:endParaRPr b="0" lang="es-ES" sz="3200" spc="-1" strike="noStrike">
              <a:latin typeface="Arial"/>
            </a:endParaRPr>
          </a:p>
        </p:txBody>
      </p:sp>
      <p:sp>
        <p:nvSpPr>
          <p:cNvPr id="92" name="CustomShape 2"/>
          <p:cNvSpPr/>
          <p:nvPr/>
        </p:nvSpPr>
        <p:spPr>
          <a:xfrm>
            <a:off x="3673800" y="4854240"/>
            <a:ext cx="484452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i="1" lang="en-US" sz="1800" spc="-1" strike="noStrike">
                <a:solidFill>
                  <a:srgbClr val="000000"/>
                </a:solidFill>
                <a:latin typeface="Aptos"/>
              </a:rPr>
              <a:t>Rubén Sancho; Bruno Contreras-Moreira</a:t>
            </a:r>
            <a:endParaRPr b="0" lang="es-ES" sz="1800" spc="-1" strike="noStrike">
              <a:latin typeface="Arial"/>
            </a:endParaRPr>
          </a:p>
        </p:txBody>
      </p:sp>
      <p:sp>
        <p:nvSpPr>
          <p:cNvPr id="93" name="CustomShape 3"/>
          <p:cNvSpPr/>
          <p:nvPr/>
        </p:nvSpPr>
        <p:spPr>
          <a:xfrm>
            <a:off x="4865400" y="5455440"/>
            <a:ext cx="2460960" cy="1368360"/>
          </a:xfrm>
          <a:prstGeom prst="rect">
            <a:avLst/>
          </a:prstGeom>
          <a:noFill/>
          <a:ln>
            <a:solidFill>
              <a:schemeClr val="tx1">
                <a:lumMod val="95000"/>
                <a:lumOff val="5000"/>
              </a:schemeClr>
            </a:solidFill>
          </a:ln>
        </p:spPr>
        <p:style>
          <a:lnRef idx="0"/>
          <a:fillRef idx="0"/>
          <a:effectRef idx="0"/>
          <a:fontRef idx="minor"/>
        </p:style>
        <p:txBody>
          <a:bodyPr lIns="90000" rIns="90000" tIns="45000" bIns="45000">
            <a:spAutoFit/>
          </a:bodyPr>
          <a:p>
            <a:pPr algn="ctr">
              <a:lnSpc>
                <a:spcPct val="100000"/>
              </a:lnSpc>
            </a:pPr>
            <a:r>
              <a:rPr b="1" i="1" lang="en-US" sz="1400" spc="-1" strike="noStrike">
                <a:solidFill>
                  <a:srgbClr val="000000"/>
                </a:solidFill>
                <a:latin typeface="Aptos"/>
              </a:rPr>
              <a:t>16 December 2025 (6 hours)</a:t>
            </a:r>
            <a:endParaRPr b="0" lang="es-ES" sz="1400" spc="-1" strike="noStrike">
              <a:latin typeface="Arial"/>
            </a:endParaRPr>
          </a:p>
          <a:p>
            <a:pPr algn="ctr">
              <a:lnSpc>
                <a:spcPct val="100000"/>
              </a:lnSpc>
            </a:pPr>
            <a:r>
              <a:rPr b="0" i="1" lang="en-US" sz="1400" spc="-1" strike="noStrike">
                <a:solidFill>
                  <a:srgbClr val="000000"/>
                </a:solidFill>
                <a:latin typeface="Aptos"/>
              </a:rPr>
              <a:t>9:00-10:00</a:t>
            </a:r>
            <a:endParaRPr b="0" lang="es-ES" sz="1400" spc="-1" strike="noStrike">
              <a:latin typeface="Arial"/>
            </a:endParaRPr>
          </a:p>
          <a:p>
            <a:pPr algn="ctr">
              <a:lnSpc>
                <a:spcPct val="100000"/>
              </a:lnSpc>
            </a:pPr>
            <a:r>
              <a:rPr b="0" i="1" lang="en-US" sz="1400" spc="-1" strike="noStrike">
                <a:solidFill>
                  <a:srgbClr val="000000"/>
                </a:solidFill>
                <a:latin typeface="Aptos"/>
              </a:rPr>
              <a:t>10:00-11:00</a:t>
            </a:r>
            <a:endParaRPr b="0" lang="es-ES" sz="1400" spc="-1" strike="noStrike">
              <a:latin typeface="Arial"/>
            </a:endParaRPr>
          </a:p>
          <a:p>
            <a:pPr algn="ctr">
              <a:lnSpc>
                <a:spcPct val="100000"/>
              </a:lnSpc>
            </a:pPr>
            <a:r>
              <a:rPr b="0" i="1" lang="en-US" sz="1400" spc="-1" strike="noStrike">
                <a:solidFill>
                  <a:srgbClr val="000000"/>
                </a:solidFill>
                <a:latin typeface="Aptos"/>
              </a:rPr>
              <a:t>11:30-13:30</a:t>
            </a:r>
            <a:endParaRPr b="0" lang="es-ES" sz="1400" spc="-1" strike="noStrike">
              <a:latin typeface="Arial"/>
            </a:endParaRPr>
          </a:p>
          <a:p>
            <a:pPr algn="ctr">
              <a:lnSpc>
                <a:spcPct val="100000"/>
              </a:lnSpc>
            </a:pPr>
            <a:r>
              <a:rPr b="0" i="1" lang="en-US" sz="1400" spc="-1" strike="noStrike">
                <a:solidFill>
                  <a:srgbClr val="000000"/>
                </a:solidFill>
                <a:latin typeface="Aptos"/>
              </a:rPr>
              <a:t>15:00-17:00</a:t>
            </a:r>
            <a:endParaRPr b="0" lang="es-ES" sz="1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CustomShape 1"/>
          <p:cNvSpPr/>
          <p:nvPr/>
        </p:nvSpPr>
        <p:spPr>
          <a:xfrm>
            <a:off x="1674360" y="749160"/>
            <a:ext cx="8843040" cy="85212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3600" spc="-1" strike="noStrike">
                <a:solidFill>
                  <a:srgbClr val="000000"/>
                </a:solidFill>
                <a:latin typeface="Aptos"/>
              </a:rPr>
              <a:t>Session Objectives</a:t>
            </a:r>
            <a:endParaRPr b="0" lang="es-ES" sz="3600" spc="-1" strike="noStrike">
              <a:latin typeface="Arial"/>
            </a:endParaRPr>
          </a:p>
          <a:p>
            <a:pPr algn="ctr">
              <a:lnSpc>
                <a:spcPct val="100000"/>
              </a:lnSpc>
            </a:pPr>
            <a:endParaRPr b="0" lang="es-ES" sz="3600" spc="-1" strike="noStrike">
              <a:latin typeface="Arial"/>
            </a:endParaRPr>
          </a:p>
        </p:txBody>
      </p:sp>
      <p:sp>
        <p:nvSpPr>
          <p:cNvPr id="95" name="CustomShape 2"/>
          <p:cNvSpPr/>
          <p:nvPr/>
        </p:nvSpPr>
        <p:spPr>
          <a:xfrm>
            <a:off x="1285920" y="1998000"/>
            <a:ext cx="9686520" cy="3747240"/>
          </a:xfrm>
          <a:prstGeom prst="rect">
            <a:avLst/>
          </a:prstGeom>
          <a:noFill/>
          <a:ln>
            <a:noFill/>
          </a:ln>
        </p:spPr>
        <p:style>
          <a:lnRef idx="0"/>
          <a:fillRef idx="0"/>
          <a:effectRef idx="0"/>
          <a:fontRef idx="minor"/>
        </p:style>
        <p:txBody>
          <a:bodyPr lIns="90000" rIns="90000" tIns="45000" bIns="45000">
            <a:spAutoFit/>
          </a:bodyPr>
          <a:p>
            <a:pPr marL="343080" indent="-342720">
              <a:lnSpc>
                <a:spcPct val="100000"/>
              </a:lnSpc>
              <a:buClr>
                <a:srgbClr val="000000"/>
              </a:buClr>
              <a:buFont typeface="Wingdings" charset="2"/>
              <a:buChar char=""/>
            </a:pPr>
            <a:r>
              <a:rPr b="0" lang="en-US" sz="2400" spc="-1" strike="noStrike">
                <a:solidFill>
                  <a:srgbClr val="000000"/>
                </a:solidFill>
                <a:latin typeface="Aptos"/>
              </a:rPr>
              <a:t>Gain an overview of the complete RNA-seq analysis workflow.</a:t>
            </a:r>
            <a:endParaRPr b="0" lang="es-ES" sz="2400" spc="-1" strike="noStrike">
              <a:latin typeface="Arial"/>
            </a:endParaRPr>
          </a:p>
          <a:p>
            <a:pPr>
              <a:lnSpc>
                <a:spcPct val="100000"/>
              </a:lnSpc>
            </a:pPr>
            <a:endParaRPr b="0" lang="es-ES" sz="2400" spc="-1" strike="noStrike">
              <a:latin typeface="Arial"/>
            </a:endParaRPr>
          </a:p>
          <a:p>
            <a:pPr marL="343080" indent="-342720">
              <a:lnSpc>
                <a:spcPct val="100000"/>
              </a:lnSpc>
              <a:buClr>
                <a:srgbClr val="000000"/>
              </a:buClr>
              <a:buFont typeface="Wingdings" charset="2"/>
              <a:buChar char=""/>
            </a:pPr>
            <a:r>
              <a:rPr b="0" lang="en-US" sz="2400" spc="-1" strike="noStrike">
                <a:solidFill>
                  <a:srgbClr val="000000"/>
                </a:solidFill>
                <a:latin typeface="Aptos"/>
              </a:rPr>
              <a:t>Understand differential gene expression (DEG) and co-expression network analyses.</a:t>
            </a:r>
            <a:endParaRPr b="0" lang="es-ES" sz="2400" spc="-1" strike="noStrike">
              <a:latin typeface="Arial"/>
            </a:endParaRPr>
          </a:p>
          <a:p>
            <a:pPr>
              <a:lnSpc>
                <a:spcPct val="100000"/>
              </a:lnSpc>
            </a:pPr>
            <a:endParaRPr b="0" lang="es-ES" sz="2400" spc="-1" strike="noStrike">
              <a:latin typeface="Arial"/>
            </a:endParaRPr>
          </a:p>
          <a:p>
            <a:pPr marL="343080" indent="-342720">
              <a:lnSpc>
                <a:spcPct val="100000"/>
              </a:lnSpc>
              <a:buClr>
                <a:srgbClr val="000000"/>
              </a:buClr>
              <a:buFont typeface="Wingdings" charset="2"/>
              <a:buChar char=""/>
            </a:pPr>
            <a:r>
              <a:rPr b="0" lang="en-US" sz="2400" spc="-1" strike="noStrike">
                <a:solidFill>
                  <a:srgbClr val="000000"/>
                </a:solidFill>
                <a:latin typeface="Aptos"/>
              </a:rPr>
              <a:t>Understand the key concepts underlying these analyses.</a:t>
            </a:r>
            <a:endParaRPr b="0" lang="es-ES" sz="2400" spc="-1" strike="noStrike">
              <a:latin typeface="Arial"/>
            </a:endParaRPr>
          </a:p>
          <a:p>
            <a:pPr>
              <a:lnSpc>
                <a:spcPct val="100000"/>
              </a:lnSpc>
            </a:pPr>
            <a:endParaRPr b="0" lang="es-ES" sz="2400" spc="-1" strike="noStrike">
              <a:latin typeface="Arial"/>
            </a:endParaRPr>
          </a:p>
          <a:p>
            <a:pPr marL="343080" indent="-342720">
              <a:lnSpc>
                <a:spcPct val="100000"/>
              </a:lnSpc>
              <a:buClr>
                <a:srgbClr val="000000"/>
              </a:buClr>
              <a:buFont typeface="Wingdings" charset="2"/>
              <a:buChar char=""/>
            </a:pPr>
            <a:r>
              <a:rPr b="0" lang="en-US" sz="2400" spc="-1" strike="noStrike">
                <a:solidFill>
                  <a:srgbClr val="000000"/>
                </a:solidFill>
                <a:latin typeface="Aptos"/>
              </a:rPr>
              <a:t>Become familiar with the bioinformatics tools and processes used in RNA-seq analysis.</a:t>
            </a:r>
            <a:endParaRPr b="0" lang="es-ES" sz="24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CustomShape 1"/>
          <p:cNvSpPr/>
          <p:nvPr/>
        </p:nvSpPr>
        <p:spPr>
          <a:xfrm>
            <a:off x="1674360" y="352800"/>
            <a:ext cx="8843040" cy="159840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2800" spc="-1" strike="noStrike">
                <a:solidFill>
                  <a:srgbClr val="000000"/>
                </a:solidFill>
                <a:latin typeface="Aptos"/>
              </a:rPr>
              <a:t>How to analyze RNA-seq data?</a:t>
            </a:r>
            <a:endParaRPr b="0" lang="es-ES" sz="2800" spc="-1" strike="noStrike">
              <a:latin typeface="Arial"/>
            </a:endParaRPr>
          </a:p>
          <a:p>
            <a:pPr algn="ctr">
              <a:lnSpc>
                <a:spcPct val="100000"/>
              </a:lnSpc>
            </a:pPr>
            <a:endParaRPr b="0" lang="es-ES" sz="2800" spc="-1" strike="noStrike">
              <a:latin typeface="Arial"/>
            </a:endParaRPr>
          </a:p>
          <a:p>
            <a:pPr algn="ctr">
              <a:lnSpc>
                <a:spcPct val="100000"/>
              </a:lnSpc>
            </a:pPr>
            <a:r>
              <a:rPr b="1" lang="en-US" sz="2000" spc="-1" strike="noStrike">
                <a:solidFill>
                  <a:srgbClr val="000000"/>
                </a:solidFill>
                <a:latin typeface="Aptos"/>
              </a:rPr>
              <a:t>From raw data to interpreting differential expression results, co-expression networks, and biological implications.</a:t>
            </a:r>
            <a:endParaRPr b="0" lang="es-ES" sz="2000" spc="-1" strike="noStrike">
              <a:latin typeface="Arial"/>
            </a:endParaRPr>
          </a:p>
        </p:txBody>
      </p:sp>
      <p:sp>
        <p:nvSpPr>
          <p:cNvPr id="97" name="CustomShape 2"/>
          <p:cNvSpPr/>
          <p:nvPr/>
        </p:nvSpPr>
        <p:spPr>
          <a:xfrm>
            <a:off x="2918520" y="5776200"/>
            <a:ext cx="2561760" cy="118692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Differentially Expressed Genes-DEGs</a:t>
            </a:r>
            <a:endParaRPr b="0" lang="es-ES" sz="1800" spc="-1" strike="noStrike">
              <a:latin typeface="Arial"/>
            </a:endParaRPr>
          </a:p>
          <a:p>
            <a:pPr algn="ctr">
              <a:lnSpc>
                <a:spcPct val="100000"/>
              </a:lnSpc>
            </a:pPr>
            <a:r>
              <a:rPr b="0" lang="en-US" sz="1800" spc="-1" strike="noStrike">
                <a:solidFill>
                  <a:srgbClr val="000000"/>
                </a:solidFill>
                <a:latin typeface="Aptos"/>
              </a:rPr>
              <a:t>(individual genes)</a:t>
            </a:r>
            <a:endParaRPr b="0" lang="es-ES" sz="1800" spc="-1" strike="noStrike">
              <a:latin typeface="Arial"/>
            </a:endParaRPr>
          </a:p>
        </p:txBody>
      </p:sp>
      <p:sp>
        <p:nvSpPr>
          <p:cNvPr id="98" name="CustomShape 3"/>
          <p:cNvSpPr/>
          <p:nvPr/>
        </p:nvSpPr>
        <p:spPr>
          <a:xfrm>
            <a:off x="6810480" y="5776200"/>
            <a:ext cx="2887560" cy="91260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Co-expressed genes</a:t>
            </a:r>
            <a:endParaRPr b="0" lang="es-ES" sz="1800" spc="-1" strike="noStrike">
              <a:latin typeface="Arial"/>
            </a:endParaRPr>
          </a:p>
          <a:p>
            <a:pPr algn="ctr">
              <a:lnSpc>
                <a:spcPct val="100000"/>
              </a:lnSpc>
            </a:pPr>
            <a:r>
              <a:rPr b="0" lang="en-US" sz="1800" spc="-1" strike="noStrike">
                <a:solidFill>
                  <a:srgbClr val="000000"/>
                </a:solidFill>
                <a:latin typeface="Aptos"/>
              </a:rPr>
              <a:t>(Groups/modules of genes)</a:t>
            </a:r>
            <a:endParaRPr b="0" lang="es-ES" sz="1800" spc="-1" strike="noStrike">
              <a:latin typeface="Arial"/>
            </a:endParaRPr>
          </a:p>
        </p:txBody>
      </p:sp>
      <p:sp>
        <p:nvSpPr>
          <p:cNvPr id="99" name="CustomShape 4"/>
          <p:cNvSpPr/>
          <p:nvPr/>
        </p:nvSpPr>
        <p:spPr>
          <a:xfrm>
            <a:off x="4960800" y="1949040"/>
            <a:ext cx="2273760" cy="638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Experimental Design</a:t>
            </a:r>
            <a:endParaRPr b="0" lang="es-ES" sz="1800" spc="-1" strike="noStrike">
              <a:latin typeface="Arial"/>
            </a:endParaRPr>
          </a:p>
        </p:txBody>
      </p:sp>
      <p:sp>
        <p:nvSpPr>
          <p:cNvPr id="100" name="CustomShape 5"/>
          <p:cNvSpPr/>
          <p:nvPr/>
        </p:nvSpPr>
        <p:spPr>
          <a:xfrm>
            <a:off x="5419440" y="2535120"/>
            <a:ext cx="1342440" cy="91260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RNA-seq</a:t>
            </a:r>
            <a:endParaRPr b="0" lang="es-ES" sz="1800" spc="-1" strike="noStrike">
              <a:latin typeface="Arial"/>
            </a:endParaRPr>
          </a:p>
          <a:p>
            <a:pPr algn="ctr">
              <a:lnSpc>
                <a:spcPct val="100000"/>
              </a:lnSpc>
            </a:pPr>
            <a:r>
              <a:rPr b="0" lang="en-US" sz="1800" spc="-1" strike="noStrike">
                <a:solidFill>
                  <a:srgbClr val="000000"/>
                </a:solidFill>
                <a:latin typeface="Aptos"/>
              </a:rPr>
              <a:t>(raw data)</a:t>
            </a:r>
            <a:endParaRPr b="0" lang="es-ES" sz="1800" spc="-1" strike="noStrike">
              <a:latin typeface="Arial"/>
            </a:endParaRPr>
          </a:p>
        </p:txBody>
      </p:sp>
      <p:sp>
        <p:nvSpPr>
          <p:cNvPr id="101" name="CustomShape 6"/>
          <p:cNvSpPr/>
          <p:nvPr/>
        </p:nvSpPr>
        <p:spPr>
          <a:xfrm>
            <a:off x="5052240" y="3397680"/>
            <a:ext cx="2083320" cy="638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Quality Check (QC)</a:t>
            </a:r>
            <a:endParaRPr b="0" lang="es-ES" sz="1800" spc="-1" strike="noStrike">
              <a:latin typeface="Arial"/>
            </a:endParaRPr>
          </a:p>
        </p:txBody>
      </p:sp>
      <p:sp>
        <p:nvSpPr>
          <p:cNvPr id="102" name="CustomShape 7"/>
          <p:cNvSpPr/>
          <p:nvPr/>
        </p:nvSpPr>
        <p:spPr>
          <a:xfrm>
            <a:off x="5600880" y="3983760"/>
            <a:ext cx="993600" cy="638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Filtering</a:t>
            </a:r>
            <a:endParaRPr b="0" lang="es-ES" sz="1800" spc="-1" strike="noStrike">
              <a:latin typeface="Arial"/>
            </a:endParaRPr>
          </a:p>
        </p:txBody>
      </p:sp>
      <p:sp>
        <p:nvSpPr>
          <p:cNvPr id="103" name="CustomShape 8"/>
          <p:cNvSpPr/>
          <p:nvPr/>
        </p:nvSpPr>
        <p:spPr>
          <a:xfrm>
            <a:off x="5547240" y="4569480"/>
            <a:ext cx="1115280" cy="638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Mapping</a:t>
            </a:r>
            <a:endParaRPr b="0" lang="es-ES" sz="1800" spc="-1" strike="noStrike">
              <a:latin typeface="Arial"/>
            </a:endParaRPr>
          </a:p>
        </p:txBody>
      </p:sp>
      <p:sp>
        <p:nvSpPr>
          <p:cNvPr id="104" name="CustomShape 9"/>
          <p:cNvSpPr/>
          <p:nvPr/>
        </p:nvSpPr>
        <p:spPr>
          <a:xfrm>
            <a:off x="1752480" y="1962360"/>
            <a:ext cx="138708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Hypothesis</a:t>
            </a:r>
            <a:endParaRPr b="0" lang="es-ES" sz="1800" spc="-1" strike="noStrike">
              <a:latin typeface="Arial"/>
            </a:endParaRPr>
          </a:p>
        </p:txBody>
      </p:sp>
      <p:sp>
        <p:nvSpPr>
          <p:cNvPr id="105" name="CustomShape 10"/>
          <p:cNvSpPr/>
          <p:nvPr/>
        </p:nvSpPr>
        <p:spPr>
          <a:xfrm>
            <a:off x="9409680" y="1949040"/>
            <a:ext cx="124164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Objectives</a:t>
            </a:r>
            <a:endParaRPr b="0" lang="es-ES" sz="1800" spc="-1" strike="noStrike">
              <a:latin typeface="Arial"/>
            </a:endParaRPr>
          </a:p>
        </p:txBody>
      </p:sp>
      <p:sp>
        <p:nvSpPr>
          <p:cNvPr id="106" name="CustomShape 11"/>
          <p:cNvSpPr/>
          <p:nvPr/>
        </p:nvSpPr>
        <p:spPr>
          <a:xfrm>
            <a:off x="1356480" y="2673360"/>
            <a:ext cx="241236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Library prep. protocol</a:t>
            </a:r>
            <a:endParaRPr b="0" lang="es-ES" sz="1800" spc="-1" strike="noStrike">
              <a:latin typeface="Arial"/>
            </a:endParaRPr>
          </a:p>
        </p:txBody>
      </p:sp>
      <p:sp>
        <p:nvSpPr>
          <p:cNvPr id="107" name="CustomShape 12"/>
          <p:cNvSpPr/>
          <p:nvPr/>
        </p:nvSpPr>
        <p:spPr>
          <a:xfrm>
            <a:off x="8900280" y="2673360"/>
            <a:ext cx="225504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Sequencing platform</a:t>
            </a:r>
            <a:endParaRPr b="0" lang="es-ES" sz="1800" spc="-1" strike="noStrike">
              <a:latin typeface="Arial"/>
            </a:endParaRPr>
          </a:p>
        </p:txBody>
      </p:sp>
      <p:sp>
        <p:nvSpPr>
          <p:cNvPr id="108" name="CustomShape 13"/>
          <p:cNvSpPr/>
          <p:nvPr/>
        </p:nvSpPr>
        <p:spPr>
          <a:xfrm>
            <a:off x="205920" y="4555800"/>
            <a:ext cx="355824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Reference genome/transcriptome</a:t>
            </a:r>
            <a:endParaRPr b="0" lang="es-ES" sz="1800" spc="-1" strike="noStrike">
              <a:latin typeface="Arial"/>
            </a:endParaRPr>
          </a:p>
        </p:txBody>
      </p:sp>
      <p:sp>
        <p:nvSpPr>
          <p:cNvPr id="109" name="CustomShape 14"/>
          <p:cNvSpPr/>
          <p:nvPr/>
        </p:nvSpPr>
        <p:spPr>
          <a:xfrm>
            <a:off x="4605120" y="5155560"/>
            <a:ext cx="3004560" cy="3646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Counting/ Normalization</a:t>
            </a:r>
            <a:endParaRPr b="0" lang="es-ES" sz="1800" spc="-1" strike="noStrike">
              <a:latin typeface="Arial"/>
            </a:endParaRPr>
          </a:p>
        </p:txBody>
      </p:sp>
      <p:sp>
        <p:nvSpPr>
          <p:cNvPr id="110" name="CustomShape 15"/>
          <p:cNvSpPr/>
          <p:nvPr/>
        </p:nvSpPr>
        <p:spPr>
          <a:xfrm flipH="1">
            <a:off x="6090840" y="2318400"/>
            <a:ext cx="6480" cy="21600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111" name="CustomShape 16"/>
          <p:cNvSpPr/>
          <p:nvPr/>
        </p:nvSpPr>
        <p:spPr>
          <a:xfrm>
            <a:off x="6090840" y="3181320"/>
            <a:ext cx="2520" cy="21600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112" name="CustomShape 17"/>
          <p:cNvSpPr/>
          <p:nvPr/>
        </p:nvSpPr>
        <p:spPr>
          <a:xfrm>
            <a:off x="6093720" y="3767040"/>
            <a:ext cx="3600" cy="21600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113" name="CustomShape 18"/>
          <p:cNvSpPr/>
          <p:nvPr/>
        </p:nvSpPr>
        <p:spPr>
          <a:xfrm>
            <a:off x="6097680" y="4353120"/>
            <a:ext cx="7200" cy="21600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114" name="CustomShape 19"/>
          <p:cNvSpPr/>
          <p:nvPr/>
        </p:nvSpPr>
        <p:spPr>
          <a:xfrm>
            <a:off x="6105240" y="4938840"/>
            <a:ext cx="1800" cy="21600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115" name="CustomShape 20"/>
          <p:cNvSpPr/>
          <p:nvPr/>
        </p:nvSpPr>
        <p:spPr>
          <a:xfrm flipV="1">
            <a:off x="3139920" y="2132640"/>
            <a:ext cx="1820160" cy="12600"/>
          </a:xfrm>
          <a:custGeom>
            <a:avLst/>
            <a:gdLst/>
            <a:ahLst/>
            <a:rect l="l" t="t" r="r" b="b"/>
            <a:pathLst>
              <a:path w="21600" h="21600">
                <a:moveTo>
                  <a:pt x="0" y="0"/>
                </a:moveTo>
                <a:lnTo>
                  <a:pt x="21600" y="21600"/>
                </a:lnTo>
              </a:path>
            </a:pathLst>
          </a:custGeom>
          <a:noFill/>
          <a:ln w="28440">
            <a:prstDash val="sysDot"/>
            <a:tailEnd len="med" type="triangle" w="med"/>
          </a:ln>
        </p:spPr>
        <p:style>
          <a:lnRef idx="2">
            <a:schemeClr val="dk1"/>
          </a:lnRef>
          <a:fillRef idx="0">
            <a:schemeClr val="dk1"/>
          </a:fillRef>
          <a:effectRef idx="1">
            <a:schemeClr val="dk1"/>
          </a:effectRef>
          <a:fontRef idx="minor"/>
        </p:style>
      </p:sp>
      <p:sp>
        <p:nvSpPr>
          <p:cNvPr id="116" name="CustomShape 21"/>
          <p:cNvSpPr/>
          <p:nvPr/>
        </p:nvSpPr>
        <p:spPr>
          <a:xfrm>
            <a:off x="3769200" y="2858040"/>
            <a:ext cx="1649880" cy="360"/>
          </a:xfrm>
          <a:custGeom>
            <a:avLst/>
            <a:gdLst/>
            <a:ahLst/>
            <a:rect l="l" t="t" r="r" b="b"/>
            <a:pathLst>
              <a:path w="21600" h="21600">
                <a:moveTo>
                  <a:pt x="0" y="0"/>
                </a:moveTo>
                <a:lnTo>
                  <a:pt x="21600" y="21600"/>
                </a:lnTo>
              </a:path>
            </a:pathLst>
          </a:custGeom>
          <a:noFill/>
          <a:ln w="28440">
            <a:prstDash val="sysDot"/>
            <a:tailEnd len="med" type="triangle" w="med"/>
          </a:ln>
        </p:spPr>
        <p:style>
          <a:lnRef idx="2">
            <a:schemeClr val="dk1"/>
          </a:lnRef>
          <a:fillRef idx="0">
            <a:schemeClr val="dk1"/>
          </a:fillRef>
          <a:effectRef idx="1">
            <a:schemeClr val="dk1"/>
          </a:effectRef>
          <a:fontRef idx="minor"/>
        </p:style>
      </p:sp>
      <p:sp>
        <p:nvSpPr>
          <p:cNvPr id="117" name="CustomShape 22"/>
          <p:cNvSpPr/>
          <p:nvPr/>
        </p:nvSpPr>
        <p:spPr>
          <a:xfrm flipH="1">
            <a:off x="7233840" y="2133720"/>
            <a:ext cx="2174760" cy="360"/>
          </a:xfrm>
          <a:custGeom>
            <a:avLst/>
            <a:gdLst/>
            <a:ahLst/>
            <a:rect l="l" t="t" r="r" b="b"/>
            <a:pathLst>
              <a:path w="21600" h="21600">
                <a:moveTo>
                  <a:pt x="0" y="0"/>
                </a:moveTo>
                <a:lnTo>
                  <a:pt x="21600" y="21600"/>
                </a:lnTo>
              </a:path>
            </a:pathLst>
          </a:custGeom>
          <a:noFill/>
          <a:ln w="28440">
            <a:prstDash val="sysDot"/>
            <a:tailEnd len="med" type="triangle" w="med"/>
          </a:ln>
        </p:spPr>
        <p:style>
          <a:lnRef idx="2">
            <a:schemeClr val="dk1"/>
          </a:lnRef>
          <a:fillRef idx="0">
            <a:schemeClr val="dk1"/>
          </a:fillRef>
          <a:effectRef idx="1">
            <a:schemeClr val="dk1"/>
          </a:effectRef>
          <a:fontRef idx="minor"/>
        </p:style>
      </p:sp>
      <p:sp>
        <p:nvSpPr>
          <p:cNvPr id="118" name="CustomShape 23"/>
          <p:cNvSpPr/>
          <p:nvPr/>
        </p:nvSpPr>
        <p:spPr>
          <a:xfrm flipH="1">
            <a:off x="6762240" y="2858040"/>
            <a:ext cx="2137680" cy="360"/>
          </a:xfrm>
          <a:custGeom>
            <a:avLst/>
            <a:gdLst/>
            <a:ahLst/>
            <a:rect l="l" t="t" r="r" b="b"/>
            <a:pathLst>
              <a:path w="21600" h="21600">
                <a:moveTo>
                  <a:pt x="0" y="0"/>
                </a:moveTo>
                <a:lnTo>
                  <a:pt x="21600" y="21600"/>
                </a:lnTo>
              </a:path>
            </a:pathLst>
          </a:custGeom>
          <a:noFill/>
          <a:ln w="28440">
            <a:prstDash val="sysDot"/>
            <a:tailEnd len="med" type="triangle" w="med"/>
          </a:ln>
        </p:spPr>
        <p:style>
          <a:lnRef idx="2">
            <a:schemeClr val="dk1"/>
          </a:lnRef>
          <a:fillRef idx="0">
            <a:schemeClr val="dk1"/>
          </a:fillRef>
          <a:effectRef idx="1">
            <a:schemeClr val="dk1"/>
          </a:effectRef>
          <a:fontRef idx="minor"/>
        </p:style>
      </p:sp>
      <p:sp>
        <p:nvSpPr>
          <p:cNvPr id="119" name="CustomShape 24"/>
          <p:cNvSpPr/>
          <p:nvPr/>
        </p:nvSpPr>
        <p:spPr>
          <a:xfrm>
            <a:off x="3764160" y="4740480"/>
            <a:ext cx="1782720" cy="13320"/>
          </a:xfrm>
          <a:custGeom>
            <a:avLst/>
            <a:gdLst/>
            <a:ahLst/>
            <a:rect l="l" t="t" r="r" b="b"/>
            <a:pathLst>
              <a:path w="21600" h="21600">
                <a:moveTo>
                  <a:pt x="0" y="0"/>
                </a:moveTo>
                <a:lnTo>
                  <a:pt x="21600" y="21600"/>
                </a:lnTo>
              </a:path>
            </a:pathLst>
          </a:custGeom>
          <a:noFill/>
          <a:ln w="28440">
            <a:prstDash val="sysDot"/>
            <a:tailEnd len="med" type="triangle" w="med"/>
          </a:ln>
        </p:spPr>
        <p:style>
          <a:lnRef idx="2">
            <a:schemeClr val="dk1"/>
          </a:lnRef>
          <a:fillRef idx="0">
            <a:schemeClr val="dk1"/>
          </a:fillRef>
          <a:effectRef idx="1">
            <a:schemeClr val="dk1"/>
          </a:effectRef>
          <a:fontRef idx="minor"/>
        </p:style>
      </p:sp>
      <p:sp>
        <p:nvSpPr>
          <p:cNvPr id="120" name="CustomShape 25"/>
          <p:cNvSpPr/>
          <p:nvPr/>
        </p:nvSpPr>
        <p:spPr>
          <a:xfrm flipH="1">
            <a:off x="4198680" y="5524920"/>
            <a:ext cx="1907640" cy="25092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121" name="CustomShape 26"/>
          <p:cNvSpPr/>
          <p:nvPr/>
        </p:nvSpPr>
        <p:spPr>
          <a:xfrm>
            <a:off x="6107400" y="5524920"/>
            <a:ext cx="2146680" cy="25092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122" name="CustomShape 27"/>
          <p:cNvSpPr/>
          <p:nvPr/>
        </p:nvSpPr>
        <p:spPr>
          <a:xfrm flipV="1">
            <a:off x="7135560" y="3576240"/>
            <a:ext cx="1841040" cy="4680"/>
          </a:xfrm>
          <a:custGeom>
            <a:avLst/>
            <a:gdLst/>
            <a:ahLst/>
            <a:rect l="l" t="t" r="r" b="b"/>
            <a:pathLst>
              <a:path w="21600" h="21600">
                <a:moveTo>
                  <a:pt x="0" y="0"/>
                </a:moveTo>
                <a:lnTo>
                  <a:pt x="21600" y="21600"/>
                </a:lnTo>
              </a:path>
            </a:pathLst>
          </a:custGeom>
          <a:noFill/>
          <a:ln w="28440">
            <a:prstDash val="sysDot"/>
            <a:tailEnd len="med" type="triangle" w="med"/>
          </a:ln>
        </p:spPr>
        <p:style>
          <a:lnRef idx="2">
            <a:schemeClr val="dk1"/>
          </a:lnRef>
          <a:fillRef idx="0">
            <a:schemeClr val="dk1"/>
          </a:fillRef>
          <a:effectRef idx="1">
            <a:schemeClr val="dk1"/>
          </a:effectRef>
          <a:fontRef idx="minor"/>
        </p:style>
      </p:sp>
      <p:sp>
        <p:nvSpPr>
          <p:cNvPr id="123" name="CustomShape 28"/>
          <p:cNvSpPr/>
          <p:nvPr/>
        </p:nvSpPr>
        <p:spPr>
          <a:xfrm>
            <a:off x="8976960" y="3392640"/>
            <a:ext cx="2255040" cy="3646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QC reports</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CustomShape 1"/>
          <p:cNvSpPr/>
          <p:nvPr/>
        </p:nvSpPr>
        <p:spPr>
          <a:xfrm>
            <a:off x="849960" y="1982160"/>
            <a:ext cx="10493640" cy="1431360"/>
          </a:xfrm>
          <a:prstGeom prst="rect">
            <a:avLst/>
          </a:prstGeom>
          <a:noFill/>
          <a:ln>
            <a:solidFill>
              <a:schemeClr val="tx1"/>
            </a:solidFill>
          </a:ln>
        </p:spPr>
        <p:style>
          <a:lnRef idx="0"/>
          <a:fillRef idx="0"/>
          <a:effectRef idx="0"/>
          <a:fontRef idx="minor"/>
        </p:style>
        <p:txBody>
          <a:bodyPr lIns="90000" rIns="90000" tIns="45000" bIns="45000">
            <a:spAutoFit/>
          </a:bodyPr>
          <a:p>
            <a:pPr>
              <a:lnSpc>
                <a:spcPct val="100000"/>
              </a:lnSpc>
            </a:pPr>
            <a:r>
              <a:rPr b="1" lang="en-US" sz="2000" spc="-1" strike="noStrike">
                <a:solidFill>
                  <a:srgbClr val="000000"/>
                </a:solidFill>
                <a:latin typeface="Aptos"/>
              </a:rPr>
              <a:t>Library type: ✓ </a:t>
            </a:r>
            <a:r>
              <a:rPr b="0" lang="en-US" sz="2000" spc="-1" strike="noStrike">
                <a:solidFill>
                  <a:srgbClr val="000000"/>
                </a:solidFill>
                <a:latin typeface="Aptos"/>
              </a:rPr>
              <a:t>mRNA-seq (PolyA+) </a:t>
            </a:r>
            <a:r>
              <a:rPr b="1" lang="en-US" sz="2000" spc="-1" strike="noStrike">
                <a:solidFill>
                  <a:srgbClr val="000000"/>
                </a:solidFill>
                <a:latin typeface="Aptos"/>
              </a:rPr>
              <a:t>✓ </a:t>
            </a:r>
            <a:r>
              <a:rPr b="0" lang="en-US" sz="2000" spc="-1" strike="noStrike">
                <a:solidFill>
                  <a:srgbClr val="000000"/>
                </a:solidFill>
                <a:latin typeface="Aptos"/>
              </a:rPr>
              <a:t>Total RNA-seq (no rRNA) </a:t>
            </a:r>
            <a:r>
              <a:rPr b="1" lang="en-US" sz="2000" spc="-1" strike="noStrike">
                <a:solidFill>
                  <a:srgbClr val="000000"/>
                </a:solidFill>
                <a:latin typeface="Aptos"/>
              </a:rPr>
              <a:t>✓ </a:t>
            </a:r>
            <a:r>
              <a:rPr b="0" lang="en-US" sz="2000" spc="-1" strike="noStrike">
                <a:solidFill>
                  <a:srgbClr val="000000"/>
                </a:solidFill>
                <a:latin typeface="Aptos"/>
              </a:rPr>
              <a:t>Strand-specific RNA-seq </a:t>
            </a:r>
            <a:r>
              <a:rPr b="1" lang="en-US" sz="2000" spc="-1" strike="noStrike">
                <a:solidFill>
                  <a:srgbClr val="000000"/>
                </a:solidFill>
                <a:latin typeface="Aptos"/>
              </a:rPr>
              <a:t>✓ </a:t>
            </a:r>
            <a:r>
              <a:rPr b="0" lang="en-US" sz="2000" spc="-1" strike="noStrike">
                <a:solidFill>
                  <a:srgbClr val="000000"/>
                </a:solidFill>
                <a:latin typeface="Aptos"/>
              </a:rPr>
              <a:t>Small RNA-seq </a:t>
            </a:r>
            <a:r>
              <a:rPr b="1" lang="en-US" sz="2000" spc="-1" strike="noStrike">
                <a:solidFill>
                  <a:srgbClr val="000000"/>
                </a:solidFill>
                <a:latin typeface="Aptos"/>
              </a:rPr>
              <a:t>✓ </a:t>
            </a:r>
            <a:r>
              <a:rPr b="0" lang="en-US" sz="2000" spc="-1" strike="noStrike">
                <a:solidFill>
                  <a:srgbClr val="000000"/>
                </a:solidFill>
                <a:latin typeface="Aptos"/>
              </a:rPr>
              <a:t>scRNA-seq </a:t>
            </a:r>
            <a:r>
              <a:rPr b="1" lang="en-US" sz="2000" spc="-1" strike="noStrike">
                <a:solidFill>
                  <a:srgbClr val="000000"/>
                </a:solidFill>
                <a:latin typeface="Aptos"/>
              </a:rPr>
              <a:t>✓ </a:t>
            </a:r>
            <a:r>
              <a:rPr b="0" lang="en-US" sz="2000" spc="-1" strike="noStrike">
                <a:solidFill>
                  <a:srgbClr val="000000"/>
                </a:solidFill>
                <a:latin typeface="Aptos"/>
              </a:rPr>
              <a:t>3’-end RNA-seq</a:t>
            </a:r>
            <a:endParaRPr b="0" lang="es-ES" sz="2000" spc="-1" strike="noStrike">
              <a:latin typeface="Arial"/>
            </a:endParaRPr>
          </a:p>
          <a:p>
            <a:pPr>
              <a:lnSpc>
                <a:spcPct val="100000"/>
              </a:lnSpc>
            </a:pPr>
            <a:endParaRPr b="0" lang="es-ES" sz="2000" spc="-1" strike="noStrike">
              <a:latin typeface="Arial"/>
            </a:endParaRPr>
          </a:p>
          <a:p>
            <a:pPr algn="ctr">
              <a:lnSpc>
                <a:spcPct val="100000"/>
              </a:lnSpc>
            </a:pPr>
            <a:r>
              <a:rPr b="0" i="1" lang="en-US" sz="1800" spc="-1" strike="noStrike">
                <a:solidFill>
                  <a:srgbClr val="000000"/>
                </a:solidFill>
                <a:latin typeface="Aptos"/>
              </a:rPr>
              <a:t>The most widely used protocol involves the </a:t>
            </a:r>
            <a:r>
              <a:rPr b="1" i="1" lang="en-US" sz="1800" spc="-1" strike="noStrike">
                <a:solidFill>
                  <a:srgbClr val="000000"/>
                </a:solidFill>
                <a:latin typeface="Aptos"/>
              </a:rPr>
              <a:t>TruSeq</a:t>
            </a:r>
            <a:r>
              <a:rPr b="0" i="1" lang="en-US" sz="1800" spc="-1" strike="noStrike">
                <a:solidFill>
                  <a:srgbClr val="000000"/>
                </a:solidFill>
                <a:latin typeface="Aptos"/>
              </a:rPr>
              <a:t> (Illumina) kit, which assumes abundant starting material (0.1–1 μg total RNA) and maintains strand specificity</a:t>
            </a:r>
            <a:endParaRPr b="0" lang="es-ES" sz="1800" spc="-1" strike="noStrike">
              <a:latin typeface="Arial"/>
            </a:endParaRPr>
          </a:p>
        </p:txBody>
      </p:sp>
      <p:sp>
        <p:nvSpPr>
          <p:cNvPr id="125" name="CustomShape 2"/>
          <p:cNvSpPr/>
          <p:nvPr/>
        </p:nvSpPr>
        <p:spPr>
          <a:xfrm>
            <a:off x="849960" y="1060560"/>
            <a:ext cx="10493640" cy="1004040"/>
          </a:xfrm>
          <a:prstGeom prst="rect">
            <a:avLst/>
          </a:prstGeom>
          <a:noFill/>
          <a:ln>
            <a:solidFill>
              <a:schemeClr val="tx1"/>
            </a:solidFill>
          </a:ln>
        </p:spPr>
        <p:style>
          <a:lnRef idx="0"/>
          <a:fillRef idx="0"/>
          <a:effectRef idx="0"/>
          <a:fontRef idx="minor"/>
        </p:style>
        <p:txBody>
          <a:bodyPr lIns="90000" rIns="90000" tIns="45000" bIns="45000">
            <a:spAutoFit/>
          </a:bodyPr>
          <a:p>
            <a:pPr>
              <a:lnSpc>
                <a:spcPct val="150000"/>
              </a:lnSpc>
            </a:pPr>
            <a:r>
              <a:rPr b="1" lang="en-US" sz="2000" spc="-1" strike="noStrike">
                <a:solidFill>
                  <a:srgbClr val="000000"/>
                </a:solidFill>
                <a:latin typeface="Aptos"/>
              </a:rPr>
              <a:t>Experimental design: </a:t>
            </a:r>
            <a:r>
              <a:rPr b="0" lang="en-US" sz="2000" spc="-1" strike="noStrike">
                <a:solidFill>
                  <a:srgbClr val="000000"/>
                </a:solidFill>
                <a:latin typeface="Aptos"/>
              </a:rPr>
              <a:t>✓ Tissues ✓ Samples ✓ Reps ✓ Treatments ✓ Sampling time</a:t>
            </a:r>
            <a:endParaRPr b="0" lang="es-ES" sz="2000" spc="-1" strike="noStrike">
              <a:latin typeface="Arial"/>
            </a:endParaRPr>
          </a:p>
        </p:txBody>
      </p:sp>
      <p:sp>
        <p:nvSpPr>
          <p:cNvPr id="126" name="CustomShape 3"/>
          <p:cNvSpPr/>
          <p:nvPr/>
        </p:nvSpPr>
        <p:spPr>
          <a:xfrm>
            <a:off x="849960" y="3840480"/>
            <a:ext cx="10493640" cy="546840"/>
          </a:xfrm>
          <a:prstGeom prst="rect">
            <a:avLst/>
          </a:prstGeom>
          <a:noFill/>
          <a:ln>
            <a:solidFill>
              <a:schemeClr val="tx1"/>
            </a:solidFill>
          </a:ln>
        </p:spPr>
        <p:style>
          <a:lnRef idx="0"/>
          <a:fillRef idx="0"/>
          <a:effectRef idx="0"/>
          <a:fontRef idx="minor"/>
        </p:style>
        <p:txBody>
          <a:bodyPr lIns="90000" rIns="90000" tIns="45000" bIns="45000">
            <a:spAutoFit/>
          </a:bodyPr>
          <a:p>
            <a:pPr>
              <a:lnSpc>
                <a:spcPct val="150000"/>
              </a:lnSpc>
            </a:pPr>
            <a:r>
              <a:rPr b="1" lang="en-US" sz="2000" spc="-1" strike="noStrike">
                <a:solidFill>
                  <a:srgbClr val="000000"/>
                </a:solidFill>
                <a:latin typeface="Aptos"/>
              </a:rPr>
              <a:t>Sequencing (read) type: </a:t>
            </a:r>
            <a:r>
              <a:rPr b="0" lang="en-US" sz="2000" spc="-1" strike="noStrike">
                <a:solidFill>
                  <a:srgbClr val="000000"/>
                </a:solidFill>
                <a:latin typeface="Aptos"/>
              </a:rPr>
              <a:t>✓ Single-End ✓ Paired-end ✓ Short ✓ Long</a:t>
            </a:r>
            <a:endParaRPr b="0" lang="es-ES" sz="2000" spc="-1" strike="noStrike">
              <a:latin typeface="Arial"/>
            </a:endParaRPr>
          </a:p>
        </p:txBody>
      </p:sp>
      <p:sp>
        <p:nvSpPr>
          <p:cNvPr id="127" name="CustomShape 4"/>
          <p:cNvSpPr/>
          <p:nvPr/>
        </p:nvSpPr>
        <p:spPr>
          <a:xfrm>
            <a:off x="2196720" y="5577840"/>
            <a:ext cx="7798320" cy="136944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2800" spc="-1" strike="noStrike">
                <a:solidFill>
                  <a:srgbClr val="ff0000"/>
                </a:solidFill>
                <a:latin typeface="Aptos"/>
              </a:rPr>
              <a:t>The choice of bioinformatics tools and commands depends on this information!!!</a:t>
            </a:r>
            <a:endParaRPr b="0" lang="es-ES" sz="2800" spc="-1" strike="noStrike">
              <a:latin typeface="Arial"/>
            </a:endParaRPr>
          </a:p>
        </p:txBody>
      </p:sp>
      <p:sp>
        <p:nvSpPr>
          <p:cNvPr id="128" name="CustomShape 5"/>
          <p:cNvSpPr/>
          <p:nvPr/>
        </p:nvSpPr>
        <p:spPr>
          <a:xfrm>
            <a:off x="4045680" y="326160"/>
            <a:ext cx="4100760" cy="6994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Experimental Design &amp; RNA-seq</a:t>
            </a:r>
            <a:endParaRPr b="0" lang="es-ES" sz="2000" spc="-1" strike="noStrike">
              <a:latin typeface="Arial"/>
            </a:endParaRPr>
          </a:p>
        </p:txBody>
      </p:sp>
      <p:sp>
        <p:nvSpPr>
          <p:cNvPr id="129" name="CustomShape 6"/>
          <p:cNvSpPr/>
          <p:nvPr/>
        </p:nvSpPr>
        <p:spPr>
          <a:xfrm>
            <a:off x="849240" y="4761720"/>
            <a:ext cx="10493640" cy="1004040"/>
          </a:xfrm>
          <a:prstGeom prst="rect">
            <a:avLst/>
          </a:prstGeom>
          <a:noFill/>
          <a:ln>
            <a:solidFill>
              <a:schemeClr val="tx1"/>
            </a:solidFill>
          </a:ln>
        </p:spPr>
        <p:style>
          <a:lnRef idx="0"/>
          <a:fillRef idx="0"/>
          <a:effectRef idx="0"/>
          <a:fontRef idx="minor"/>
        </p:style>
        <p:txBody>
          <a:bodyPr lIns="90000" rIns="90000" tIns="45000" bIns="45000">
            <a:spAutoFit/>
          </a:bodyPr>
          <a:p>
            <a:pPr>
              <a:lnSpc>
                <a:spcPct val="150000"/>
              </a:lnSpc>
            </a:pPr>
            <a:r>
              <a:rPr b="1" lang="en-US" sz="2000" spc="-1" strike="noStrike">
                <a:solidFill>
                  <a:srgbClr val="000000"/>
                </a:solidFill>
                <a:latin typeface="Aptos"/>
              </a:rPr>
              <a:t>Goals: </a:t>
            </a:r>
            <a:r>
              <a:rPr b="0" lang="en-US" sz="2000" spc="-1" strike="noStrike">
                <a:solidFill>
                  <a:srgbClr val="000000"/>
                </a:solidFill>
                <a:latin typeface="Aptos"/>
              </a:rPr>
              <a:t>✓ Differentially Expressed Genes ✓ Co-expressed genes ✓ Isoform/Gene level …</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0" name="Table 1"/>
          <p:cNvGraphicFramePr/>
          <p:nvPr/>
        </p:nvGraphicFramePr>
        <p:xfrm>
          <a:off x="158760" y="645840"/>
          <a:ext cx="11873880" cy="5818680"/>
        </p:xfrm>
        <a:graphic>
          <a:graphicData uri="http://schemas.openxmlformats.org/drawingml/2006/table">
            <a:tbl>
              <a:tblPr/>
              <a:tblGrid>
                <a:gridCol w="2103120"/>
                <a:gridCol w="2076840"/>
                <a:gridCol w="1868400"/>
                <a:gridCol w="1981080"/>
                <a:gridCol w="1767600"/>
                <a:gridCol w="2076840"/>
              </a:tblGrid>
              <a:tr h="237960">
                <a:tc>
                  <a:txBody>
                    <a:bodyPr lIns="28800" rIns="28800" tIns="14400" bIns="14400" anchor="ctr">
                      <a:noAutofit/>
                    </a:bodyPr>
                    <a:p>
                      <a:pPr>
                        <a:lnSpc>
                          <a:spcPct val="100000"/>
                        </a:lnSpc>
                      </a:pPr>
                      <a:r>
                        <a:rPr b="1" lang="en-US" sz="1400" spc="-1" strike="noStrike">
                          <a:solidFill>
                            <a:srgbClr val="000000"/>
                          </a:solidFill>
                          <a:latin typeface="Aptos"/>
                        </a:rPr>
                        <a:t>Type</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1" lang="en-US" sz="1400" spc="-1" strike="noStrike">
                          <a:solidFill>
                            <a:srgbClr val="000000"/>
                          </a:solidFill>
                          <a:latin typeface="Aptos"/>
                        </a:rPr>
                        <a:t>Preparation</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1" lang="en-US" sz="1400" spc="-1" strike="noStrike">
                          <a:solidFill>
                            <a:srgbClr val="000000"/>
                          </a:solidFill>
                          <a:latin typeface="Aptos"/>
                        </a:rPr>
                        <a:t>Captured RNA</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1" lang="en-US" sz="1400" spc="-1" strike="noStrike">
                          <a:solidFill>
                            <a:srgbClr val="000000"/>
                          </a:solidFill>
                          <a:latin typeface="Aptos"/>
                        </a:rPr>
                        <a:t>Advantages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1" lang="en-US" sz="1400" spc="-1" strike="noStrike">
                          <a:solidFill>
                            <a:srgbClr val="000000"/>
                          </a:solidFill>
                          <a:latin typeface="Aptos"/>
                        </a:rPr>
                        <a:t>Disadvantages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1" lang="en-US" sz="1400" spc="-1" strike="noStrike">
                          <a:solidFill>
                            <a:srgbClr val="000000"/>
                          </a:solidFill>
                          <a:latin typeface="Aptos"/>
                        </a:rPr>
                        <a:t>Applications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r>
              <a:tr h="1073160">
                <a:tc>
                  <a:txBody>
                    <a:bodyPr lIns="28800" rIns="28800" tIns="14400" bIns="14400" anchor="ctr">
                      <a:noAutofit/>
                    </a:bodyPr>
                    <a:p>
                      <a:pPr>
                        <a:lnSpc>
                          <a:spcPct val="100000"/>
                        </a:lnSpc>
                      </a:pPr>
                      <a:r>
                        <a:rPr b="1" lang="en-US" sz="1400" spc="-1" strike="noStrike">
                          <a:solidFill>
                            <a:srgbClr val="000000"/>
                          </a:solidFill>
                          <a:latin typeface="Aptos"/>
                        </a:rPr>
                        <a:t>mRNA-seq (PolyA+)</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Selection of polyadenylated RNA using oligo(dT) beads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Mature mRNA (polyA+)</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High specificity for </a:t>
                      </a:r>
                      <a:r>
                        <a:rPr b="1" lang="en-US" sz="1400" spc="-1" strike="noStrike">
                          <a:solidFill>
                            <a:srgbClr val="000000"/>
                          </a:solidFill>
                          <a:latin typeface="Aptos"/>
                        </a:rPr>
                        <a:t>coding genes</a:t>
                      </a:r>
                      <a:r>
                        <a:rPr b="0" lang="en-US" sz="1400" spc="-1" strike="noStrike">
                          <a:solidFill>
                            <a:srgbClr val="000000"/>
                          </a:solidFill>
                          <a:latin typeface="Aptos"/>
                        </a:rPr>
                        <a:t>; reproducible; high proportion of informative reads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Does not detect noncoding or non-polyA RNAs; unsuitable for degraded RNA</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Differential gene expression; standard transcriptome profiling</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r>
              <a:tr h="864360">
                <a:tc>
                  <a:txBody>
                    <a:bodyPr lIns="28800" rIns="28800" tIns="14400" bIns="14400" anchor="ctr">
                      <a:noAutofit/>
                    </a:bodyPr>
                    <a:p>
                      <a:pPr>
                        <a:lnSpc>
                          <a:spcPct val="100000"/>
                        </a:lnSpc>
                      </a:pPr>
                      <a:r>
                        <a:rPr b="1" lang="en-US" sz="1400" spc="-1" strike="noStrike">
                          <a:solidFill>
                            <a:srgbClr val="000000"/>
                          </a:solidFill>
                          <a:latin typeface="Aptos"/>
                        </a:rPr>
                        <a:t>Total RNA-seq </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Ribosomal RNA removal (Ribo-Zero, NEBNext, etc.)</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All RNAs except rRNA</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Captures </a:t>
                      </a:r>
                      <a:r>
                        <a:rPr b="1" lang="en-US" sz="1400" spc="-1" strike="noStrike">
                          <a:solidFill>
                            <a:srgbClr val="000000"/>
                          </a:solidFill>
                          <a:latin typeface="Aptos"/>
                        </a:rPr>
                        <a:t>coding and noncoding RNAs</a:t>
                      </a:r>
                      <a:r>
                        <a:rPr b="0" lang="en-US" sz="1400" spc="-1" strike="noStrike">
                          <a:solidFill>
                            <a:srgbClr val="000000"/>
                          </a:solidFill>
                          <a:latin typeface="Aptos"/>
                        </a:rPr>
                        <a:t>; works with degraded RNA</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Higher background noise; more expensive</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Whole transcriptome profiling; lncRNA studies; FFPE* samples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r>
              <a:tr h="864360">
                <a:tc>
                  <a:txBody>
                    <a:bodyPr lIns="28800" rIns="28800" tIns="14400" bIns="14400" anchor="ctr">
                      <a:noAutofit/>
                    </a:bodyPr>
                    <a:p>
                      <a:pPr>
                        <a:lnSpc>
                          <a:spcPct val="100000"/>
                        </a:lnSpc>
                      </a:pPr>
                      <a:r>
                        <a:rPr b="1" lang="en-US" sz="1400" spc="-1" strike="noStrike">
                          <a:solidFill>
                            <a:srgbClr val="000000"/>
                          </a:solidFill>
                          <a:latin typeface="Aptos"/>
                        </a:rPr>
                        <a:t>Strand-specific RNA-seq</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Incorporation of strand-specific markers during cDNA synthesis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Same as mRNA-seq or Total RNA-seq, but retains strand orientation</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1" lang="en-US" sz="1400" spc="-1" strike="noStrike">
                          <a:solidFill>
                            <a:srgbClr val="000000"/>
                          </a:solidFill>
                          <a:latin typeface="Aptos"/>
                        </a:rPr>
                        <a:t>Distinguishes sense/antisense </a:t>
                      </a:r>
                      <a:r>
                        <a:rPr b="0" lang="en-US" sz="1400" spc="-1" strike="noStrike">
                          <a:solidFill>
                            <a:srgbClr val="000000"/>
                          </a:solidFill>
                          <a:latin typeface="Aptos"/>
                        </a:rPr>
                        <a:t>transcripts; improves isoform annotation</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Slightly higher cost and complexity</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Antisense RNA, isoform detection, transcriptional regulation</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r>
              <a:tr h="655560">
                <a:tc>
                  <a:txBody>
                    <a:bodyPr lIns="28800" rIns="28800" tIns="14400" bIns="14400" anchor="ctr">
                      <a:noAutofit/>
                    </a:bodyPr>
                    <a:p>
                      <a:pPr>
                        <a:lnSpc>
                          <a:spcPct val="100000"/>
                        </a:lnSpc>
                      </a:pPr>
                      <a:r>
                        <a:rPr b="1" lang="en-US" sz="1400" spc="-1" strike="noStrike">
                          <a:solidFill>
                            <a:srgbClr val="000000"/>
                          </a:solidFill>
                          <a:latin typeface="Aptos"/>
                        </a:rPr>
                        <a:t>Small RNA-seq</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Size selection (18–30 nt fragments)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miRNA, siRNA, piRNA, small snRNA**</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Enables </a:t>
                      </a:r>
                      <a:r>
                        <a:rPr b="1" lang="en-US" sz="1400" spc="-1" strike="noStrike">
                          <a:solidFill>
                            <a:srgbClr val="000000"/>
                          </a:solidFill>
                          <a:latin typeface="Aptos"/>
                        </a:rPr>
                        <a:t>post-transcriptional </a:t>
                      </a:r>
                      <a:r>
                        <a:rPr b="0" lang="en-US" sz="1400" spc="-1" strike="noStrike">
                          <a:solidFill>
                            <a:srgbClr val="000000"/>
                          </a:solidFill>
                          <a:latin typeface="Aptos"/>
                        </a:rPr>
                        <a:t>regulation studies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Does not detect mRNA or long transcripts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miRNA profiling, piRNA discovery, small RNA pathways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r>
              <a:tr h="864360">
                <a:tc>
                  <a:txBody>
                    <a:bodyPr lIns="28800" rIns="28800" tIns="14400" bIns="14400" anchor="ctr">
                      <a:noAutofit/>
                    </a:bodyPr>
                    <a:p>
                      <a:pPr>
                        <a:lnSpc>
                          <a:spcPct val="100000"/>
                        </a:lnSpc>
                      </a:pPr>
                      <a:r>
                        <a:rPr b="1" lang="en-US" sz="1400" spc="-1" strike="noStrike">
                          <a:solidFill>
                            <a:srgbClr val="000000"/>
                          </a:solidFill>
                          <a:latin typeface="Aptos"/>
                        </a:rPr>
                        <a:t>3’-end RNA-seq (TagSeq, QuantSeq)</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Captures only the 3’ ends of transcripts using short oligo(dT) priming</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3’ end of mRNA</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Cost-effective; simple; correlates well with </a:t>
                      </a:r>
                      <a:r>
                        <a:rPr b="1" lang="en-US" sz="1400" spc="-1" strike="noStrike">
                          <a:solidFill>
                            <a:srgbClr val="000000"/>
                          </a:solidFill>
                          <a:latin typeface="Aptos"/>
                        </a:rPr>
                        <a:t>gene expression</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No isoform or splicing information</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Rapid expression quantification; high-throughput screening</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r>
              <a:tr h="864360">
                <a:tc>
                  <a:txBody>
                    <a:bodyPr lIns="28800" rIns="28800" tIns="14400" bIns="14400" anchor="ctr">
                      <a:noAutofit/>
                    </a:bodyPr>
                    <a:p>
                      <a:pPr>
                        <a:lnSpc>
                          <a:spcPct val="100000"/>
                        </a:lnSpc>
                      </a:pPr>
                      <a:r>
                        <a:rPr b="1" lang="en-US" sz="1400" spc="-1" strike="noStrike">
                          <a:solidFill>
                            <a:srgbClr val="000000"/>
                          </a:solidFill>
                          <a:latin typeface="Aptos"/>
                        </a:rPr>
                        <a:t>Single-cell RNA-seq (scRNA-seq)</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Cell barcoding using droplets or nanowells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Total RNA from individual cells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Single-cell resolution; </a:t>
                      </a:r>
                      <a:r>
                        <a:rPr b="1" lang="en-US" sz="1400" spc="-1" strike="noStrike">
                          <a:solidFill>
                            <a:srgbClr val="000000"/>
                          </a:solidFill>
                          <a:latin typeface="Aptos"/>
                        </a:rPr>
                        <a:t>reveals cellular heterogeneity</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Expensive; lower coverage per cell; complex analysis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Developmental biology; cancer heterogeneity; immune profiling</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r>
              <a:tr h="864360">
                <a:tc>
                  <a:txBody>
                    <a:bodyPr lIns="28800" rIns="28800" tIns="14400" bIns="14400" anchor="ctr">
                      <a:noAutofit/>
                    </a:bodyPr>
                    <a:p>
                      <a:pPr>
                        <a:lnSpc>
                          <a:spcPct val="100000"/>
                        </a:lnSpc>
                      </a:pPr>
                      <a:r>
                        <a:rPr b="1" lang="en-US" sz="1400" spc="-1" strike="noStrike">
                          <a:solidFill>
                            <a:srgbClr val="000000"/>
                          </a:solidFill>
                          <a:latin typeface="Aptos"/>
                        </a:rPr>
                        <a:t>Exome-capture RNA-seq</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Hybridization with probes targeting known exons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Exonic coding regions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Focused on </a:t>
                      </a:r>
                      <a:r>
                        <a:rPr b="1" lang="en-US" sz="1400" spc="-1" strike="noStrike">
                          <a:solidFill>
                            <a:srgbClr val="000000"/>
                          </a:solidFill>
                          <a:latin typeface="Aptos"/>
                        </a:rPr>
                        <a:t>genes of interest</a:t>
                      </a:r>
                      <a:r>
                        <a:rPr b="0" lang="en-US" sz="1400" spc="-1" strike="noStrike">
                          <a:solidFill>
                            <a:srgbClr val="000000"/>
                          </a:solidFill>
                          <a:latin typeface="Aptos"/>
                        </a:rPr>
                        <a:t>; reduces background</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Misses noncoding RNAs and unannotated isoforms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c>
                  <a:txBody>
                    <a:bodyPr lIns="28800" rIns="28800" tIns="14400" bIns="14400" anchor="ctr">
                      <a:noAutofit/>
                    </a:bodyPr>
                    <a:p>
                      <a:pPr>
                        <a:lnSpc>
                          <a:spcPct val="100000"/>
                        </a:lnSpc>
                      </a:pPr>
                      <a:r>
                        <a:rPr b="0" lang="en-US" sz="1400" spc="-1" strike="noStrike">
                          <a:solidFill>
                            <a:srgbClr val="000000"/>
                          </a:solidFill>
                          <a:latin typeface="Aptos"/>
                        </a:rPr>
                        <a:t>Targeted studies; validation of candidate genes</a:t>
                      </a:r>
                      <a:endParaRPr b="0" lang="es-ES" sz="1400" spc="-1" strike="noStrike">
                        <a:latin typeface="Arial"/>
                      </a:endParaRPr>
                    </a:p>
                  </a:txBody>
                  <a:tcPr marL="28800" marR="28800">
                    <a:lnL w="12240">
                      <a:solidFill>
                        <a:srgbClr val="000000"/>
                      </a:solidFill>
                    </a:lnL>
                    <a:lnR w="12240">
                      <a:solidFill>
                        <a:srgbClr val="000000"/>
                      </a:solidFill>
                    </a:lnR>
                    <a:lnT w="12240">
                      <a:solidFill>
                        <a:srgbClr val="000000"/>
                      </a:solidFill>
                    </a:lnT>
                    <a:lnB w="12240">
                      <a:solidFill>
                        <a:srgbClr val="000000"/>
                      </a:solidFill>
                    </a:lnB>
                    <a:noFill/>
                  </a:tcPr>
                </a:tc>
              </a:tr>
            </a:tbl>
          </a:graphicData>
        </a:graphic>
      </p:graphicFrame>
      <p:sp>
        <p:nvSpPr>
          <p:cNvPr id="131" name="CustomShape 2"/>
          <p:cNvSpPr/>
          <p:nvPr/>
        </p:nvSpPr>
        <p:spPr>
          <a:xfrm>
            <a:off x="158760" y="222840"/>
            <a:ext cx="609336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Aptos"/>
              </a:rPr>
              <a:t>RNA-seq Library Types</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CustomShape 1"/>
          <p:cNvSpPr/>
          <p:nvPr/>
        </p:nvSpPr>
        <p:spPr>
          <a:xfrm>
            <a:off x="4182120" y="347040"/>
            <a:ext cx="3827160" cy="395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Quality Check (QC)</a:t>
            </a:r>
            <a:endParaRPr b="0" lang="es-ES" sz="2000" spc="-1" strike="noStrike">
              <a:latin typeface="Arial"/>
            </a:endParaRPr>
          </a:p>
        </p:txBody>
      </p:sp>
      <p:sp>
        <p:nvSpPr>
          <p:cNvPr id="133" name="CustomShape 2"/>
          <p:cNvSpPr/>
          <p:nvPr/>
        </p:nvSpPr>
        <p:spPr>
          <a:xfrm>
            <a:off x="1092960" y="1034280"/>
            <a:ext cx="9901440" cy="1004040"/>
          </a:xfrm>
          <a:prstGeom prst="rect">
            <a:avLst/>
          </a:prstGeom>
          <a:noFill/>
          <a:ln>
            <a:noFill/>
          </a:ln>
        </p:spPr>
        <p:style>
          <a:lnRef idx="0"/>
          <a:fillRef idx="0"/>
          <a:effectRef idx="0"/>
          <a:fontRef idx="minor"/>
        </p:style>
        <p:txBody>
          <a:bodyPr lIns="90000" rIns="90000" tIns="45000" bIns="45000">
            <a:spAutoFit/>
          </a:bodyPr>
          <a:p>
            <a:pPr>
              <a:lnSpc>
                <a:spcPct val="150000"/>
              </a:lnSpc>
            </a:pPr>
            <a:r>
              <a:rPr b="1" lang="en-US" sz="2000" spc="-1" strike="noStrike">
                <a:solidFill>
                  <a:srgbClr val="000000"/>
                </a:solidFill>
                <a:latin typeface="Aptos"/>
              </a:rPr>
              <a:t>In the Lab: </a:t>
            </a:r>
            <a:r>
              <a:rPr b="0" lang="en-US" sz="2000" spc="-1" strike="noStrike">
                <a:solidFill>
                  <a:srgbClr val="000000"/>
                </a:solidFill>
                <a:latin typeface="Aptos"/>
              </a:rPr>
              <a:t>concentrations, absorbances and integrity (RIN- RNA Integrity Number 1-10)</a:t>
            </a:r>
            <a:endParaRPr b="0" lang="es-ES" sz="2000" spc="-1" strike="noStrike">
              <a:latin typeface="Arial"/>
            </a:endParaRPr>
          </a:p>
        </p:txBody>
      </p:sp>
      <p:graphicFrame>
        <p:nvGraphicFramePr>
          <p:cNvPr id="134" name="Table 3"/>
          <p:cNvGraphicFramePr/>
          <p:nvPr/>
        </p:nvGraphicFramePr>
        <p:xfrm>
          <a:off x="1092960" y="1643040"/>
          <a:ext cx="9901440" cy="1826640"/>
        </p:xfrm>
        <a:graphic>
          <a:graphicData uri="http://schemas.openxmlformats.org/drawingml/2006/table">
            <a:tbl>
              <a:tblPr/>
              <a:tblGrid>
                <a:gridCol w="2131560"/>
                <a:gridCol w="2030040"/>
                <a:gridCol w="2056320"/>
                <a:gridCol w="3683520"/>
              </a:tblGrid>
              <a:tr h="323640">
                <a:tc>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1" lang="en-US" sz="1600" spc="-1" strike="noStrike">
                          <a:solidFill>
                            <a:srgbClr val="000000"/>
                          </a:solidFill>
                          <a:latin typeface="Aptos"/>
                        </a:rPr>
                        <a:t>Optimal Value</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1" lang="en-US" sz="1600" spc="-1" strike="noStrike">
                          <a:solidFill>
                            <a:srgbClr val="000000"/>
                          </a:solidFill>
                          <a:latin typeface="Aptos"/>
                        </a:rPr>
                        <a:t>Minimum</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1" lang="en-US" sz="1600" spc="-1" strike="noStrike">
                          <a:solidFill>
                            <a:srgbClr val="000000"/>
                          </a:solidFill>
                          <a:latin typeface="Aptos"/>
                        </a:rPr>
                        <a:t>Comments</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r>
              <a:tr h="567000">
                <a:tc>
                  <a:txBody>
                    <a:bodyPr lIns="80280" rIns="80280" tIns="39960" bIns="39960" anchor="ctr">
                      <a:noAutofit/>
                    </a:bodyPr>
                    <a:p>
                      <a:pPr>
                        <a:lnSpc>
                          <a:spcPct val="100000"/>
                        </a:lnSpc>
                      </a:pPr>
                      <a:r>
                        <a:rPr b="1" lang="en-US" sz="1600" spc="-1" strike="noStrike">
                          <a:solidFill>
                            <a:srgbClr val="000000"/>
                          </a:solidFill>
                          <a:latin typeface="Aptos"/>
                        </a:rPr>
                        <a:t>A260/A280</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1.8–2.1</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 </a:t>
                      </a:r>
                      <a:r>
                        <a:rPr b="0" lang="en-US" sz="1600" spc="-1" strike="noStrike">
                          <a:solidFill>
                            <a:srgbClr val="000000"/>
                          </a:solidFill>
                          <a:latin typeface="Aptos"/>
                        </a:rPr>
                        <a:t>1.7</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Low values indicate protein or phenol contamination.</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r>
              <a:tr h="567000">
                <a:tc>
                  <a:txBody>
                    <a:bodyPr lIns="80280" rIns="80280" tIns="39960" bIns="39960" anchor="ctr">
                      <a:noAutofit/>
                    </a:bodyPr>
                    <a:p>
                      <a:pPr>
                        <a:lnSpc>
                          <a:spcPct val="100000"/>
                        </a:lnSpc>
                      </a:pPr>
                      <a:r>
                        <a:rPr b="1" lang="en-US" sz="1600" spc="-1" strike="noStrike">
                          <a:solidFill>
                            <a:srgbClr val="000000"/>
                          </a:solidFill>
                          <a:latin typeface="Aptos"/>
                        </a:rPr>
                        <a:t>A260/A230</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&gt;2.0</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 </a:t>
                      </a:r>
                      <a:r>
                        <a:rPr b="0" lang="en-US" sz="1600" spc="-1" strike="noStrike">
                          <a:solidFill>
                            <a:srgbClr val="000000"/>
                          </a:solidFill>
                          <a:latin typeface="Aptos"/>
                        </a:rPr>
                        <a:t>1.8</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Low values suggest salt or reagent contamination.</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r>
              <a:tr h="567000">
                <a:tc>
                  <a:txBody>
                    <a:bodyPr lIns="80280" rIns="80280" tIns="39960" bIns="39960" anchor="ctr">
                      <a:noAutofit/>
                    </a:bodyPr>
                    <a:p>
                      <a:pPr>
                        <a:lnSpc>
                          <a:spcPct val="100000"/>
                        </a:lnSpc>
                      </a:pPr>
                      <a:r>
                        <a:rPr b="1" lang="en-US" sz="1600" spc="-1" strike="noStrike">
                          <a:solidFill>
                            <a:srgbClr val="000000"/>
                          </a:solidFill>
                          <a:latin typeface="Aptos"/>
                        </a:rPr>
                        <a:t>Concentration</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100 ng – 2 µg total RNA</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 </a:t>
                      </a:r>
                      <a:r>
                        <a:rPr b="0" lang="en-US" sz="1600" spc="-1" strike="noStrike">
                          <a:solidFill>
                            <a:srgbClr val="000000"/>
                          </a:solidFill>
                          <a:latin typeface="Aptos"/>
                        </a:rPr>
                        <a:t>50 ng</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Depends on protocol; higher input improves library complexity.</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r>
              <a:tr h="810360">
                <a:tc>
                  <a:txBody>
                    <a:bodyPr lIns="80280" rIns="80280" tIns="39960" bIns="39960" anchor="ctr">
                      <a:noAutofit/>
                    </a:bodyPr>
                    <a:p>
                      <a:pPr>
                        <a:lnSpc>
                          <a:spcPct val="100000"/>
                        </a:lnSpc>
                      </a:pPr>
                      <a:r>
                        <a:rPr b="1" lang="en-US" sz="1600" spc="-1" strike="noStrike">
                          <a:solidFill>
                            <a:srgbClr val="000000"/>
                          </a:solidFill>
                          <a:latin typeface="Aptos"/>
                        </a:rPr>
                        <a:t>RIN (RNA Integrity Number)</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 </a:t>
                      </a:r>
                      <a:r>
                        <a:rPr b="0" lang="en-US" sz="1600" spc="-1" strike="noStrike">
                          <a:solidFill>
                            <a:srgbClr val="000000"/>
                          </a:solidFill>
                          <a:latin typeface="Aptos"/>
                        </a:rPr>
                        <a:t>8</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 </a:t>
                      </a:r>
                      <a:r>
                        <a:rPr b="0" lang="en-US" sz="1600" spc="-1" strike="noStrike">
                          <a:solidFill>
                            <a:srgbClr val="000000"/>
                          </a:solidFill>
                          <a:latin typeface="Aptos"/>
                        </a:rPr>
                        <a:t>6 (for rRNA-depleted RNA-seq)</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c>
                  <a:txBody>
                    <a:bodyPr lIns="80280" rIns="80280" tIns="39960" bIns="39960" anchor="ctr">
                      <a:noAutofit/>
                    </a:bodyPr>
                    <a:p>
                      <a:pPr>
                        <a:lnSpc>
                          <a:spcPct val="100000"/>
                        </a:lnSpc>
                      </a:pPr>
                      <a:r>
                        <a:rPr b="0" lang="en-US" sz="1600" spc="-1" strike="noStrike">
                          <a:solidFill>
                            <a:srgbClr val="000000"/>
                          </a:solidFill>
                          <a:latin typeface="Aptos"/>
                        </a:rPr>
                        <a:t>Below 6, use specialized protocols (e.g., 3’-end RNA-seq).</a:t>
                      </a:r>
                      <a:endParaRPr b="0" lang="es-ES" sz="1600" spc="-1" strike="noStrike">
                        <a:latin typeface="Arial"/>
                      </a:endParaRPr>
                    </a:p>
                  </a:txBody>
                  <a:tcPr marL="80280" marR="80280">
                    <a:lnL w="12240">
                      <a:solidFill>
                        <a:srgbClr val="000000"/>
                      </a:solidFill>
                    </a:lnL>
                    <a:lnR w="12240">
                      <a:solidFill>
                        <a:srgbClr val="000000"/>
                      </a:solidFill>
                    </a:lnR>
                    <a:lnT w="12240">
                      <a:solidFill>
                        <a:srgbClr val="000000"/>
                      </a:solidFill>
                    </a:lnT>
                    <a:lnB w="12240">
                      <a:solidFill>
                        <a:srgbClr val="000000"/>
                      </a:solidFill>
                    </a:lnB>
                    <a:noFill/>
                  </a:tcPr>
                </a:tc>
              </a:tr>
            </a:tbl>
          </a:graphicData>
        </a:graphic>
      </p:graphicFrame>
      <p:sp>
        <p:nvSpPr>
          <p:cNvPr id="135" name="CustomShape 4"/>
          <p:cNvSpPr/>
          <p:nvPr/>
        </p:nvSpPr>
        <p:spPr>
          <a:xfrm>
            <a:off x="1092960" y="4477680"/>
            <a:ext cx="10005840" cy="1918440"/>
          </a:xfrm>
          <a:prstGeom prst="rect">
            <a:avLst/>
          </a:prstGeom>
          <a:noFill/>
          <a:ln>
            <a:noFill/>
          </a:ln>
        </p:spPr>
        <p:style>
          <a:lnRef idx="0"/>
          <a:fillRef idx="0"/>
          <a:effectRef idx="0"/>
          <a:fontRef idx="minor"/>
        </p:style>
        <p:txBody>
          <a:bodyPr lIns="90000" rIns="90000" tIns="45000" bIns="45000">
            <a:spAutoFit/>
          </a:bodyPr>
          <a:p>
            <a:pPr>
              <a:lnSpc>
                <a:spcPct val="150000"/>
              </a:lnSpc>
            </a:pPr>
            <a:r>
              <a:rPr b="1" lang="en-US" sz="2000" spc="-1" strike="noStrike">
                <a:solidFill>
                  <a:srgbClr val="000000"/>
                </a:solidFill>
                <a:latin typeface="Aptos"/>
              </a:rPr>
              <a:t>In silico (check QC reports): </a:t>
            </a:r>
            <a:r>
              <a:rPr b="0" lang="en-US" sz="2000" spc="-1" strike="noStrike">
                <a:solidFill>
                  <a:srgbClr val="000000"/>
                </a:solidFill>
                <a:latin typeface="Aptos"/>
              </a:rPr>
              <a:t>Per base sequence quality; Per tile sequence quality; Per sequence quality scores; Per base sequence content; Per sequence GC content; Per base N content; Sequence Length Distribution; Sequence Duplication Levels; Overrepresented sequences; Adapter Content </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CustomShape 1"/>
          <p:cNvSpPr/>
          <p:nvPr/>
        </p:nvSpPr>
        <p:spPr>
          <a:xfrm>
            <a:off x="4182120" y="230760"/>
            <a:ext cx="3827160" cy="395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Filtering</a:t>
            </a:r>
            <a:endParaRPr b="0" lang="es-ES" sz="2000" spc="-1" strike="noStrike">
              <a:latin typeface="Arial"/>
            </a:endParaRPr>
          </a:p>
        </p:txBody>
      </p:sp>
      <p:sp>
        <p:nvSpPr>
          <p:cNvPr id="137" name="CustomShape 2"/>
          <p:cNvSpPr/>
          <p:nvPr/>
        </p:nvSpPr>
        <p:spPr>
          <a:xfrm>
            <a:off x="1891440" y="807840"/>
            <a:ext cx="840888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i="1" lang="en-US" sz="1800" spc="-1" strike="noStrike">
                <a:solidFill>
                  <a:srgbClr val="000000"/>
                </a:solidFill>
                <a:latin typeface="Aptos"/>
              </a:rPr>
              <a:t>Remove adapters and low-quality sequences and/or nucleotides </a:t>
            </a:r>
            <a:endParaRPr b="0" lang="es-ES" sz="1800" spc="-1" strike="noStrike">
              <a:latin typeface="Arial"/>
            </a:endParaRPr>
          </a:p>
        </p:txBody>
      </p:sp>
      <p:sp>
        <p:nvSpPr>
          <p:cNvPr id="138" name="CustomShape 3"/>
          <p:cNvSpPr/>
          <p:nvPr/>
        </p:nvSpPr>
        <p:spPr>
          <a:xfrm>
            <a:off x="1701720" y="1965600"/>
            <a:ext cx="8788320" cy="4359960"/>
          </a:xfrm>
          <a:prstGeom prst="rect">
            <a:avLst/>
          </a:prstGeom>
          <a:noFill/>
          <a:ln>
            <a:noFill/>
          </a:ln>
        </p:spPr>
        <p:style>
          <a:lnRef idx="0"/>
          <a:fillRef idx="0"/>
          <a:effectRef idx="0"/>
          <a:fontRef idx="minor"/>
        </p:style>
        <p:txBody>
          <a:bodyPr lIns="90000" rIns="90000" tIns="45000" bIns="45000">
            <a:spAutoFit/>
          </a:bodyPr>
          <a:p>
            <a:pPr indent="-216000">
              <a:lnSpc>
                <a:spcPct val="100000"/>
              </a:lnSpc>
              <a:spcBef>
                <a:spcPts val="751"/>
              </a:spcBef>
              <a:spcAft>
                <a:spcPts val="751"/>
              </a:spcAft>
              <a:buClr>
                <a:srgbClr val="000000"/>
              </a:buClr>
              <a:buFont typeface="Arial"/>
              <a:buChar char="•"/>
            </a:pPr>
            <a:r>
              <a:rPr b="0" lang="en-US" sz="1800" spc="-1" strike="noStrike">
                <a:solidFill>
                  <a:srgbClr val="000000"/>
                </a:solidFill>
                <a:latin typeface="Roboto Condensed"/>
              </a:rPr>
              <a:t>ILLUMINACLIP: Cut adapter and other Illumina-specific sequences from the read.</a:t>
            </a:r>
            <a:endParaRPr b="0" lang="es-ES" sz="1800" spc="-1" strike="noStrike">
              <a:latin typeface="Arial"/>
            </a:endParaRPr>
          </a:p>
          <a:p>
            <a:pPr indent="-216000">
              <a:lnSpc>
                <a:spcPct val="100000"/>
              </a:lnSpc>
              <a:spcBef>
                <a:spcPts val="751"/>
              </a:spcBef>
              <a:spcAft>
                <a:spcPts val="751"/>
              </a:spcAft>
              <a:buClr>
                <a:srgbClr val="000000"/>
              </a:buClr>
              <a:buFont typeface="Arial"/>
              <a:buChar char="•"/>
            </a:pPr>
            <a:r>
              <a:rPr b="0" lang="en-US" sz="1800" spc="-1" strike="noStrike">
                <a:solidFill>
                  <a:srgbClr val="000000"/>
                </a:solidFill>
                <a:latin typeface="Roboto Condensed"/>
              </a:rPr>
              <a:t>SLIDINGWINDOW: Perform a sliding window trimming, cutting once the average quality within the window falls below a threshold.</a:t>
            </a:r>
            <a:endParaRPr b="0" lang="es-ES" sz="1800" spc="-1" strike="noStrike">
              <a:latin typeface="Arial"/>
            </a:endParaRPr>
          </a:p>
          <a:p>
            <a:pPr indent="-216000">
              <a:lnSpc>
                <a:spcPct val="100000"/>
              </a:lnSpc>
              <a:spcBef>
                <a:spcPts val="751"/>
              </a:spcBef>
              <a:spcAft>
                <a:spcPts val="751"/>
              </a:spcAft>
              <a:buClr>
                <a:srgbClr val="000000"/>
              </a:buClr>
              <a:buFont typeface="Arial"/>
              <a:buChar char="•"/>
            </a:pPr>
            <a:r>
              <a:rPr b="0" lang="en-US" sz="1800" spc="-1" strike="noStrike">
                <a:solidFill>
                  <a:srgbClr val="000000"/>
                </a:solidFill>
                <a:latin typeface="Roboto Condensed"/>
              </a:rPr>
              <a:t>LEADING: Cut bases off the start of a read, if below a threshold quality</a:t>
            </a:r>
            <a:endParaRPr b="0" lang="es-ES" sz="1800" spc="-1" strike="noStrike">
              <a:latin typeface="Arial"/>
            </a:endParaRPr>
          </a:p>
          <a:p>
            <a:pPr indent="-216000">
              <a:lnSpc>
                <a:spcPct val="100000"/>
              </a:lnSpc>
              <a:spcBef>
                <a:spcPts val="751"/>
              </a:spcBef>
              <a:spcAft>
                <a:spcPts val="751"/>
              </a:spcAft>
              <a:buClr>
                <a:srgbClr val="000000"/>
              </a:buClr>
              <a:buFont typeface="Arial"/>
              <a:buChar char="•"/>
            </a:pPr>
            <a:r>
              <a:rPr b="0" lang="en-US" sz="1800" spc="-1" strike="noStrike">
                <a:solidFill>
                  <a:srgbClr val="000000"/>
                </a:solidFill>
                <a:latin typeface="Roboto Condensed"/>
              </a:rPr>
              <a:t>TRAILING: Cut bases off the end of a read, if below a threshold quality</a:t>
            </a:r>
            <a:endParaRPr b="0" lang="es-ES" sz="1800" spc="-1" strike="noStrike">
              <a:latin typeface="Arial"/>
            </a:endParaRPr>
          </a:p>
          <a:p>
            <a:pPr indent="-216000">
              <a:lnSpc>
                <a:spcPct val="100000"/>
              </a:lnSpc>
              <a:spcBef>
                <a:spcPts val="751"/>
              </a:spcBef>
              <a:spcAft>
                <a:spcPts val="751"/>
              </a:spcAft>
              <a:buClr>
                <a:srgbClr val="000000"/>
              </a:buClr>
              <a:buFont typeface="Arial"/>
              <a:buChar char="•"/>
            </a:pPr>
            <a:r>
              <a:rPr b="0" lang="en-US" sz="1800" spc="-1" strike="noStrike">
                <a:solidFill>
                  <a:srgbClr val="000000"/>
                </a:solidFill>
                <a:latin typeface="Roboto Condensed"/>
              </a:rPr>
              <a:t>CROP: Cut the read to a specified length</a:t>
            </a:r>
            <a:endParaRPr b="0" lang="es-ES" sz="1800" spc="-1" strike="noStrike">
              <a:latin typeface="Arial"/>
            </a:endParaRPr>
          </a:p>
          <a:p>
            <a:pPr indent="-216000">
              <a:lnSpc>
                <a:spcPct val="100000"/>
              </a:lnSpc>
              <a:spcBef>
                <a:spcPts val="751"/>
              </a:spcBef>
              <a:spcAft>
                <a:spcPts val="751"/>
              </a:spcAft>
              <a:buClr>
                <a:srgbClr val="000000"/>
              </a:buClr>
              <a:buFont typeface="Arial"/>
              <a:buChar char="•"/>
            </a:pPr>
            <a:r>
              <a:rPr b="0" lang="en-US" sz="1800" spc="-1" strike="noStrike">
                <a:solidFill>
                  <a:srgbClr val="000000"/>
                </a:solidFill>
                <a:latin typeface="Roboto Condensed"/>
              </a:rPr>
              <a:t>HEADCROP: Cut the specified number of bases from the start of the read</a:t>
            </a:r>
            <a:endParaRPr b="0" lang="es-ES" sz="1800" spc="-1" strike="noStrike">
              <a:latin typeface="Arial"/>
            </a:endParaRPr>
          </a:p>
          <a:p>
            <a:pPr indent="-216000">
              <a:lnSpc>
                <a:spcPct val="100000"/>
              </a:lnSpc>
              <a:spcBef>
                <a:spcPts val="751"/>
              </a:spcBef>
              <a:spcAft>
                <a:spcPts val="751"/>
              </a:spcAft>
              <a:buClr>
                <a:srgbClr val="000000"/>
              </a:buClr>
              <a:buFont typeface="Arial"/>
              <a:buChar char="•"/>
            </a:pPr>
            <a:r>
              <a:rPr b="0" lang="en-US" sz="1800" spc="-1" strike="noStrike">
                <a:solidFill>
                  <a:srgbClr val="000000"/>
                </a:solidFill>
                <a:latin typeface="Roboto Condensed"/>
              </a:rPr>
              <a:t>MINLEN: Drop the read if it is below a specified length</a:t>
            </a:r>
            <a:endParaRPr b="0" lang="es-ES" sz="1800" spc="-1" strike="noStrike">
              <a:latin typeface="Arial"/>
            </a:endParaRPr>
          </a:p>
          <a:p>
            <a:pPr indent="-216000">
              <a:lnSpc>
                <a:spcPct val="100000"/>
              </a:lnSpc>
              <a:spcBef>
                <a:spcPts val="751"/>
              </a:spcBef>
              <a:spcAft>
                <a:spcPts val="751"/>
              </a:spcAft>
              <a:buClr>
                <a:srgbClr val="000000"/>
              </a:buClr>
              <a:buFont typeface="Arial"/>
              <a:buChar char="•"/>
            </a:pPr>
            <a:r>
              <a:rPr b="0" lang="en-US" sz="1800" spc="-1" strike="noStrike">
                <a:solidFill>
                  <a:srgbClr val="000000"/>
                </a:solidFill>
                <a:latin typeface="Roboto Condensed"/>
              </a:rPr>
              <a:t>TOPHRED33: Convert quality scores to Phred-33</a:t>
            </a:r>
            <a:endParaRPr b="0" lang="es-ES" sz="1800" spc="-1" strike="noStrike">
              <a:latin typeface="Arial"/>
            </a:endParaRPr>
          </a:p>
          <a:p>
            <a:pPr indent="-216000">
              <a:lnSpc>
                <a:spcPct val="100000"/>
              </a:lnSpc>
              <a:spcBef>
                <a:spcPts val="751"/>
              </a:spcBef>
              <a:spcAft>
                <a:spcPts val="751"/>
              </a:spcAft>
              <a:buClr>
                <a:srgbClr val="000000"/>
              </a:buClr>
              <a:buFont typeface="Arial"/>
              <a:buChar char="•"/>
            </a:pPr>
            <a:r>
              <a:rPr b="0" lang="en-US" sz="1800" spc="-1" strike="noStrike">
                <a:solidFill>
                  <a:srgbClr val="000000"/>
                </a:solidFill>
                <a:latin typeface="Roboto Condensed"/>
              </a:rPr>
              <a:t>TOPHRED64: Convert quality scores to Phred-64</a:t>
            </a:r>
            <a:endParaRPr b="0" lang="es-ES" sz="1800" spc="-1" strike="noStrike">
              <a:latin typeface="Arial"/>
            </a:endParaRPr>
          </a:p>
        </p:txBody>
      </p:sp>
      <p:sp>
        <p:nvSpPr>
          <p:cNvPr id="139" name="CustomShape 4"/>
          <p:cNvSpPr/>
          <p:nvPr/>
        </p:nvSpPr>
        <p:spPr>
          <a:xfrm>
            <a:off x="1701720" y="1386720"/>
            <a:ext cx="6095520" cy="395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000" spc="-1" strike="noStrike" u="sng">
                <a:solidFill>
                  <a:srgbClr val="000000"/>
                </a:solidFill>
                <a:uFillTx/>
                <a:latin typeface="Consolas"/>
              </a:rPr>
              <a:t>Trimmomatic</a:t>
            </a:r>
            <a:r>
              <a:rPr b="1" lang="en-US" sz="2000" spc="-1" strike="noStrike" u="sng">
                <a:solidFill>
                  <a:srgbClr val="000000"/>
                </a:solidFill>
                <a:uFillTx/>
                <a:latin typeface="Aptos"/>
              </a:rPr>
              <a:t> software</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CustomShape 1"/>
          <p:cNvSpPr/>
          <p:nvPr/>
        </p:nvSpPr>
        <p:spPr>
          <a:xfrm>
            <a:off x="4593240" y="230040"/>
            <a:ext cx="3004920" cy="6994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Mapping and Counting</a:t>
            </a:r>
            <a:endParaRPr b="0" lang="es-ES" sz="2000" spc="-1" strike="noStrike">
              <a:latin typeface="Arial"/>
            </a:endParaRPr>
          </a:p>
        </p:txBody>
      </p:sp>
      <p:sp>
        <p:nvSpPr>
          <p:cNvPr id="141" name="CustomShape 2"/>
          <p:cNvSpPr/>
          <p:nvPr/>
        </p:nvSpPr>
        <p:spPr>
          <a:xfrm>
            <a:off x="673200" y="770400"/>
            <a:ext cx="10845360" cy="2009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Mapping or aligning the sequences against a reference genome/transcriptome is a key step in identifying which genes the sequenced RNA fragments originate from and thus quantifying their expression.</a:t>
            </a:r>
            <a:endParaRPr b="0" lang="es-ES" sz="1800" spc="-1" strike="noStrike">
              <a:latin typeface="Arial"/>
            </a:endParaRPr>
          </a:p>
          <a:p>
            <a:pPr>
              <a:lnSpc>
                <a:spcPct val="100000"/>
              </a:lnSpc>
            </a:pPr>
            <a:r>
              <a:rPr b="0" lang="en-US" sz="1800" spc="-1" strike="noStrike">
                <a:solidFill>
                  <a:srgbClr val="000000"/>
                </a:solidFill>
                <a:latin typeface="Aptos"/>
              </a:rPr>
              <a:t>To select the alignment/mapping software we must take into account:</a:t>
            </a:r>
            <a:endParaRPr b="0" lang="es-ES" sz="1800" spc="-1" strike="noStrike">
              <a:latin typeface="Arial"/>
            </a:endParaRPr>
          </a:p>
          <a:p>
            <a:pPr marL="285840" indent="-285480">
              <a:lnSpc>
                <a:spcPct val="100000"/>
              </a:lnSpc>
              <a:buClr>
                <a:srgbClr val="000000"/>
              </a:buClr>
              <a:buFont typeface="Wingdings" charset="2"/>
              <a:buChar char=""/>
            </a:pPr>
            <a:r>
              <a:rPr b="0" lang="en-US" sz="1800" spc="-1" strike="noStrike">
                <a:solidFill>
                  <a:srgbClr val="000000"/>
                </a:solidFill>
                <a:latin typeface="Aptos"/>
              </a:rPr>
              <a:t>What reference is available, genome or transcriptome?</a:t>
            </a:r>
            <a:endParaRPr b="0" lang="es-ES" sz="1800" spc="-1" strike="noStrike">
              <a:latin typeface="Arial"/>
            </a:endParaRPr>
          </a:p>
          <a:p>
            <a:pPr marL="285840" indent="-285480">
              <a:lnSpc>
                <a:spcPct val="100000"/>
              </a:lnSpc>
              <a:buClr>
                <a:srgbClr val="000000"/>
              </a:buClr>
              <a:buFont typeface="Wingdings" charset="2"/>
              <a:buChar char=""/>
            </a:pPr>
            <a:r>
              <a:rPr b="0" lang="en-US" sz="1800" spc="-1" strike="noStrike">
                <a:solidFill>
                  <a:srgbClr val="000000"/>
                </a:solidFill>
                <a:latin typeface="Aptos"/>
              </a:rPr>
              <a:t>What downstream analyses will be performed: differential expression, co-expression networks, …?</a:t>
            </a:r>
            <a:endParaRPr b="0" lang="es-ES" sz="1800" spc="-1" strike="noStrike">
              <a:latin typeface="Arial"/>
            </a:endParaRPr>
          </a:p>
        </p:txBody>
      </p:sp>
      <p:graphicFrame>
        <p:nvGraphicFramePr>
          <p:cNvPr id="142" name="Table 3"/>
          <p:cNvGraphicFramePr/>
          <p:nvPr/>
        </p:nvGraphicFramePr>
        <p:xfrm>
          <a:off x="368280" y="2387520"/>
          <a:ext cx="11455200" cy="4084200"/>
        </p:xfrm>
        <a:graphic>
          <a:graphicData uri="http://schemas.openxmlformats.org/drawingml/2006/table">
            <a:tbl>
              <a:tblPr/>
              <a:tblGrid>
                <a:gridCol w="817920"/>
                <a:gridCol w="1727280"/>
                <a:gridCol w="1272600"/>
                <a:gridCol w="867600"/>
                <a:gridCol w="883800"/>
                <a:gridCol w="1097280"/>
                <a:gridCol w="1371600"/>
                <a:gridCol w="1264680"/>
                <a:gridCol w="2152440"/>
              </a:tblGrid>
              <a:tr h="678600">
                <a:tc>
                  <a:txBody>
                    <a:bodyPr lIns="39240" rIns="39240" tIns="19440" bIns="19440" anchor="ctr">
                      <a:noAutofit/>
                    </a:bodyPr>
                    <a:p>
                      <a:pPr>
                        <a:lnSpc>
                          <a:spcPct val="100000"/>
                        </a:lnSpc>
                      </a:pPr>
                      <a:r>
                        <a:rPr b="1" lang="en-US" sz="1400" spc="-1" strike="noStrike">
                          <a:solidFill>
                            <a:srgbClr val="000000"/>
                          </a:solidFill>
                          <a:latin typeface="Aptos"/>
                        </a:rPr>
                        <a:t>Software</a:t>
                      </a:r>
                      <a:endParaRPr b="0" lang="es-ES" sz="1400" spc="-1" strike="noStrike">
                        <a:latin typeface="Arial"/>
                      </a:endParaRPr>
                    </a:p>
                  </a:txBody>
                  <a:tcPr marL="39240" marR="39240">
                    <a:lnT w="12240">
                      <a:solidFill>
                        <a:srgbClr val="000000"/>
                      </a:solidFill>
                    </a:lnT>
                    <a:lnB w="12240">
                      <a:solidFill>
                        <a:srgbClr val="000000"/>
                      </a:solidFill>
                    </a:lnB>
                    <a:solidFill>
                      <a:srgbClr val="e8e8e8"/>
                    </a:solidFill>
                  </a:tcPr>
                </a:tc>
                <a:tc>
                  <a:txBody>
                    <a:bodyPr lIns="39240" rIns="39240" tIns="19440" bIns="19440" anchor="ctr">
                      <a:noAutofit/>
                    </a:bodyPr>
                    <a:p>
                      <a:pPr>
                        <a:lnSpc>
                          <a:spcPct val="100000"/>
                        </a:lnSpc>
                      </a:pPr>
                      <a:r>
                        <a:rPr b="1" lang="en-US" sz="1400" spc="-1" strike="noStrike">
                          <a:solidFill>
                            <a:srgbClr val="000000"/>
                          </a:solidFill>
                          <a:latin typeface="Aptos"/>
                        </a:rPr>
                        <a:t>Alignment type</a:t>
                      </a:r>
                      <a:endParaRPr b="0" lang="es-ES" sz="1400" spc="-1" strike="noStrike">
                        <a:latin typeface="Arial"/>
                      </a:endParaRPr>
                    </a:p>
                  </a:txBody>
                  <a:tcPr marL="39240" marR="39240">
                    <a:lnT w="12240">
                      <a:solidFill>
                        <a:srgbClr val="000000"/>
                      </a:solidFill>
                    </a:lnT>
                    <a:lnB w="12240">
                      <a:solidFill>
                        <a:srgbClr val="000000"/>
                      </a:solidFill>
                    </a:lnB>
                    <a:solidFill>
                      <a:srgbClr val="e8e8e8"/>
                    </a:solidFill>
                  </a:tcPr>
                </a:tc>
                <a:tc>
                  <a:txBody>
                    <a:bodyPr lIns="39240" rIns="39240" tIns="19440" bIns="19440" anchor="ctr">
                      <a:noAutofit/>
                    </a:bodyPr>
                    <a:p>
                      <a:pPr>
                        <a:lnSpc>
                          <a:spcPct val="100000"/>
                        </a:lnSpc>
                      </a:pPr>
                      <a:r>
                        <a:rPr b="1" lang="en-US" sz="1400" spc="-1" strike="noStrike">
                          <a:solidFill>
                            <a:srgbClr val="000000"/>
                          </a:solidFill>
                          <a:latin typeface="Aptos"/>
                        </a:rPr>
                        <a:t>Reference</a:t>
                      </a:r>
                      <a:endParaRPr b="0" lang="es-ES" sz="1400" spc="-1" strike="noStrike">
                        <a:latin typeface="Arial"/>
                      </a:endParaRPr>
                    </a:p>
                  </a:txBody>
                  <a:tcPr marL="39240" marR="39240">
                    <a:lnT w="12240">
                      <a:solidFill>
                        <a:srgbClr val="000000"/>
                      </a:solidFill>
                    </a:lnT>
                    <a:lnB w="12240">
                      <a:solidFill>
                        <a:srgbClr val="000000"/>
                      </a:solidFill>
                    </a:lnB>
                    <a:solidFill>
                      <a:srgbClr val="e8e8e8"/>
                    </a:solidFill>
                  </a:tcPr>
                </a:tc>
                <a:tc>
                  <a:txBody>
                    <a:bodyPr lIns="39240" rIns="39240" tIns="19440" bIns="19440" anchor="ctr">
                      <a:noAutofit/>
                    </a:bodyPr>
                    <a:p>
                      <a:pPr>
                        <a:lnSpc>
                          <a:spcPct val="100000"/>
                        </a:lnSpc>
                      </a:pPr>
                      <a:r>
                        <a:rPr b="1" lang="en-US" sz="1400" spc="-1" strike="noStrike">
                          <a:solidFill>
                            <a:srgbClr val="000000"/>
                          </a:solidFill>
                          <a:latin typeface="Aptos"/>
                        </a:rPr>
                        <a:t>Speed</a:t>
                      </a:r>
                      <a:endParaRPr b="0" lang="es-ES" sz="1400" spc="-1" strike="noStrike">
                        <a:latin typeface="Arial"/>
                      </a:endParaRPr>
                    </a:p>
                  </a:txBody>
                  <a:tcPr marL="39240" marR="39240">
                    <a:lnT w="12240">
                      <a:solidFill>
                        <a:srgbClr val="000000"/>
                      </a:solidFill>
                    </a:lnT>
                    <a:lnB w="12240">
                      <a:solidFill>
                        <a:srgbClr val="000000"/>
                      </a:solidFill>
                    </a:lnB>
                    <a:solidFill>
                      <a:srgbClr val="e8e8e8"/>
                    </a:solidFill>
                  </a:tcPr>
                </a:tc>
                <a:tc>
                  <a:txBody>
                    <a:bodyPr lIns="39240" rIns="39240" tIns="19440" bIns="19440" anchor="ctr">
                      <a:noAutofit/>
                    </a:bodyPr>
                    <a:p>
                      <a:pPr>
                        <a:lnSpc>
                          <a:spcPct val="100000"/>
                        </a:lnSpc>
                      </a:pPr>
                      <a:r>
                        <a:rPr b="1" lang="en-US" sz="1400" spc="-1" strike="noStrike">
                          <a:solidFill>
                            <a:srgbClr val="000000"/>
                          </a:solidFill>
                          <a:latin typeface="Aptos"/>
                        </a:rPr>
                        <a:t>Accuracy</a:t>
                      </a:r>
                      <a:endParaRPr b="0" lang="es-ES" sz="1400" spc="-1" strike="noStrike">
                        <a:latin typeface="Arial"/>
                      </a:endParaRPr>
                    </a:p>
                  </a:txBody>
                  <a:tcPr marL="39240" marR="39240">
                    <a:lnT w="12240">
                      <a:solidFill>
                        <a:srgbClr val="000000"/>
                      </a:solidFill>
                    </a:lnT>
                    <a:lnB w="12240">
                      <a:solidFill>
                        <a:srgbClr val="000000"/>
                      </a:solidFill>
                    </a:lnB>
                    <a:solidFill>
                      <a:srgbClr val="e8e8e8"/>
                    </a:solidFill>
                  </a:tcPr>
                </a:tc>
                <a:tc>
                  <a:txBody>
                    <a:bodyPr lIns="39240" rIns="39240" tIns="19440" bIns="19440" anchor="ctr">
                      <a:noAutofit/>
                    </a:bodyPr>
                    <a:p>
                      <a:pPr>
                        <a:lnSpc>
                          <a:spcPct val="100000"/>
                        </a:lnSpc>
                      </a:pPr>
                      <a:r>
                        <a:rPr b="1" lang="en-US" sz="1400" spc="-1" strike="noStrike">
                          <a:solidFill>
                            <a:srgbClr val="000000"/>
                          </a:solidFill>
                          <a:latin typeface="Aptos"/>
                        </a:rPr>
                        <a:t>Splicing detection</a:t>
                      </a:r>
                      <a:endParaRPr b="0" lang="es-ES" sz="1400" spc="-1" strike="noStrike">
                        <a:latin typeface="Arial"/>
                      </a:endParaRPr>
                    </a:p>
                  </a:txBody>
                  <a:tcPr marL="39240" marR="39240">
                    <a:lnT w="12240">
                      <a:solidFill>
                        <a:srgbClr val="000000"/>
                      </a:solidFill>
                    </a:lnT>
                    <a:lnB w="12240">
                      <a:solidFill>
                        <a:srgbClr val="000000"/>
                      </a:solidFill>
                    </a:lnB>
                    <a:solidFill>
                      <a:srgbClr val="e8e8e8"/>
                    </a:solidFill>
                  </a:tcPr>
                </a:tc>
                <a:tc>
                  <a:txBody>
                    <a:bodyPr lIns="39240" rIns="39240" tIns="19440" bIns="19440" anchor="ctr">
                      <a:noAutofit/>
                    </a:bodyPr>
                    <a:p>
                      <a:pPr>
                        <a:lnSpc>
                          <a:spcPct val="100000"/>
                        </a:lnSpc>
                      </a:pPr>
                      <a:r>
                        <a:rPr b="1" lang="en-US" sz="1400" spc="-1" strike="noStrike">
                          <a:solidFill>
                            <a:srgbClr val="000000"/>
                          </a:solidFill>
                          <a:latin typeface="Aptos"/>
                        </a:rPr>
                        <a:t>Direct quantification</a:t>
                      </a:r>
                      <a:endParaRPr b="0" lang="es-ES" sz="1400" spc="-1" strike="noStrike">
                        <a:latin typeface="Arial"/>
                      </a:endParaRPr>
                    </a:p>
                  </a:txBody>
                  <a:tcPr marL="39240" marR="39240">
                    <a:lnT w="12240">
                      <a:solidFill>
                        <a:srgbClr val="000000"/>
                      </a:solidFill>
                    </a:lnT>
                    <a:lnB w="12240">
                      <a:solidFill>
                        <a:srgbClr val="000000"/>
                      </a:solidFill>
                    </a:lnB>
                    <a:solidFill>
                      <a:srgbClr val="e8e8e8"/>
                    </a:solidFill>
                  </a:tcPr>
                </a:tc>
                <a:tc>
                  <a:txBody>
                    <a:bodyPr lIns="39240" rIns="39240" tIns="19440" bIns="19440" anchor="ctr">
                      <a:noAutofit/>
                    </a:bodyPr>
                    <a:p>
                      <a:pPr>
                        <a:lnSpc>
                          <a:spcPct val="100000"/>
                        </a:lnSpc>
                      </a:pPr>
                      <a:r>
                        <a:rPr b="1" lang="en-US" sz="1400" spc="-1" strike="noStrike">
                          <a:solidFill>
                            <a:srgbClr val="000000"/>
                          </a:solidFill>
                          <a:latin typeface="Aptos"/>
                        </a:rPr>
                        <a:t>Output</a:t>
                      </a:r>
                      <a:endParaRPr b="0" lang="es-ES" sz="1400" spc="-1" strike="noStrike">
                        <a:latin typeface="Arial"/>
                      </a:endParaRPr>
                    </a:p>
                  </a:txBody>
                  <a:tcPr marL="39240" marR="39240">
                    <a:lnT w="12240">
                      <a:solidFill>
                        <a:srgbClr val="000000"/>
                      </a:solidFill>
                    </a:lnT>
                    <a:lnB w="12240">
                      <a:solidFill>
                        <a:srgbClr val="000000"/>
                      </a:solidFill>
                    </a:lnB>
                    <a:solidFill>
                      <a:srgbClr val="e8e8e8"/>
                    </a:solidFill>
                  </a:tcPr>
                </a:tc>
                <a:tc>
                  <a:txBody>
                    <a:bodyPr lIns="39240" rIns="39240" tIns="19440" bIns="19440" anchor="ctr">
                      <a:noAutofit/>
                    </a:bodyPr>
                    <a:p>
                      <a:pPr>
                        <a:lnSpc>
                          <a:spcPct val="100000"/>
                        </a:lnSpc>
                      </a:pPr>
                      <a:r>
                        <a:rPr b="1" lang="en-US" sz="1400" spc="-1" strike="noStrike">
                          <a:solidFill>
                            <a:srgbClr val="000000"/>
                          </a:solidFill>
                          <a:latin typeface="Aptos"/>
                        </a:rPr>
                        <a:t>Key notes</a:t>
                      </a:r>
                      <a:endParaRPr b="0" lang="es-ES" sz="1400" spc="-1" strike="noStrike">
                        <a:latin typeface="Arial"/>
                      </a:endParaRPr>
                    </a:p>
                  </a:txBody>
                  <a:tcPr marL="39240" marR="39240">
                    <a:lnT w="12240">
                      <a:solidFill>
                        <a:srgbClr val="000000"/>
                      </a:solidFill>
                    </a:lnT>
                    <a:lnB w="12240">
                      <a:solidFill>
                        <a:srgbClr val="000000"/>
                      </a:solidFill>
                    </a:lnB>
                    <a:solidFill>
                      <a:srgbClr val="e8e8e8"/>
                    </a:solidFill>
                  </a:tcPr>
                </a:tc>
              </a:tr>
              <a:tr h="1104840">
                <a:tc>
                  <a:txBody>
                    <a:bodyPr lIns="39240" rIns="39240" tIns="19440" bIns="19440" anchor="ctr">
                      <a:noAutofit/>
                    </a:bodyPr>
                    <a:p>
                      <a:pPr>
                        <a:lnSpc>
                          <a:spcPct val="100000"/>
                        </a:lnSpc>
                      </a:pPr>
                      <a:r>
                        <a:rPr b="1" lang="en-US" sz="1400" spc="-1" strike="noStrike">
                          <a:solidFill>
                            <a:srgbClr val="000000"/>
                          </a:solidFill>
                          <a:latin typeface="Aptos"/>
                        </a:rPr>
                        <a:t>STAR</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i="1" lang="en-US" sz="1400" spc="-1" strike="noStrike">
                          <a:solidFill>
                            <a:srgbClr val="000000"/>
                          </a:solidFill>
                          <a:latin typeface="Aptos"/>
                        </a:rPr>
                        <a:t>Full alignment (sequence-based)</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1" lang="en-US" sz="1400" spc="-1" strike="noStrike">
                          <a:solidFill>
                            <a:srgbClr val="000000"/>
                          </a:solidFill>
                          <a:latin typeface="Aptos"/>
                        </a:rPr>
                        <a:t>Genome</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Very high</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Very high</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Yes</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1" lang="en-US" sz="1400" spc="-1" strike="noStrike">
                          <a:solidFill>
                            <a:srgbClr val="000000"/>
                          </a:solidFill>
                          <a:latin typeface="Aptos"/>
                        </a:rPr>
                        <a:t>No</a:t>
                      </a:r>
                      <a:r>
                        <a:rPr b="0" lang="en-US" sz="1400" spc="-1" strike="noStrike">
                          <a:solidFill>
                            <a:srgbClr val="000000"/>
                          </a:solidFill>
                          <a:latin typeface="Aptos"/>
                        </a:rPr>
                        <a:t> (use featureCounts or RSEM)</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SAM/BAM files</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Gold standard in large projects (e.g., ENCODE, GTEx); excellent for novel genes or isoforms</a:t>
                      </a:r>
                      <a:endParaRPr b="0" lang="es-ES" sz="1400" spc="-1" strike="noStrike">
                        <a:latin typeface="Arial"/>
                      </a:endParaRPr>
                    </a:p>
                  </a:txBody>
                  <a:tcPr marL="39240" marR="39240">
                    <a:lnT w="12240">
                      <a:solidFill>
                        <a:srgbClr val="000000"/>
                      </a:solidFill>
                    </a:lnT>
                    <a:lnB w="12240">
                      <a:solidFill>
                        <a:srgbClr val="000000"/>
                      </a:solidFill>
                    </a:lnB>
                    <a:noFill/>
                  </a:tcPr>
                </a:tc>
              </a:tr>
              <a:tr h="891720">
                <a:tc>
                  <a:txBody>
                    <a:bodyPr lIns="39240" rIns="39240" tIns="19440" bIns="19440" anchor="ctr">
                      <a:noAutofit/>
                    </a:bodyPr>
                    <a:p>
                      <a:pPr>
                        <a:lnSpc>
                          <a:spcPct val="100000"/>
                        </a:lnSpc>
                      </a:pPr>
                      <a:r>
                        <a:rPr b="1" lang="en-US" sz="1400" spc="-1" strike="noStrike">
                          <a:solidFill>
                            <a:srgbClr val="000000"/>
                          </a:solidFill>
                          <a:latin typeface="Aptos"/>
                        </a:rPr>
                        <a:t>HISAT2</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i="1" lang="en-US" sz="1400" spc="-1" strike="noStrike">
                          <a:solidFill>
                            <a:srgbClr val="000000"/>
                          </a:solidFill>
                          <a:latin typeface="Aptos"/>
                        </a:rPr>
                        <a:t>Full alignment (hierarchical indexing)</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1" lang="en-US" sz="1400" spc="-1" strike="noStrike">
                          <a:solidFill>
                            <a:srgbClr val="000000"/>
                          </a:solidFill>
                          <a:latin typeface="Aptos"/>
                        </a:rPr>
                        <a:t>Genome</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High</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High</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Yes</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1" lang="en-US" sz="1400" spc="-1" strike="noStrike">
                          <a:solidFill>
                            <a:srgbClr val="000000"/>
                          </a:solidFill>
                          <a:latin typeface="Aptos"/>
                        </a:rPr>
                        <a:t>No</a:t>
                      </a:r>
                      <a:r>
                        <a:rPr b="0" lang="en-US" sz="1400" spc="-1" strike="noStrike">
                          <a:solidFill>
                            <a:srgbClr val="000000"/>
                          </a:solidFill>
                          <a:latin typeface="Aptos"/>
                        </a:rPr>
                        <a:t> (use StringTie or featureCounts)</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SAM/BAM files</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Fast and memory-efficient; successor to TopHat2</a:t>
                      </a:r>
                      <a:endParaRPr b="0" lang="es-ES" sz="1400" spc="-1" strike="noStrike">
                        <a:latin typeface="Arial"/>
                      </a:endParaRPr>
                    </a:p>
                  </a:txBody>
                  <a:tcPr marL="39240" marR="39240">
                    <a:lnT w="12240">
                      <a:solidFill>
                        <a:srgbClr val="000000"/>
                      </a:solidFill>
                    </a:lnT>
                    <a:lnB w="12240">
                      <a:solidFill>
                        <a:srgbClr val="000000"/>
                      </a:solidFill>
                    </a:lnB>
                    <a:noFill/>
                  </a:tcPr>
                </a:tc>
              </a:tr>
              <a:tr h="1317960">
                <a:tc>
                  <a:txBody>
                    <a:bodyPr lIns="39240" rIns="39240" tIns="19440" bIns="19440" anchor="ctr">
                      <a:noAutofit/>
                    </a:bodyPr>
                    <a:p>
                      <a:pPr>
                        <a:lnSpc>
                          <a:spcPct val="100000"/>
                        </a:lnSpc>
                      </a:pPr>
                      <a:r>
                        <a:rPr b="1" lang="en-US" sz="1400" spc="-1" strike="noStrike">
                          <a:solidFill>
                            <a:srgbClr val="000000"/>
                          </a:solidFill>
                          <a:latin typeface="Aptos"/>
                        </a:rPr>
                        <a:t>Salmon</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i="1" lang="en-US" sz="1400" spc="-1" strike="noStrike">
                          <a:solidFill>
                            <a:srgbClr val="000000"/>
                          </a:solidFill>
                          <a:latin typeface="Aptos"/>
                        </a:rPr>
                        <a:t>Quasi-mapping</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1" lang="en-US" sz="1400" spc="-1" strike="noStrike">
                          <a:solidFill>
                            <a:srgbClr val="000000"/>
                          </a:solidFill>
                          <a:latin typeface="Aptos"/>
                        </a:rPr>
                        <a:t>Transcriptome</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Very high</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High</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Not directly (depends on annotation)</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1" lang="en-US" sz="1400" spc="-1" strike="noStrike">
                          <a:solidFill>
                            <a:srgbClr val="000000"/>
                          </a:solidFill>
                          <a:latin typeface="Aptos"/>
                        </a:rPr>
                        <a:t>Yes</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1" lang="en-US" sz="1400" spc="-1" strike="noStrike">
                          <a:solidFill>
                            <a:srgbClr val="000000"/>
                          </a:solidFill>
                          <a:latin typeface="Aptos"/>
                        </a:rPr>
                        <a:t>Expression tables </a:t>
                      </a:r>
                      <a:r>
                        <a:rPr b="0" lang="en-US" sz="1400" spc="-1" strike="noStrike">
                          <a:solidFill>
                            <a:srgbClr val="000000"/>
                          </a:solidFill>
                          <a:latin typeface="Aptos"/>
                        </a:rPr>
                        <a:t>(TPM, FPKM, counts)</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Very fast; ideal for direct quantification without BAM files</a:t>
                      </a:r>
                      <a:endParaRPr b="0" lang="es-ES" sz="1400" spc="-1" strike="noStrike">
                        <a:latin typeface="Arial"/>
                      </a:endParaRPr>
                    </a:p>
                  </a:txBody>
                  <a:tcPr marL="39240" marR="39240">
                    <a:lnT w="12240">
                      <a:solidFill>
                        <a:srgbClr val="000000"/>
                      </a:solidFill>
                    </a:lnT>
                    <a:lnB w="12240">
                      <a:solidFill>
                        <a:srgbClr val="000000"/>
                      </a:solidFill>
                    </a:lnB>
                    <a:noFill/>
                  </a:tcPr>
                </a:tc>
              </a:tr>
              <a:tr h="678600">
                <a:tc>
                  <a:txBody>
                    <a:bodyPr lIns="39240" rIns="39240" tIns="19440" bIns="19440" anchor="ctr">
                      <a:noAutofit/>
                    </a:bodyPr>
                    <a:p>
                      <a:pPr>
                        <a:lnSpc>
                          <a:spcPct val="100000"/>
                        </a:lnSpc>
                      </a:pPr>
                      <a:r>
                        <a:rPr b="1" lang="en-US" sz="1400" spc="-1" strike="noStrike">
                          <a:solidFill>
                            <a:srgbClr val="000000"/>
                          </a:solidFill>
                          <a:latin typeface="Aptos"/>
                        </a:rPr>
                        <a:t>Kallisto</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i="1" lang="en-US" sz="1400" spc="-1" strike="noStrike">
                          <a:solidFill>
                            <a:srgbClr val="000000"/>
                          </a:solidFill>
                          <a:latin typeface="Aptos"/>
                        </a:rPr>
                        <a:t>Pseudoalignment</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1" lang="en-US" sz="1400" spc="-1" strike="noStrike">
                          <a:solidFill>
                            <a:srgbClr val="000000"/>
                          </a:solidFill>
                          <a:latin typeface="Aptos"/>
                        </a:rPr>
                        <a:t>Transcriptome</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Extremely high</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High</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No</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1" lang="en-US" sz="1400" spc="-1" strike="noStrike">
                          <a:solidFill>
                            <a:srgbClr val="000000"/>
                          </a:solidFill>
                          <a:latin typeface="Aptos"/>
                        </a:rPr>
                        <a:t>Yes</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1" lang="en-US" sz="1400" spc="-1" strike="noStrike">
                          <a:solidFill>
                            <a:srgbClr val="000000"/>
                          </a:solidFill>
                          <a:latin typeface="Aptos"/>
                        </a:rPr>
                        <a:t>Expression tables </a:t>
                      </a:r>
                      <a:r>
                        <a:rPr b="0" lang="en-US" sz="1400" spc="-1" strike="noStrike">
                          <a:solidFill>
                            <a:srgbClr val="000000"/>
                          </a:solidFill>
                          <a:latin typeface="Aptos"/>
                        </a:rPr>
                        <a:t>(TPM, counts)</a:t>
                      </a:r>
                      <a:endParaRPr b="0" lang="es-ES" sz="1400" spc="-1" strike="noStrike">
                        <a:latin typeface="Arial"/>
                      </a:endParaRPr>
                    </a:p>
                  </a:txBody>
                  <a:tcPr marL="39240" marR="39240">
                    <a:lnT w="12240">
                      <a:solidFill>
                        <a:srgbClr val="000000"/>
                      </a:solidFill>
                    </a:lnT>
                    <a:lnB w="12240">
                      <a:solidFill>
                        <a:srgbClr val="000000"/>
                      </a:solidFill>
                    </a:lnB>
                    <a:noFill/>
                  </a:tcPr>
                </a:tc>
                <a:tc>
                  <a:txBody>
                    <a:bodyPr lIns="39240" rIns="39240" tIns="19440" bIns="19440" anchor="ctr">
                      <a:noAutofit/>
                    </a:bodyPr>
                    <a:p>
                      <a:pPr>
                        <a:lnSpc>
                          <a:spcPct val="100000"/>
                        </a:lnSpc>
                      </a:pPr>
                      <a:r>
                        <a:rPr b="0" lang="en-US" sz="1400" spc="-1" strike="noStrike">
                          <a:solidFill>
                            <a:srgbClr val="000000"/>
                          </a:solidFill>
                          <a:latin typeface="Aptos"/>
                        </a:rPr>
                        <a:t>Ultra-fast; great for exploratory or large-cohort analyses</a:t>
                      </a:r>
                      <a:endParaRPr b="0" lang="es-ES" sz="1400" spc="-1" strike="noStrike">
                        <a:latin typeface="Arial"/>
                      </a:endParaRPr>
                    </a:p>
                  </a:txBody>
                  <a:tcPr marL="39240" marR="39240">
                    <a:lnT w="12240">
                      <a:solidFill>
                        <a:srgbClr val="000000"/>
                      </a:solidFill>
                    </a:lnT>
                    <a:lnB w="12240">
                      <a:solidFill>
                        <a:srgbClr val="000000"/>
                      </a:solidFill>
                    </a:lnB>
                    <a:noFill/>
                  </a:tcPr>
                </a:tc>
              </a:tr>
            </a:tbl>
          </a:graphicData>
        </a:graphic>
      </p:graphicFrame>
      <p:pic>
        <p:nvPicPr>
          <p:cNvPr id="143" name="Gráfico 7" descr="Burbuja de chat con relleno sólido"/>
          <p:cNvPicPr/>
          <p:nvPr/>
        </p:nvPicPr>
        <p:blipFill>
          <a:blip r:embed="rId1"/>
          <a:stretch/>
        </p:blipFill>
        <p:spPr>
          <a:xfrm flipH="1">
            <a:off x="814680" y="3277440"/>
            <a:ext cx="216720" cy="216720"/>
          </a:xfrm>
          <a:prstGeom prst="rect">
            <a:avLst/>
          </a:prstGeom>
          <a:ln>
            <a:noFill/>
          </a:ln>
        </p:spPr>
      </p:pic>
      <p:pic>
        <p:nvPicPr>
          <p:cNvPr id="144" name="Gráfico 8" descr="Burbuja de chat con relleno sólido"/>
          <p:cNvPicPr/>
          <p:nvPr/>
        </p:nvPicPr>
        <p:blipFill>
          <a:blip r:embed="rId2"/>
          <a:stretch/>
        </p:blipFill>
        <p:spPr>
          <a:xfrm flipH="1">
            <a:off x="935280" y="4187520"/>
            <a:ext cx="216720" cy="216720"/>
          </a:xfrm>
          <a:prstGeom prst="rect">
            <a:avLst/>
          </a:prstGeom>
          <a:ln>
            <a:noFill/>
          </a:ln>
        </p:spPr>
      </p:pic>
      <p:pic>
        <p:nvPicPr>
          <p:cNvPr id="145" name="Gráfico 9" descr="Burbuja de chat con relleno sólido"/>
          <p:cNvPicPr/>
          <p:nvPr/>
        </p:nvPicPr>
        <p:blipFill>
          <a:blip r:embed="rId3"/>
          <a:stretch/>
        </p:blipFill>
        <p:spPr>
          <a:xfrm flipH="1">
            <a:off x="963360" y="4945680"/>
            <a:ext cx="216720" cy="216720"/>
          </a:xfrm>
          <a:prstGeom prst="rect">
            <a:avLst/>
          </a:prstGeom>
          <a:ln>
            <a:noFill/>
          </a:ln>
        </p:spPr>
      </p:pic>
      <p:pic>
        <p:nvPicPr>
          <p:cNvPr id="146" name="Gráfico 10" descr="Burbuja de chat con relleno sólido"/>
          <p:cNvPicPr/>
          <p:nvPr/>
        </p:nvPicPr>
        <p:blipFill>
          <a:blip r:embed="rId4"/>
          <a:stretch/>
        </p:blipFill>
        <p:spPr>
          <a:xfrm flipH="1">
            <a:off x="936360" y="5776200"/>
            <a:ext cx="216720" cy="216720"/>
          </a:xfrm>
          <a:prstGeom prst="rect">
            <a:avLst/>
          </a:prstGeom>
          <a:ln>
            <a:noFill/>
          </a:ln>
        </p:spPr>
      </p:pic>
      <p:sp>
        <p:nvSpPr>
          <p:cNvPr id="147" name="CustomShape 4"/>
          <p:cNvSpPr/>
          <p:nvPr/>
        </p:nvSpPr>
        <p:spPr>
          <a:xfrm>
            <a:off x="368280" y="5567760"/>
            <a:ext cx="11455200" cy="919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CustomShape 1"/>
          <p:cNvSpPr/>
          <p:nvPr/>
        </p:nvSpPr>
        <p:spPr>
          <a:xfrm>
            <a:off x="240120" y="2561040"/>
            <a:ext cx="11806560" cy="429660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p:style>
      </p:sp>
      <p:sp>
        <p:nvSpPr>
          <p:cNvPr id="149" name="CustomShape 2"/>
          <p:cNvSpPr/>
          <p:nvPr/>
        </p:nvSpPr>
        <p:spPr>
          <a:xfrm>
            <a:off x="1544400" y="782280"/>
            <a:ext cx="9442080" cy="171360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p:style>
      </p:sp>
      <p:sp>
        <p:nvSpPr>
          <p:cNvPr id="150" name="CustomShape 3"/>
          <p:cNvSpPr/>
          <p:nvPr/>
        </p:nvSpPr>
        <p:spPr>
          <a:xfrm>
            <a:off x="2418120" y="300960"/>
            <a:ext cx="7381080" cy="6994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Counting, Normalization and Differential Expression analysis</a:t>
            </a:r>
            <a:endParaRPr b="0" lang="es-ES" sz="2000" spc="-1" strike="noStrike">
              <a:latin typeface="Arial"/>
            </a:endParaRPr>
          </a:p>
        </p:txBody>
      </p:sp>
      <p:sp>
        <p:nvSpPr>
          <p:cNvPr id="151" name="CustomShape 4"/>
          <p:cNvSpPr/>
          <p:nvPr/>
        </p:nvSpPr>
        <p:spPr>
          <a:xfrm>
            <a:off x="349200" y="3999240"/>
            <a:ext cx="1591920" cy="1306440"/>
          </a:xfrm>
          <a:prstGeom prst="rect">
            <a:avLst/>
          </a:prstGeom>
          <a:noFill/>
          <a:ln>
            <a:noFill/>
          </a:ln>
        </p:spPr>
        <p:style>
          <a:lnRef idx="0"/>
          <a:fillRef idx="0"/>
          <a:effectRef idx="0"/>
          <a:fontRef idx="minor"/>
        </p:style>
        <p:txBody>
          <a:bodyPr lIns="90000" rIns="90000" tIns="45000" bIns="45000">
            <a:spAutoFit/>
          </a:bodyPr>
          <a:p>
            <a:pPr>
              <a:lnSpc>
                <a:spcPct val="100000"/>
              </a:lnSpc>
            </a:pPr>
            <a:r>
              <a:rPr b="1" i="1" lang="en-US" sz="1600" spc="-1" strike="noStrike">
                <a:solidFill>
                  <a:srgbClr val="000000"/>
                </a:solidFill>
                <a:latin typeface="Aptos"/>
              </a:rPr>
              <a:t>Normalize for sequencing depth and gene length</a:t>
            </a:r>
            <a:endParaRPr b="0" lang="es-ES" sz="1600" spc="-1" strike="noStrike">
              <a:latin typeface="Arial"/>
            </a:endParaRPr>
          </a:p>
        </p:txBody>
      </p:sp>
      <p:sp>
        <p:nvSpPr>
          <p:cNvPr id="152" name="CustomShape 5"/>
          <p:cNvSpPr/>
          <p:nvPr/>
        </p:nvSpPr>
        <p:spPr>
          <a:xfrm>
            <a:off x="2132640" y="1224360"/>
            <a:ext cx="7381080" cy="17355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Aptos"/>
              </a:rPr>
              <a:t>Raw counts: </a:t>
            </a:r>
            <a:r>
              <a:rPr b="0" lang="en-US" sz="1800" spc="-1" strike="noStrike">
                <a:solidFill>
                  <a:srgbClr val="000000"/>
                </a:solidFill>
                <a:latin typeface="Aptos"/>
              </a:rPr>
              <a:t>Number of sequencing reads mapped to each gene.</a:t>
            </a:r>
            <a:endParaRPr b="0" lang="es-ES" sz="1800" spc="-1" strike="noStrike">
              <a:latin typeface="Arial"/>
            </a:endParaRPr>
          </a:p>
          <a:p>
            <a:pPr>
              <a:lnSpc>
                <a:spcPct val="100000"/>
              </a:lnSpc>
            </a:pPr>
            <a:r>
              <a:rPr b="0" lang="en-US" sz="1800" spc="-1" strike="noStrike">
                <a:solidFill>
                  <a:srgbClr val="000000"/>
                </a:solidFill>
                <a:latin typeface="Aptos"/>
              </a:rPr>
              <a:t>Cannot be directly compared between genes or samples:</a:t>
            </a:r>
            <a:endParaRPr b="0" lang="es-ES" sz="1800" spc="-1" strike="noStrike">
              <a:latin typeface="Arial"/>
            </a:endParaRPr>
          </a:p>
          <a:p>
            <a:pPr lvl="1" marL="743040" indent="-285480">
              <a:lnSpc>
                <a:spcPct val="100000"/>
              </a:lnSpc>
              <a:buClr>
                <a:srgbClr val="000000"/>
              </a:buClr>
              <a:buFont typeface="Wingdings" charset="2"/>
              <a:buChar char=""/>
            </a:pPr>
            <a:r>
              <a:rPr b="0" lang="en-US" sz="1800" spc="-1" strike="noStrike">
                <a:solidFill>
                  <a:srgbClr val="000000"/>
                </a:solidFill>
                <a:latin typeface="Aptos"/>
              </a:rPr>
              <a:t>Longer genes = more sequenced reads</a:t>
            </a:r>
            <a:endParaRPr b="0" lang="es-ES" sz="1800" spc="-1" strike="noStrike">
              <a:latin typeface="Arial"/>
            </a:endParaRPr>
          </a:p>
          <a:p>
            <a:pPr lvl="1" marL="743040" indent="-285480">
              <a:lnSpc>
                <a:spcPct val="100000"/>
              </a:lnSpc>
              <a:buClr>
                <a:srgbClr val="000000"/>
              </a:buClr>
              <a:buFont typeface="Wingdings" charset="2"/>
              <a:buChar char=""/>
            </a:pPr>
            <a:r>
              <a:rPr b="0" lang="en-US" sz="1800" spc="-1" strike="noStrike">
                <a:solidFill>
                  <a:srgbClr val="000000"/>
                </a:solidFill>
                <a:latin typeface="Aptos"/>
              </a:rPr>
              <a:t>Samples with deeper sequencing = more total sequenced reads</a:t>
            </a:r>
            <a:endParaRPr b="0" lang="es-ES" sz="1800" spc="-1" strike="noStrike">
              <a:latin typeface="Arial"/>
            </a:endParaRPr>
          </a:p>
        </p:txBody>
      </p:sp>
      <p:sp>
        <p:nvSpPr>
          <p:cNvPr id="153" name="CustomShape 6"/>
          <p:cNvSpPr/>
          <p:nvPr/>
        </p:nvSpPr>
        <p:spPr>
          <a:xfrm>
            <a:off x="2132640" y="2610000"/>
            <a:ext cx="9744120" cy="11869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Aptos"/>
              </a:rPr>
              <a:t>RPKM:</a:t>
            </a:r>
            <a:r>
              <a:rPr b="0" lang="en-US" sz="1800" spc="-1" strike="noStrike">
                <a:solidFill>
                  <a:srgbClr val="000000"/>
                </a:solidFill>
                <a:latin typeface="Aptos"/>
              </a:rPr>
              <a:t> Reads Per Kilobase of exon per Million reads mapped. </a:t>
            </a:r>
            <a:r>
              <a:rPr b="1" i="1" lang="en-US" sz="1800" spc="-1" strike="noStrike">
                <a:solidFill>
                  <a:srgbClr val="000000"/>
                </a:solidFill>
                <a:latin typeface="Aptos"/>
              </a:rPr>
              <a:t>Single-end</a:t>
            </a:r>
            <a:r>
              <a:rPr b="0" lang="en-US" sz="1800" spc="-1" strike="noStrike">
                <a:solidFill>
                  <a:srgbClr val="000000"/>
                </a:solidFill>
                <a:latin typeface="Aptos"/>
              </a:rPr>
              <a:t> (SE) RNA-seq.</a:t>
            </a:r>
            <a:endParaRPr b="0" lang="es-ES" sz="1800" spc="-1" strike="noStrike">
              <a:latin typeface="Arial"/>
            </a:endParaRPr>
          </a:p>
          <a:p>
            <a:pPr>
              <a:lnSpc>
                <a:spcPct val="100000"/>
              </a:lnSpc>
            </a:pPr>
            <a:r>
              <a:rPr b="1" lang="en-US" sz="1800" spc="-1" strike="noStrike">
                <a:solidFill>
                  <a:srgbClr val="000000"/>
                </a:solidFill>
                <a:latin typeface="Aptos"/>
              </a:rPr>
              <a:t>FPKM:</a:t>
            </a:r>
            <a:r>
              <a:rPr b="0" lang="en-US" sz="1800" spc="-1" strike="noStrike">
                <a:solidFill>
                  <a:srgbClr val="000000"/>
                </a:solidFill>
                <a:latin typeface="Aptos"/>
              </a:rPr>
              <a:t> Analogous to RPKM and is used specifically in </a:t>
            </a:r>
            <a:r>
              <a:rPr b="1" i="1" lang="en-US" sz="1800" spc="-1" strike="noStrike">
                <a:solidFill>
                  <a:srgbClr val="000000"/>
                </a:solidFill>
                <a:latin typeface="Aptos"/>
              </a:rPr>
              <a:t>paired-end</a:t>
            </a:r>
            <a:r>
              <a:rPr b="0" lang="en-US" sz="1800" spc="-1" strike="noStrike">
                <a:solidFill>
                  <a:srgbClr val="000000"/>
                </a:solidFill>
                <a:latin typeface="Aptos"/>
              </a:rPr>
              <a:t> (PE) RNA-seq experiments.</a:t>
            </a:r>
            <a:endParaRPr b="0" lang="es-ES" sz="1800" spc="-1" strike="noStrike">
              <a:latin typeface="Arial"/>
            </a:endParaRPr>
          </a:p>
        </p:txBody>
      </p:sp>
      <p:pic>
        <p:nvPicPr>
          <p:cNvPr id="154" name="Imagen 12" descr=""/>
          <p:cNvPicPr/>
          <p:nvPr/>
        </p:nvPicPr>
        <p:blipFill>
          <a:blip r:embed="rId1"/>
          <a:stretch/>
        </p:blipFill>
        <p:spPr>
          <a:xfrm>
            <a:off x="2218680" y="3487680"/>
            <a:ext cx="4628880" cy="958680"/>
          </a:xfrm>
          <a:prstGeom prst="rect">
            <a:avLst/>
          </a:prstGeom>
          <a:ln>
            <a:noFill/>
          </a:ln>
        </p:spPr>
      </p:pic>
      <p:sp>
        <p:nvSpPr>
          <p:cNvPr id="155" name="CustomShape 7"/>
          <p:cNvSpPr/>
          <p:nvPr/>
        </p:nvSpPr>
        <p:spPr>
          <a:xfrm>
            <a:off x="2132640" y="4478760"/>
            <a:ext cx="8853840" cy="11869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Aptos"/>
              </a:rPr>
              <a:t>TPM:</a:t>
            </a:r>
            <a:r>
              <a:rPr b="0" lang="en-US" sz="1800" spc="-1" strike="noStrike">
                <a:solidFill>
                  <a:srgbClr val="000000"/>
                </a:solidFill>
                <a:latin typeface="Aptos"/>
              </a:rPr>
              <a:t> Transcript Per Million. </a:t>
            </a:r>
            <a:endParaRPr b="0" lang="es-ES" sz="1800" spc="-1" strike="noStrike">
              <a:latin typeface="Arial"/>
            </a:endParaRPr>
          </a:p>
          <a:p>
            <a:pPr>
              <a:lnSpc>
                <a:spcPct val="100000"/>
              </a:lnSpc>
            </a:pPr>
            <a:r>
              <a:rPr b="0" lang="en-US" sz="1800" spc="-1" strike="noStrike">
                <a:solidFill>
                  <a:srgbClr val="000000"/>
                </a:solidFill>
                <a:latin typeface="Aptos"/>
              </a:rPr>
              <a:t>The sum of all TPM values is the same in all samples. A TPM value represents a relative expression level that should be comparable between samples.</a:t>
            </a:r>
            <a:endParaRPr b="0" lang="es-ES" sz="1800" spc="-1" strike="noStrike">
              <a:latin typeface="Arial"/>
            </a:endParaRPr>
          </a:p>
        </p:txBody>
      </p:sp>
      <p:pic>
        <p:nvPicPr>
          <p:cNvPr id="156" name="Imagen 18" descr=""/>
          <p:cNvPicPr/>
          <p:nvPr/>
        </p:nvPicPr>
        <p:blipFill>
          <a:blip r:embed="rId2"/>
          <a:stretch/>
        </p:blipFill>
        <p:spPr>
          <a:xfrm>
            <a:off x="3165840" y="5461920"/>
            <a:ext cx="2790720" cy="885600"/>
          </a:xfrm>
          <a:prstGeom prst="rect">
            <a:avLst/>
          </a:prstGeom>
          <a:ln>
            <a:noFill/>
          </a:ln>
        </p:spPr>
      </p:pic>
      <p:sp>
        <p:nvSpPr>
          <p:cNvPr id="157" name="CustomShape 8"/>
          <p:cNvSpPr/>
          <p:nvPr/>
        </p:nvSpPr>
        <p:spPr>
          <a:xfrm>
            <a:off x="1619640" y="855000"/>
            <a:ext cx="7134480" cy="364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u="sng">
                <a:solidFill>
                  <a:srgbClr val="000000"/>
                </a:solidFill>
                <a:uFillTx/>
                <a:latin typeface="Aptos"/>
              </a:rPr>
              <a:t>Gene Expression Measurement</a:t>
            </a:r>
            <a:endParaRPr b="0" lang="es-ES" sz="1800" spc="-1" strike="noStrike">
              <a:latin typeface="Arial"/>
            </a:endParaRPr>
          </a:p>
        </p:txBody>
      </p:sp>
      <p:pic>
        <p:nvPicPr>
          <p:cNvPr id="158" name="Gráfico 24" descr="Presentación con elemento multimedia con relleno sólido"/>
          <p:cNvPicPr/>
          <p:nvPr/>
        </p:nvPicPr>
        <p:blipFill>
          <a:blip r:embed="rId3"/>
          <a:stretch/>
        </p:blipFill>
        <p:spPr>
          <a:xfrm>
            <a:off x="11277720" y="0"/>
            <a:ext cx="914040" cy="914040"/>
          </a:xfrm>
          <a:prstGeom prst="rect">
            <a:avLst/>
          </a:prstGeom>
          <a:ln>
            <a:noFill/>
          </a:ln>
        </p:spPr>
      </p:pic>
      <p:sp>
        <p:nvSpPr>
          <p:cNvPr id="159" name="CustomShape 9"/>
          <p:cNvSpPr/>
          <p:nvPr/>
        </p:nvSpPr>
        <p:spPr>
          <a:xfrm>
            <a:off x="1644480" y="2610000"/>
            <a:ext cx="665280" cy="4105440"/>
          </a:xfrm>
          <a:prstGeom prst="leftBrace">
            <a:avLst>
              <a:gd name="adj1" fmla="val 8333"/>
              <a:gd name="adj2" fmla="val 50000"/>
            </a:avLst>
          </a:prstGeom>
          <a:noFill/>
          <a:ln/>
        </p:spPr>
        <p:style>
          <a:lnRef idx="2">
            <a:schemeClr val="dk1"/>
          </a:lnRef>
          <a:fillRef idx="0">
            <a:schemeClr val="dk1"/>
          </a:fillRef>
          <a:effectRef idx="1">
            <a:schemeClr val="dk1"/>
          </a:effectRef>
          <a:fontRef idx="minor"/>
        </p:style>
      </p:sp>
      <p:sp>
        <p:nvSpPr>
          <p:cNvPr id="160" name="CustomShape 10"/>
          <p:cNvSpPr/>
          <p:nvPr/>
        </p:nvSpPr>
        <p:spPr>
          <a:xfrm>
            <a:off x="6713280" y="3456360"/>
            <a:ext cx="5141880" cy="213480"/>
          </a:xfrm>
          <a:prstGeom prst="rect">
            <a:avLst/>
          </a:prstGeom>
          <a:noFill/>
          <a:ln>
            <a:noFill/>
          </a:ln>
        </p:spPr>
        <p:style>
          <a:lnRef idx="0"/>
          <a:fillRef idx="0"/>
          <a:effectRef idx="0"/>
          <a:fontRef idx="minor"/>
        </p:style>
        <p:txBody>
          <a:bodyPr wrap="none" lIns="0" rIns="0" tIns="0" bIns="0">
            <a:spAutoFit/>
          </a:bodyPr>
          <a:p>
            <a:pPr>
              <a:lnSpc>
                <a:spcPct val="100000"/>
              </a:lnSpc>
            </a:pPr>
            <a:r>
              <a:rPr b="0" lang="en-US" sz="1400" spc="-1" strike="noStrike">
                <a:solidFill>
                  <a:srgbClr val="000000"/>
                </a:solidFill>
                <a:latin typeface="Aptos"/>
              </a:rPr>
              <a:t> </a:t>
            </a:r>
            <a:r>
              <a:rPr b="0" lang="en-US" sz="1400" spc="-1" strike="noStrike">
                <a:solidFill>
                  <a:srgbClr val="000000"/>
                </a:solidFill>
                <a:latin typeface="Wingdings"/>
              </a:rPr>
              <a:t></a:t>
            </a:r>
            <a:r>
              <a:rPr b="0" lang="en-US" sz="1400" spc="-1" strike="noStrike">
                <a:solidFill>
                  <a:srgbClr val="000000"/>
                </a:solidFill>
                <a:latin typeface="Aptos"/>
              </a:rPr>
              <a:t> </a:t>
            </a:r>
            <a:r>
              <a:rPr b="0" lang="en-US" sz="1400" spc="-1" strike="noStrike">
                <a:solidFill>
                  <a:srgbClr val="000000"/>
                </a:solidFill>
                <a:latin typeface="Aptos"/>
              </a:rPr>
              <a:t>raw read or fragment counts (per feature and sample)</a:t>
            </a:r>
            <a:endParaRPr b="0" lang="es-ES" sz="1400" spc="-1" strike="noStrike">
              <a:latin typeface="Arial"/>
            </a:endParaRPr>
          </a:p>
        </p:txBody>
      </p:sp>
      <p:sp>
        <p:nvSpPr>
          <p:cNvPr id="161" name="CustomShape 11"/>
          <p:cNvSpPr/>
          <p:nvPr/>
        </p:nvSpPr>
        <p:spPr>
          <a:xfrm>
            <a:off x="6702840" y="3817080"/>
            <a:ext cx="5220720" cy="213480"/>
          </a:xfrm>
          <a:prstGeom prst="rect">
            <a:avLst/>
          </a:prstGeom>
          <a:noFill/>
          <a:ln>
            <a:noFill/>
          </a:ln>
        </p:spPr>
        <p:style>
          <a:lnRef idx="0"/>
          <a:fillRef idx="0"/>
          <a:effectRef idx="0"/>
          <a:fontRef idx="minor"/>
        </p:style>
        <p:txBody>
          <a:bodyPr wrap="none" lIns="0" rIns="0" tIns="0" bIns="0">
            <a:spAutoFit/>
          </a:bodyPr>
          <a:p>
            <a:pPr>
              <a:lnSpc>
                <a:spcPct val="100000"/>
              </a:lnSpc>
            </a:pPr>
            <a:r>
              <a:rPr b="0" lang="en-US" sz="1400" spc="-1" strike="noStrike">
                <a:solidFill>
                  <a:srgbClr val="000000"/>
                </a:solidFill>
                <a:latin typeface="Wingdings"/>
              </a:rPr>
              <a:t></a:t>
            </a:r>
            <a:r>
              <a:rPr b="0" lang="en-US" sz="1400" spc="-1" strike="noStrike">
                <a:solidFill>
                  <a:srgbClr val="000000"/>
                </a:solidFill>
                <a:latin typeface="Aptos"/>
              </a:rPr>
              <a:t> </a:t>
            </a:r>
            <a:r>
              <a:rPr b="0" lang="en-US" sz="1400" spc="-1" strike="noStrike">
                <a:solidFill>
                  <a:srgbClr val="000000"/>
                </a:solidFill>
                <a:latin typeface="Aptos"/>
              </a:rPr>
              <a:t>feature (i.e., gene or transcript) length (per feature, bp)</a:t>
            </a:r>
            <a:endParaRPr b="0" lang="es-ES" sz="1400" spc="-1" strike="noStrike">
              <a:latin typeface="Arial"/>
            </a:endParaRPr>
          </a:p>
        </p:txBody>
      </p:sp>
      <p:sp>
        <p:nvSpPr>
          <p:cNvPr id="162" name="CustomShape 12"/>
          <p:cNvSpPr/>
          <p:nvPr/>
        </p:nvSpPr>
        <p:spPr>
          <a:xfrm>
            <a:off x="6823440" y="4133880"/>
            <a:ext cx="5431320" cy="213480"/>
          </a:xfrm>
          <a:prstGeom prst="rect">
            <a:avLst/>
          </a:prstGeom>
          <a:noFill/>
          <a:ln>
            <a:noFill/>
          </a:ln>
        </p:spPr>
        <p:style>
          <a:lnRef idx="0"/>
          <a:fillRef idx="0"/>
          <a:effectRef idx="0"/>
          <a:fontRef idx="minor"/>
        </p:style>
        <p:txBody>
          <a:bodyPr wrap="none" lIns="0" rIns="0" tIns="0" bIns="0">
            <a:spAutoFit/>
          </a:bodyPr>
          <a:p>
            <a:pPr>
              <a:lnSpc>
                <a:spcPct val="100000"/>
              </a:lnSpc>
            </a:pPr>
            <a:r>
              <a:rPr b="0" lang="en-US" sz="1400" spc="-1" strike="noStrike">
                <a:solidFill>
                  <a:srgbClr val="000000"/>
                </a:solidFill>
                <a:latin typeface="Aptos"/>
              </a:rPr>
              <a:t> </a:t>
            </a:r>
            <a:r>
              <a:rPr b="0" lang="en-US" sz="1400" spc="-1" strike="noStrike">
                <a:solidFill>
                  <a:srgbClr val="000000"/>
                </a:solidFill>
                <a:latin typeface="Wingdings"/>
              </a:rPr>
              <a:t></a:t>
            </a:r>
            <a:r>
              <a:rPr b="0" lang="en-US" sz="1400" spc="-1" strike="noStrike">
                <a:solidFill>
                  <a:srgbClr val="000000"/>
                </a:solidFill>
                <a:latin typeface="Aptos"/>
              </a:rPr>
              <a:t> </a:t>
            </a:r>
            <a:r>
              <a:rPr b="0" lang="en-US" sz="1400" spc="-1" strike="noStrike">
                <a:solidFill>
                  <a:srgbClr val="000000"/>
                </a:solidFill>
                <a:latin typeface="Aptos"/>
              </a:rPr>
              <a:t>total number of mapped reads or fragments (per sample)</a:t>
            </a:r>
            <a:endParaRPr b="0" lang="es-ES" sz="1400" spc="-1" strike="noStrike">
              <a:latin typeface="Arial"/>
            </a:endParaRPr>
          </a:p>
        </p:txBody>
      </p:sp>
      <p:sp>
        <p:nvSpPr>
          <p:cNvPr id="163" name="CustomShape 13"/>
          <p:cNvSpPr/>
          <p:nvPr/>
        </p:nvSpPr>
        <p:spPr>
          <a:xfrm>
            <a:off x="6851160" y="3381480"/>
            <a:ext cx="182880" cy="1071000"/>
          </a:xfrm>
          <a:prstGeom prst="leftBrace">
            <a:avLst>
              <a:gd name="adj1" fmla="val 8333"/>
              <a:gd name="adj2" fmla="val 50000"/>
            </a:avLst>
          </a:prstGeom>
          <a:noFill/>
          <a:ln w="9360"/>
        </p:spPr>
        <p:style>
          <a:lnRef idx="2">
            <a:schemeClr val="dk1"/>
          </a:lnRef>
          <a:fillRef idx="0">
            <a:schemeClr val="dk1"/>
          </a:fillRef>
          <a:effectRef idx="1">
            <a:schemeClr val="dk1"/>
          </a:effectRef>
          <a:fontRef idx="minor"/>
        </p:style>
      </p:sp>
      <p:sp>
        <p:nvSpPr>
          <p:cNvPr id="164" name="CustomShape 14"/>
          <p:cNvSpPr/>
          <p:nvPr/>
        </p:nvSpPr>
        <p:spPr>
          <a:xfrm>
            <a:off x="6333480" y="5510160"/>
            <a:ext cx="5237640" cy="213480"/>
          </a:xfrm>
          <a:prstGeom prst="rect">
            <a:avLst/>
          </a:prstGeom>
          <a:noFill/>
          <a:ln>
            <a:noFill/>
          </a:ln>
        </p:spPr>
        <p:style>
          <a:lnRef idx="0"/>
          <a:fillRef idx="0"/>
          <a:effectRef idx="0"/>
          <a:fontRef idx="minor"/>
        </p:style>
        <p:txBody>
          <a:bodyPr wrap="none" lIns="0" rIns="0" tIns="0" bIns="0">
            <a:spAutoFit/>
          </a:bodyPr>
          <a:p>
            <a:pPr>
              <a:lnSpc>
                <a:spcPct val="100000"/>
              </a:lnSpc>
            </a:pPr>
            <a:r>
              <a:rPr b="0" lang="en-US" sz="1400" spc="-1" strike="noStrike">
                <a:solidFill>
                  <a:srgbClr val="000000"/>
                </a:solidFill>
                <a:latin typeface="Aptos"/>
              </a:rPr>
              <a:t> </a:t>
            </a:r>
            <a:r>
              <a:rPr b="0" lang="en-US" sz="1400" spc="-1" strike="noStrike">
                <a:solidFill>
                  <a:srgbClr val="000000"/>
                </a:solidFill>
                <a:latin typeface="Wingdings"/>
              </a:rPr>
              <a:t></a:t>
            </a:r>
            <a:r>
              <a:rPr b="0" lang="en-US" sz="1400" spc="-1" strike="noStrike">
                <a:solidFill>
                  <a:srgbClr val="000000"/>
                </a:solidFill>
                <a:latin typeface="Aptos"/>
              </a:rPr>
              <a:t> </a:t>
            </a:r>
            <a:r>
              <a:rPr b="0" lang="en-US" sz="1400" spc="-1" strike="noStrike">
                <a:solidFill>
                  <a:srgbClr val="000000"/>
                </a:solidFill>
                <a:latin typeface="Aptos"/>
              </a:rPr>
              <a:t>reads mapped to transcript (per transcript and sample)</a:t>
            </a:r>
            <a:endParaRPr b="0" lang="es-ES" sz="1400" spc="-1" strike="noStrike">
              <a:latin typeface="Arial"/>
            </a:endParaRPr>
          </a:p>
        </p:txBody>
      </p:sp>
      <p:sp>
        <p:nvSpPr>
          <p:cNvPr id="165" name="CustomShape 15"/>
          <p:cNvSpPr/>
          <p:nvPr/>
        </p:nvSpPr>
        <p:spPr>
          <a:xfrm>
            <a:off x="6477120" y="5870880"/>
            <a:ext cx="3414960" cy="213480"/>
          </a:xfrm>
          <a:prstGeom prst="rect">
            <a:avLst/>
          </a:prstGeom>
          <a:noFill/>
          <a:ln>
            <a:noFill/>
          </a:ln>
        </p:spPr>
        <p:style>
          <a:lnRef idx="0"/>
          <a:fillRef idx="0"/>
          <a:effectRef idx="0"/>
          <a:fontRef idx="minor"/>
        </p:style>
        <p:txBody>
          <a:bodyPr wrap="none" lIns="0" rIns="0" tIns="0" bIns="0">
            <a:spAutoFit/>
          </a:bodyPr>
          <a:p>
            <a:pPr>
              <a:lnSpc>
                <a:spcPct val="100000"/>
              </a:lnSpc>
            </a:pPr>
            <a:r>
              <a:rPr b="0" lang="en-US" sz="1400" spc="-1" strike="noStrike">
                <a:solidFill>
                  <a:srgbClr val="000000"/>
                </a:solidFill>
                <a:latin typeface="Wingdings"/>
              </a:rPr>
              <a:t></a:t>
            </a:r>
            <a:r>
              <a:rPr b="0" lang="en-US" sz="1400" spc="-1" strike="noStrike">
                <a:solidFill>
                  <a:srgbClr val="000000"/>
                </a:solidFill>
                <a:latin typeface="Aptos"/>
              </a:rPr>
              <a:t> </a:t>
            </a:r>
            <a:r>
              <a:rPr b="0" lang="en-US" sz="1400" spc="-1" strike="noStrike">
                <a:solidFill>
                  <a:srgbClr val="000000"/>
                </a:solidFill>
                <a:latin typeface="Aptos"/>
              </a:rPr>
              <a:t>transcript length (per transcript bp)</a:t>
            </a:r>
            <a:endParaRPr b="0" lang="es-ES" sz="1400" spc="-1" strike="noStrike">
              <a:latin typeface="Arial"/>
            </a:endParaRPr>
          </a:p>
        </p:txBody>
      </p:sp>
      <p:sp>
        <p:nvSpPr>
          <p:cNvPr id="166" name="CustomShape 16"/>
          <p:cNvSpPr/>
          <p:nvPr/>
        </p:nvSpPr>
        <p:spPr>
          <a:xfrm>
            <a:off x="6635520" y="6187680"/>
            <a:ext cx="4641480" cy="426600"/>
          </a:xfrm>
          <a:prstGeom prst="rect">
            <a:avLst/>
          </a:prstGeom>
          <a:noFill/>
          <a:ln>
            <a:noFill/>
          </a:ln>
        </p:spPr>
        <p:style>
          <a:lnRef idx="0"/>
          <a:fillRef idx="0"/>
          <a:effectRef idx="0"/>
          <a:fontRef idx="minor"/>
        </p:style>
        <p:txBody>
          <a:bodyPr lIns="0" rIns="0" tIns="0" bIns="0">
            <a:spAutoFit/>
          </a:bodyPr>
          <a:p>
            <a:pPr>
              <a:lnSpc>
                <a:spcPct val="100000"/>
              </a:lnSpc>
            </a:pPr>
            <a:r>
              <a:rPr b="0" lang="en-US" sz="1400" spc="-1" strike="noStrike">
                <a:solidFill>
                  <a:srgbClr val="000000"/>
                </a:solidFill>
                <a:latin typeface="Aptos"/>
              </a:rPr>
              <a:t> </a:t>
            </a:r>
            <a:r>
              <a:rPr b="0" lang="en-US" sz="1400" spc="-1" strike="noStrike">
                <a:solidFill>
                  <a:srgbClr val="000000"/>
                </a:solidFill>
                <a:latin typeface="Wingdings"/>
              </a:rPr>
              <a:t></a:t>
            </a:r>
            <a:r>
              <a:rPr b="0" lang="en-US" sz="1400" spc="-1" strike="noStrike">
                <a:solidFill>
                  <a:srgbClr val="000000"/>
                </a:solidFill>
                <a:latin typeface="Aptos"/>
              </a:rPr>
              <a:t> </a:t>
            </a:r>
            <a:r>
              <a:rPr b="0" lang="en-US" sz="1400" spc="-1" strike="noStrike">
                <a:solidFill>
                  <a:srgbClr val="000000"/>
                </a:solidFill>
                <a:latin typeface="Aptos"/>
              </a:rPr>
              <a:t>the sum of mapped reads to transcript normalized by transcript length</a:t>
            </a:r>
            <a:endParaRPr b="0" lang="es-ES" sz="1400" spc="-1" strike="noStrike">
              <a:latin typeface="Arial"/>
            </a:endParaRPr>
          </a:p>
        </p:txBody>
      </p:sp>
      <p:sp>
        <p:nvSpPr>
          <p:cNvPr id="167" name="CustomShape 17"/>
          <p:cNvSpPr/>
          <p:nvPr/>
        </p:nvSpPr>
        <p:spPr>
          <a:xfrm>
            <a:off x="6455160" y="5435280"/>
            <a:ext cx="198720" cy="1280160"/>
          </a:xfrm>
          <a:prstGeom prst="leftBrace">
            <a:avLst>
              <a:gd name="adj1" fmla="val 8333"/>
              <a:gd name="adj2" fmla="val 50000"/>
            </a:avLst>
          </a:prstGeom>
          <a:noFill/>
          <a:ln w="9360"/>
        </p:spPr>
        <p:style>
          <a:lnRef idx="2">
            <a:schemeClr val="dk1"/>
          </a:lnRef>
          <a:fillRef idx="0">
            <a:schemeClr val="dk1"/>
          </a:fillRef>
          <a:effectRef idx="1">
            <a:schemeClr val="dk1"/>
          </a:effectRef>
          <a:fontRef idx="minor"/>
        </p:style>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CustomShape 1"/>
          <p:cNvSpPr/>
          <p:nvPr/>
        </p:nvSpPr>
        <p:spPr>
          <a:xfrm>
            <a:off x="3742920" y="390240"/>
            <a:ext cx="4705920" cy="130932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Tools for Counting/Normalization and Differential Expression analysis</a:t>
            </a:r>
            <a:endParaRPr b="0" lang="es-ES" sz="2000" spc="-1" strike="noStrike">
              <a:latin typeface="Arial"/>
            </a:endParaRPr>
          </a:p>
        </p:txBody>
      </p:sp>
      <p:graphicFrame>
        <p:nvGraphicFramePr>
          <p:cNvPr id="169" name="Table 2"/>
          <p:cNvGraphicFramePr/>
          <p:nvPr/>
        </p:nvGraphicFramePr>
        <p:xfrm>
          <a:off x="812880" y="1429560"/>
          <a:ext cx="10566000" cy="4999320"/>
        </p:xfrm>
        <a:graphic>
          <a:graphicData uri="http://schemas.openxmlformats.org/drawingml/2006/table">
            <a:tbl>
              <a:tblPr/>
              <a:tblGrid>
                <a:gridCol w="1442520"/>
                <a:gridCol w="1341000"/>
                <a:gridCol w="1239480"/>
                <a:gridCol w="1229040"/>
                <a:gridCol w="985320"/>
                <a:gridCol w="1351080"/>
                <a:gridCol w="1513800"/>
                <a:gridCol w="1463760"/>
              </a:tblGrid>
              <a:tr h="548280">
                <a:tc>
                  <a:txBody>
                    <a:bodyPr lIns="51480" rIns="51480" tIns="25560" bIns="25560" anchor="ctr">
                      <a:noAutofit/>
                    </a:bodyPr>
                    <a:p>
                      <a:pPr>
                        <a:lnSpc>
                          <a:spcPct val="100000"/>
                        </a:lnSpc>
                      </a:pPr>
                      <a:r>
                        <a:rPr b="1" lang="en-US" sz="1400" spc="-1" strike="noStrike">
                          <a:solidFill>
                            <a:srgbClr val="000000"/>
                          </a:solidFill>
                          <a:latin typeface="Aptos"/>
                        </a:rPr>
                        <a:t>Tool</a:t>
                      </a:r>
                      <a:endParaRPr b="0" lang="es-ES" sz="1400" spc="-1" strike="noStrike">
                        <a:latin typeface="Arial"/>
                      </a:endParaRPr>
                    </a:p>
                  </a:txBody>
                  <a:tcPr marL="51480" marR="51480">
                    <a:lnT w="12240">
                      <a:solidFill>
                        <a:srgbClr val="000000"/>
                      </a:solidFill>
                    </a:lnT>
                    <a:lnB w="12240">
                      <a:solidFill>
                        <a:srgbClr val="000000"/>
                      </a:solidFill>
                    </a:lnB>
                    <a:solidFill>
                      <a:srgbClr val="e8e8e8"/>
                    </a:solidFill>
                  </a:tcPr>
                </a:tc>
                <a:tc>
                  <a:txBody>
                    <a:bodyPr lIns="51480" rIns="51480" tIns="25560" bIns="25560" anchor="ctr">
                      <a:noAutofit/>
                    </a:bodyPr>
                    <a:p>
                      <a:pPr>
                        <a:lnSpc>
                          <a:spcPct val="100000"/>
                        </a:lnSpc>
                      </a:pPr>
                      <a:r>
                        <a:rPr b="1" lang="en-US" sz="1400" spc="-1" strike="noStrike">
                          <a:solidFill>
                            <a:srgbClr val="000000"/>
                          </a:solidFill>
                          <a:latin typeface="Aptos"/>
                        </a:rPr>
                        <a:t>Type</a:t>
                      </a:r>
                      <a:endParaRPr b="0" lang="es-ES" sz="1400" spc="-1" strike="noStrike">
                        <a:latin typeface="Arial"/>
                      </a:endParaRPr>
                    </a:p>
                  </a:txBody>
                  <a:tcPr marL="51480" marR="51480">
                    <a:lnT w="12240">
                      <a:solidFill>
                        <a:srgbClr val="000000"/>
                      </a:solidFill>
                    </a:lnT>
                    <a:lnB w="12240">
                      <a:solidFill>
                        <a:srgbClr val="000000"/>
                      </a:solidFill>
                    </a:lnB>
                    <a:solidFill>
                      <a:srgbClr val="e8e8e8"/>
                    </a:solidFill>
                  </a:tcPr>
                </a:tc>
                <a:tc>
                  <a:txBody>
                    <a:bodyPr lIns="51480" rIns="51480" tIns="25560" bIns="25560" anchor="ctr">
                      <a:noAutofit/>
                    </a:bodyPr>
                    <a:p>
                      <a:pPr>
                        <a:lnSpc>
                          <a:spcPct val="100000"/>
                        </a:lnSpc>
                      </a:pPr>
                      <a:r>
                        <a:rPr b="1" lang="en-US" sz="1400" spc="-1" strike="noStrike">
                          <a:solidFill>
                            <a:srgbClr val="000000"/>
                          </a:solidFill>
                          <a:latin typeface="Aptos"/>
                        </a:rPr>
                        <a:t>Input</a:t>
                      </a:r>
                      <a:endParaRPr b="0" lang="es-ES" sz="1400" spc="-1" strike="noStrike">
                        <a:latin typeface="Arial"/>
                      </a:endParaRPr>
                    </a:p>
                  </a:txBody>
                  <a:tcPr marL="51480" marR="51480">
                    <a:lnT w="12240">
                      <a:solidFill>
                        <a:srgbClr val="000000"/>
                      </a:solidFill>
                    </a:lnT>
                    <a:lnB w="12240">
                      <a:solidFill>
                        <a:srgbClr val="000000"/>
                      </a:solidFill>
                    </a:lnB>
                    <a:solidFill>
                      <a:srgbClr val="e8e8e8"/>
                    </a:solidFill>
                  </a:tcPr>
                </a:tc>
                <a:tc>
                  <a:txBody>
                    <a:bodyPr lIns="51480" rIns="51480" tIns="25560" bIns="25560" anchor="ctr">
                      <a:noAutofit/>
                    </a:bodyPr>
                    <a:p>
                      <a:pPr>
                        <a:lnSpc>
                          <a:spcPct val="100000"/>
                        </a:lnSpc>
                      </a:pPr>
                      <a:r>
                        <a:rPr b="1" lang="en-US" sz="1400" spc="-1" strike="noStrike">
                          <a:solidFill>
                            <a:srgbClr val="000000"/>
                          </a:solidFill>
                          <a:latin typeface="Aptos"/>
                        </a:rPr>
                        <a:t>Output</a:t>
                      </a:r>
                      <a:endParaRPr b="0" lang="es-ES" sz="1400" spc="-1" strike="noStrike">
                        <a:latin typeface="Arial"/>
                      </a:endParaRPr>
                    </a:p>
                  </a:txBody>
                  <a:tcPr marL="51480" marR="51480">
                    <a:lnT w="12240">
                      <a:solidFill>
                        <a:srgbClr val="000000"/>
                      </a:solidFill>
                    </a:lnT>
                    <a:lnB w="12240">
                      <a:solidFill>
                        <a:srgbClr val="000000"/>
                      </a:solidFill>
                    </a:lnB>
                    <a:solidFill>
                      <a:srgbClr val="e8e8e8"/>
                    </a:solidFill>
                  </a:tcPr>
                </a:tc>
                <a:tc>
                  <a:txBody>
                    <a:bodyPr lIns="51480" rIns="51480" tIns="25560" bIns="25560" anchor="ctr">
                      <a:noAutofit/>
                    </a:bodyPr>
                    <a:p>
                      <a:pPr>
                        <a:lnSpc>
                          <a:spcPct val="100000"/>
                        </a:lnSpc>
                      </a:pPr>
                      <a:r>
                        <a:rPr b="1" lang="en-US" sz="1400" spc="-1" strike="noStrike">
                          <a:solidFill>
                            <a:srgbClr val="000000"/>
                          </a:solidFill>
                          <a:latin typeface="Aptos"/>
                        </a:rPr>
                        <a:t>Level</a:t>
                      </a:r>
                      <a:endParaRPr b="0" lang="es-ES" sz="1400" spc="-1" strike="noStrike">
                        <a:latin typeface="Arial"/>
                      </a:endParaRPr>
                    </a:p>
                  </a:txBody>
                  <a:tcPr marL="51480" marR="51480">
                    <a:lnT w="12240">
                      <a:solidFill>
                        <a:srgbClr val="000000"/>
                      </a:solidFill>
                    </a:lnT>
                    <a:lnB w="12240">
                      <a:solidFill>
                        <a:srgbClr val="000000"/>
                      </a:solidFill>
                    </a:lnB>
                    <a:solidFill>
                      <a:srgbClr val="e8e8e8"/>
                    </a:solidFill>
                  </a:tcPr>
                </a:tc>
                <a:tc>
                  <a:txBody>
                    <a:bodyPr lIns="51480" rIns="51480" tIns="25560" bIns="25560" anchor="ctr">
                      <a:noAutofit/>
                    </a:bodyPr>
                    <a:p>
                      <a:pPr>
                        <a:lnSpc>
                          <a:spcPct val="100000"/>
                        </a:lnSpc>
                      </a:pPr>
                      <a:r>
                        <a:rPr b="1" lang="en-US" sz="1400" spc="-1" strike="noStrike">
                          <a:solidFill>
                            <a:srgbClr val="000000"/>
                          </a:solidFill>
                          <a:latin typeface="Aptos"/>
                        </a:rPr>
                        <a:t>Use</a:t>
                      </a:r>
                      <a:endParaRPr b="0" lang="es-ES" sz="1400" spc="-1" strike="noStrike">
                        <a:latin typeface="Arial"/>
                      </a:endParaRPr>
                    </a:p>
                  </a:txBody>
                  <a:tcPr marL="51480" marR="51480">
                    <a:lnT w="12240">
                      <a:solidFill>
                        <a:srgbClr val="000000"/>
                      </a:solidFill>
                    </a:lnT>
                    <a:lnB w="12240">
                      <a:solidFill>
                        <a:srgbClr val="000000"/>
                      </a:solidFill>
                    </a:lnB>
                    <a:solidFill>
                      <a:srgbClr val="e8e8e8"/>
                    </a:solidFill>
                  </a:tcPr>
                </a:tc>
                <a:tc>
                  <a:txBody>
                    <a:bodyPr lIns="51480" rIns="51480" tIns="25560" bIns="25560" anchor="ctr">
                      <a:noAutofit/>
                    </a:bodyPr>
                    <a:p>
                      <a:pPr>
                        <a:lnSpc>
                          <a:spcPct val="100000"/>
                        </a:lnSpc>
                      </a:pPr>
                      <a:r>
                        <a:rPr b="1" lang="en-US" sz="1400" spc="-1" strike="noStrike">
                          <a:solidFill>
                            <a:srgbClr val="000000"/>
                          </a:solidFill>
                          <a:latin typeface="Aptos"/>
                        </a:rPr>
                        <a:t>Advantages</a:t>
                      </a:r>
                      <a:endParaRPr b="0" lang="es-ES" sz="1400" spc="-1" strike="noStrike">
                        <a:latin typeface="Arial"/>
                      </a:endParaRPr>
                    </a:p>
                  </a:txBody>
                  <a:tcPr marL="51480" marR="51480">
                    <a:lnT w="12240">
                      <a:solidFill>
                        <a:srgbClr val="000000"/>
                      </a:solidFill>
                    </a:lnT>
                    <a:lnB w="12240">
                      <a:solidFill>
                        <a:srgbClr val="000000"/>
                      </a:solidFill>
                    </a:lnB>
                    <a:solidFill>
                      <a:srgbClr val="e8e8e8"/>
                    </a:solidFill>
                  </a:tcPr>
                </a:tc>
                <a:tc>
                  <a:txBody>
                    <a:bodyPr lIns="51480" rIns="51480" tIns="25560" bIns="25560" anchor="ctr">
                      <a:noAutofit/>
                    </a:bodyPr>
                    <a:p>
                      <a:pPr>
                        <a:lnSpc>
                          <a:spcPct val="100000"/>
                        </a:lnSpc>
                      </a:pPr>
                      <a:r>
                        <a:rPr b="1" lang="en-US" sz="1400" spc="-1" strike="noStrike">
                          <a:solidFill>
                            <a:srgbClr val="000000"/>
                          </a:solidFill>
                          <a:latin typeface="Aptos"/>
                        </a:rPr>
                        <a:t>Disadvantages</a:t>
                      </a:r>
                      <a:endParaRPr b="0" lang="es-ES" sz="1400" spc="-1" strike="noStrike">
                        <a:latin typeface="Arial"/>
                      </a:endParaRPr>
                    </a:p>
                  </a:txBody>
                  <a:tcPr marL="51480" marR="51480">
                    <a:lnT w="12240">
                      <a:solidFill>
                        <a:srgbClr val="000000"/>
                      </a:solidFill>
                    </a:lnT>
                    <a:lnB w="12240">
                      <a:solidFill>
                        <a:srgbClr val="000000"/>
                      </a:solidFill>
                    </a:lnB>
                    <a:solidFill>
                      <a:srgbClr val="e8e8e8"/>
                    </a:solidFill>
                  </a:tcPr>
                </a:tc>
              </a:tr>
              <a:tr h="816120">
                <a:tc>
                  <a:txBody>
                    <a:bodyPr lIns="51480" rIns="51480" tIns="25560" bIns="25560" anchor="ctr">
                      <a:noAutofit/>
                    </a:bodyPr>
                    <a:p>
                      <a:pPr>
                        <a:lnSpc>
                          <a:spcPct val="100000"/>
                        </a:lnSpc>
                      </a:pPr>
                      <a:r>
                        <a:rPr b="1" lang="en-US" sz="1400" spc="-1" strike="noStrike">
                          <a:solidFill>
                            <a:srgbClr val="000000"/>
                          </a:solidFill>
                          <a:latin typeface="Aptos"/>
                        </a:rPr>
                        <a:t>featureCounts</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Counting</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Aligned reads (BAM/SAM)</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Raw counts</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Gene</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Read summarization</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Fast, memory-efficient</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No isoform quantification</a:t>
                      </a:r>
                      <a:endParaRPr b="0" lang="es-ES" sz="1400" spc="-1" strike="noStrike">
                        <a:latin typeface="Arial"/>
                      </a:endParaRPr>
                    </a:p>
                  </a:txBody>
                  <a:tcPr marL="51480" marR="51480">
                    <a:lnT w="12240">
                      <a:solidFill>
                        <a:srgbClr val="000000"/>
                      </a:solidFill>
                    </a:lnT>
                    <a:lnB w="12240">
                      <a:solidFill>
                        <a:srgbClr val="000000"/>
                      </a:solidFill>
                    </a:lnB>
                    <a:noFill/>
                  </a:tcPr>
                </a:tc>
              </a:tr>
              <a:tr h="944640">
                <a:tc>
                  <a:txBody>
                    <a:bodyPr lIns="51480" rIns="51480" tIns="25560" bIns="25560" anchor="ctr">
                      <a:noAutofit/>
                    </a:bodyPr>
                    <a:p>
                      <a:pPr>
                        <a:lnSpc>
                          <a:spcPct val="100000"/>
                        </a:lnSpc>
                      </a:pPr>
                      <a:r>
                        <a:rPr b="1" lang="en-US" sz="1400" spc="-1" strike="noStrike">
                          <a:solidFill>
                            <a:srgbClr val="000000"/>
                          </a:solidFill>
                          <a:latin typeface="Aptos"/>
                        </a:rPr>
                        <a:t>RSEM</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Quantification</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Aligned reads (or raw FASTQ)</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TPM, FPKM, counts</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Gene &amp; transcript</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Quantifying expression</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Handles multi-mapping reads, isoform-aware</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Slow, computationally demanding</a:t>
                      </a:r>
                      <a:endParaRPr b="0" lang="es-ES" sz="1400" spc="-1" strike="noStrike">
                        <a:latin typeface="Arial"/>
                      </a:endParaRPr>
                    </a:p>
                  </a:txBody>
                  <a:tcPr marL="51480" marR="51480">
                    <a:lnT w="12240">
                      <a:solidFill>
                        <a:srgbClr val="000000"/>
                      </a:solidFill>
                    </a:lnT>
                    <a:lnB w="12240">
                      <a:solidFill>
                        <a:srgbClr val="000000"/>
                      </a:solidFill>
                    </a:lnB>
                    <a:noFill/>
                  </a:tcPr>
                </a:tc>
              </a:tr>
              <a:tr h="785160">
                <a:tc>
                  <a:txBody>
                    <a:bodyPr lIns="51480" rIns="51480" tIns="25560" bIns="25560" anchor="ctr">
                      <a:noAutofit/>
                    </a:bodyPr>
                    <a:p>
                      <a:pPr>
                        <a:lnSpc>
                          <a:spcPct val="100000"/>
                        </a:lnSpc>
                      </a:pPr>
                      <a:r>
                        <a:rPr b="1" lang="en-US" sz="1400" spc="-1" strike="noStrike">
                          <a:solidFill>
                            <a:srgbClr val="000000"/>
                          </a:solidFill>
                          <a:latin typeface="Aptos"/>
                        </a:rPr>
                        <a:t>StringTie</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Assembly + Quantification</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Aligned reads</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Assembled transcripts + FPKM</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Transcript</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Transcript reconstruction</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Detect novel isoforms</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Less accurate with low coverage</a:t>
                      </a:r>
                      <a:endParaRPr b="0" lang="es-ES" sz="1400" spc="-1" strike="noStrike">
                        <a:latin typeface="Arial"/>
                      </a:endParaRPr>
                    </a:p>
                  </a:txBody>
                  <a:tcPr marL="51480" marR="51480">
                    <a:lnT w="12240">
                      <a:solidFill>
                        <a:srgbClr val="000000"/>
                      </a:solidFill>
                    </a:lnT>
                    <a:lnB w="12240">
                      <a:solidFill>
                        <a:srgbClr val="000000"/>
                      </a:solidFill>
                    </a:lnB>
                    <a:noFill/>
                  </a:tcPr>
                </a:tc>
              </a:tr>
              <a:tr h="877320">
                <a:tc>
                  <a:txBody>
                    <a:bodyPr lIns="51480" rIns="51480" tIns="25560" bIns="25560" anchor="ctr">
                      <a:noAutofit/>
                    </a:bodyPr>
                    <a:p>
                      <a:pPr>
                        <a:lnSpc>
                          <a:spcPct val="100000"/>
                        </a:lnSpc>
                      </a:pPr>
                      <a:r>
                        <a:rPr b="1" lang="en-US" sz="1400" spc="-1" strike="noStrike">
                          <a:solidFill>
                            <a:srgbClr val="000000"/>
                          </a:solidFill>
                          <a:latin typeface="Aptos"/>
                        </a:rPr>
                        <a:t>DESeq2</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Differential expression</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Raw counts</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Fold change, p-values</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Gene</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Expression comparison</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Statistically robust, well-documented</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Requires raw counts, not TPM</a:t>
                      </a:r>
                      <a:endParaRPr b="0" lang="es-ES" sz="1400" spc="-1" strike="noStrike">
                        <a:latin typeface="Arial"/>
                      </a:endParaRPr>
                    </a:p>
                  </a:txBody>
                  <a:tcPr marL="51480" marR="51480">
                    <a:lnT w="12240">
                      <a:solidFill>
                        <a:srgbClr val="000000"/>
                      </a:solidFill>
                    </a:lnT>
                    <a:lnB w="12240">
                      <a:solidFill>
                        <a:srgbClr val="000000"/>
                      </a:solidFill>
                    </a:lnB>
                    <a:noFill/>
                  </a:tcPr>
                </a:tc>
              </a:tr>
              <a:tr h="1027800">
                <a:tc>
                  <a:txBody>
                    <a:bodyPr lIns="51480" rIns="51480" tIns="25560" bIns="25560" anchor="ctr">
                      <a:noAutofit/>
                    </a:bodyPr>
                    <a:p>
                      <a:pPr>
                        <a:lnSpc>
                          <a:spcPct val="100000"/>
                        </a:lnSpc>
                      </a:pPr>
                      <a:r>
                        <a:rPr b="1" lang="en-US" sz="1400" spc="-1" strike="noStrike">
                          <a:solidFill>
                            <a:srgbClr val="000000"/>
                          </a:solidFill>
                          <a:latin typeface="Aptos"/>
                        </a:rPr>
                        <a:t>Sleuth</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Differential expression</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TPMs (from Kallisto)</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Fold change, q-values</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Transcript</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Fast DE analysis</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Very fast, interactive, works with Kallisto</a:t>
                      </a:r>
                      <a:endParaRPr b="0" lang="es-ES" sz="1400" spc="-1" strike="noStrike">
                        <a:latin typeface="Arial"/>
                      </a:endParaRPr>
                    </a:p>
                  </a:txBody>
                  <a:tcPr marL="51480" marR="51480">
                    <a:lnT w="12240">
                      <a:solidFill>
                        <a:srgbClr val="000000"/>
                      </a:solidFill>
                    </a:lnT>
                    <a:lnB w="12240">
                      <a:solidFill>
                        <a:srgbClr val="000000"/>
                      </a:solidFill>
                    </a:lnB>
                    <a:noFill/>
                  </a:tcPr>
                </a:tc>
                <a:tc>
                  <a:txBody>
                    <a:bodyPr lIns="51480" rIns="51480" tIns="25560" bIns="25560" anchor="ctr">
                      <a:noAutofit/>
                    </a:bodyPr>
                    <a:p>
                      <a:pPr>
                        <a:lnSpc>
                          <a:spcPct val="100000"/>
                        </a:lnSpc>
                      </a:pPr>
                      <a:r>
                        <a:rPr b="0" lang="en-US" sz="1400" spc="-1" strike="noStrike">
                          <a:solidFill>
                            <a:srgbClr val="000000"/>
                          </a:solidFill>
                          <a:latin typeface="Aptos"/>
                        </a:rPr>
                        <a:t>Kallisto input</a:t>
                      </a:r>
                      <a:endParaRPr b="0" lang="es-ES" sz="1400" spc="-1" strike="noStrike">
                        <a:latin typeface="Arial"/>
                      </a:endParaRPr>
                    </a:p>
                  </a:txBody>
                  <a:tcPr marL="51480" marR="51480">
                    <a:lnT w="12240">
                      <a:solidFill>
                        <a:srgbClr val="000000"/>
                      </a:solidFill>
                    </a:lnT>
                    <a:lnB w="12240">
                      <a:solidFill>
                        <a:srgbClr val="000000"/>
                      </a:solidFill>
                    </a:lnB>
                    <a:noFill/>
                  </a:tcPr>
                </a:tc>
              </a:tr>
            </a:tbl>
          </a:graphicData>
        </a:graphic>
      </p:graphicFrame>
      <p:pic>
        <p:nvPicPr>
          <p:cNvPr id="170" name="Gráfico 4" descr="Burbuja de chat con relleno sólido"/>
          <p:cNvPicPr/>
          <p:nvPr/>
        </p:nvPicPr>
        <p:blipFill>
          <a:blip r:embed="rId1"/>
          <a:stretch/>
        </p:blipFill>
        <p:spPr>
          <a:xfrm flipH="1">
            <a:off x="2001600" y="2139480"/>
            <a:ext cx="216720" cy="216720"/>
          </a:xfrm>
          <a:prstGeom prst="rect">
            <a:avLst/>
          </a:prstGeom>
          <a:ln>
            <a:noFill/>
          </a:ln>
        </p:spPr>
      </p:pic>
      <p:pic>
        <p:nvPicPr>
          <p:cNvPr id="171" name="Gráfico 5" descr="Burbuja de chat con relleno sólido"/>
          <p:cNvPicPr/>
          <p:nvPr/>
        </p:nvPicPr>
        <p:blipFill>
          <a:blip r:embed="rId2"/>
          <a:stretch/>
        </p:blipFill>
        <p:spPr>
          <a:xfrm flipH="1">
            <a:off x="1371960" y="3035520"/>
            <a:ext cx="216720" cy="216720"/>
          </a:xfrm>
          <a:prstGeom prst="rect">
            <a:avLst/>
          </a:prstGeom>
          <a:ln>
            <a:noFill/>
          </a:ln>
        </p:spPr>
      </p:pic>
      <p:pic>
        <p:nvPicPr>
          <p:cNvPr id="172" name="Gráfico 6" descr="Burbuja de chat con relleno sólido"/>
          <p:cNvPicPr/>
          <p:nvPr/>
        </p:nvPicPr>
        <p:blipFill>
          <a:blip r:embed="rId3"/>
          <a:stretch/>
        </p:blipFill>
        <p:spPr>
          <a:xfrm flipH="1">
            <a:off x="1588680" y="3904560"/>
            <a:ext cx="216720" cy="216720"/>
          </a:xfrm>
          <a:prstGeom prst="rect">
            <a:avLst/>
          </a:prstGeom>
          <a:ln>
            <a:noFill/>
          </a:ln>
        </p:spPr>
      </p:pic>
      <p:pic>
        <p:nvPicPr>
          <p:cNvPr id="173" name="Gráfico 7" descr="Burbuja de chat con relleno sólido"/>
          <p:cNvPicPr/>
          <p:nvPr/>
        </p:nvPicPr>
        <p:blipFill>
          <a:blip r:embed="rId4"/>
          <a:stretch/>
        </p:blipFill>
        <p:spPr>
          <a:xfrm flipH="1">
            <a:off x="1500480" y="4732200"/>
            <a:ext cx="216720" cy="216720"/>
          </a:xfrm>
          <a:prstGeom prst="rect">
            <a:avLst/>
          </a:prstGeom>
          <a:ln>
            <a:noFill/>
          </a:ln>
        </p:spPr>
      </p:pic>
      <p:pic>
        <p:nvPicPr>
          <p:cNvPr id="174" name="Gráfico 8" descr="Burbuja de chat con relleno sólido"/>
          <p:cNvPicPr/>
          <p:nvPr/>
        </p:nvPicPr>
        <p:blipFill>
          <a:blip r:embed="rId5"/>
          <a:stretch/>
        </p:blipFill>
        <p:spPr>
          <a:xfrm flipH="1">
            <a:off x="1392120" y="5638320"/>
            <a:ext cx="216720" cy="216720"/>
          </a:xfrm>
          <a:prstGeom prst="rect">
            <a:avLst/>
          </a:prstGeom>
          <a:ln>
            <a:noFill/>
          </a:ln>
        </p:spPr>
      </p:pic>
      <p:sp>
        <p:nvSpPr>
          <p:cNvPr id="175" name="CustomShape 3"/>
          <p:cNvSpPr/>
          <p:nvPr/>
        </p:nvSpPr>
        <p:spPr>
          <a:xfrm>
            <a:off x="812880" y="5402160"/>
            <a:ext cx="10566000" cy="10267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CustomShape 1"/>
          <p:cNvSpPr/>
          <p:nvPr/>
        </p:nvSpPr>
        <p:spPr>
          <a:xfrm>
            <a:off x="882000" y="3052080"/>
            <a:ext cx="10572120" cy="2642400"/>
          </a:xfrm>
          <a:prstGeom prst="rect">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p:style>
      </p:sp>
      <p:sp>
        <p:nvSpPr>
          <p:cNvPr id="177" name="CustomShape 2"/>
          <p:cNvSpPr/>
          <p:nvPr/>
        </p:nvSpPr>
        <p:spPr>
          <a:xfrm>
            <a:off x="2960280" y="237240"/>
            <a:ext cx="6271200" cy="6994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Differentially Expressed Genes (DEGs) using Sleuth</a:t>
            </a:r>
            <a:endParaRPr b="0" lang="es-ES" sz="2000" spc="-1" strike="noStrike">
              <a:latin typeface="Arial"/>
            </a:endParaRPr>
          </a:p>
        </p:txBody>
      </p:sp>
      <p:sp>
        <p:nvSpPr>
          <p:cNvPr id="178" name="CustomShape 3"/>
          <p:cNvSpPr/>
          <p:nvPr/>
        </p:nvSpPr>
        <p:spPr>
          <a:xfrm>
            <a:off x="882000" y="906120"/>
            <a:ext cx="10427760" cy="6382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0" i="1" lang="en-US" sz="1800" spc="-1" strike="noStrike">
                <a:solidFill>
                  <a:srgbClr val="000000"/>
                </a:solidFill>
                <a:latin typeface="Aptos"/>
              </a:rPr>
              <a:t>Genes whose expression levels significantly increase or decrease between different conditions or groups</a:t>
            </a:r>
            <a:endParaRPr b="0" lang="es-ES" sz="1800" spc="-1" strike="noStrike">
              <a:latin typeface="Arial"/>
            </a:endParaRPr>
          </a:p>
        </p:txBody>
      </p:sp>
      <p:sp>
        <p:nvSpPr>
          <p:cNvPr id="179" name="CustomShape 4"/>
          <p:cNvSpPr/>
          <p:nvPr/>
        </p:nvSpPr>
        <p:spPr>
          <a:xfrm>
            <a:off x="882000" y="1448640"/>
            <a:ext cx="10427760" cy="91332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Different tissues (leaves, seeds, flower parts, roots, ...), different growth stages, treatments/doses (e.g. nitrogen, ...), abiotic stresses (heat, cold, drought, waterlogging, nutrient deficiency, ...), or biotic stresses (diseases, ...).</a:t>
            </a:r>
            <a:endParaRPr b="0" lang="es-ES" sz="1800" spc="-1" strike="noStrike">
              <a:latin typeface="Arial"/>
            </a:endParaRPr>
          </a:p>
        </p:txBody>
      </p:sp>
      <p:sp>
        <p:nvSpPr>
          <p:cNvPr id="180" name="CustomShape 5"/>
          <p:cNvSpPr/>
          <p:nvPr/>
        </p:nvSpPr>
        <p:spPr>
          <a:xfrm>
            <a:off x="951480" y="3136320"/>
            <a:ext cx="10427760" cy="639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Consolas"/>
              </a:rPr>
              <a:t>Sleuth</a:t>
            </a:r>
            <a:r>
              <a:rPr b="1" lang="en-US" sz="1800" spc="-1" strike="noStrike">
                <a:solidFill>
                  <a:srgbClr val="000000"/>
                </a:solidFill>
                <a:latin typeface="Aptos"/>
              </a:rPr>
              <a:t> is used to explore gene expression results from </a:t>
            </a:r>
            <a:r>
              <a:rPr b="1" lang="en-US" sz="1800" spc="-1" strike="noStrike">
                <a:solidFill>
                  <a:srgbClr val="000000"/>
                </a:solidFill>
                <a:latin typeface="Consolas"/>
              </a:rPr>
              <a:t>Kallisto</a:t>
            </a:r>
            <a:r>
              <a:rPr b="1" lang="en-US" sz="1800" spc="-1" strike="noStrike">
                <a:solidFill>
                  <a:srgbClr val="000000"/>
                </a:solidFill>
                <a:latin typeface="Aptos"/>
              </a:rPr>
              <a:t> and to perform differential expression analysis.</a:t>
            </a:r>
            <a:endParaRPr b="0" lang="es-ES" sz="1800" spc="-1" strike="noStrike">
              <a:latin typeface="Arial"/>
            </a:endParaRPr>
          </a:p>
        </p:txBody>
      </p:sp>
      <p:sp>
        <p:nvSpPr>
          <p:cNvPr id="181" name="CustomShape 6"/>
          <p:cNvSpPr/>
          <p:nvPr/>
        </p:nvSpPr>
        <p:spPr>
          <a:xfrm>
            <a:off x="951480" y="4114800"/>
            <a:ext cx="10427760" cy="9126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Consolas"/>
              </a:rPr>
              <a:t>Sleuth</a:t>
            </a:r>
            <a:r>
              <a:rPr b="1" lang="en-US" sz="1800" spc="-1" strike="noStrike">
                <a:solidFill>
                  <a:srgbClr val="000000"/>
                </a:solidFill>
                <a:latin typeface="Aptos"/>
              </a:rPr>
              <a:t> is implemented in an interactive shiny app that utilizes K</a:t>
            </a:r>
            <a:r>
              <a:rPr b="1" lang="en-US" sz="1800" spc="-1" strike="noStrike">
                <a:solidFill>
                  <a:srgbClr val="000000"/>
                </a:solidFill>
                <a:latin typeface="Consolas"/>
              </a:rPr>
              <a:t>allisto</a:t>
            </a:r>
            <a:r>
              <a:rPr b="1" lang="en-US" sz="1800" spc="-1" strike="noStrike">
                <a:solidFill>
                  <a:srgbClr val="000000"/>
                </a:solidFill>
                <a:latin typeface="Aptos"/>
              </a:rPr>
              <a:t> quantifications and bootstraps for fast and accurate analysis of data from RNA-seq experiments.</a:t>
            </a:r>
            <a:endParaRPr b="0" lang="es-ES" sz="1800" spc="-1" strike="noStrike">
              <a:latin typeface="Arial"/>
            </a:endParaRPr>
          </a:p>
        </p:txBody>
      </p:sp>
      <p:grpSp>
        <p:nvGrpSpPr>
          <p:cNvPr id="182" name="Group 7"/>
          <p:cNvGrpSpPr/>
          <p:nvPr/>
        </p:nvGrpSpPr>
        <p:grpSpPr>
          <a:xfrm>
            <a:off x="10914840" y="2392920"/>
            <a:ext cx="759240" cy="759240"/>
            <a:chOff x="10914840" y="2392920"/>
            <a:chExt cx="759240" cy="759240"/>
          </a:xfrm>
        </p:grpSpPr>
        <p:sp>
          <p:nvSpPr>
            <p:cNvPr id="183" name="CustomShape 8"/>
            <p:cNvSpPr/>
            <p:nvPr/>
          </p:nvSpPr>
          <p:spPr>
            <a:xfrm>
              <a:off x="11053800" y="2548800"/>
              <a:ext cx="483840" cy="324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p:style>
        </p:sp>
        <p:pic>
          <p:nvPicPr>
            <p:cNvPr id="184" name="Gráfico 8" descr="Presentación con elemento multimedia con relleno sólido"/>
            <p:cNvPicPr/>
            <p:nvPr/>
          </p:nvPicPr>
          <p:blipFill>
            <a:blip r:embed="rId1"/>
            <a:stretch/>
          </p:blipFill>
          <p:spPr>
            <a:xfrm>
              <a:off x="10914840" y="2392920"/>
              <a:ext cx="759240" cy="759240"/>
            </a:xfrm>
            <a:prstGeom prst="rect">
              <a:avLst/>
            </a:prstGeom>
            <a:ln>
              <a:noFill/>
            </a:ln>
          </p:spPr>
        </p:pic>
      </p:grpSp>
      <p:sp>
        <p:nvSpPr>
          <p:cNvPr id="185" name="CustomShape 9"/>
          <p:cNvSpPr/>
          <p:nvPr/>
        </p:nvSpPr>
        <p:spPr>
          <a:xfrm>
            <a:off x="951480" y="5093280"/>
            <a:ext cx="1042776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Consolas"/>
              </a:rPr>
              <a:t>Sleuth </a:t>
            </a:r>
            <a:r>
              <a:rPr b="1" lang="en-US" sz="1800" spc="-1" strike="noStrike">
                <a:solidFill>
                  <a:srgbClr val="000000"/>
                </a:solidFill>
                <a:latin typeface="Aptos"/>
              </a:rPr>
              <a:t>uses the bootstraps to ascertain and correct for technical variation in experiments.</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CustomShape 1"/>
          <p:cNvSpPr/>
          <p:nvPr/>
        </p:nvSpPr>
        <p:spPr>
          <a:xfrm>
            <a:off x="3628800" y="189360"/>
            <a:ext cx="4934160" cy="395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Gene Co-expression Networks</a:t>
            </a:r>
            <a:endParaRPr b="0" lang="es-ES" sz="2000" spc="-1" strike="noStrike">
              <a:latin typeface="Arial"/>
            </a:endParaRPr>
          </a:p>
        </p:txBody>
      </p:sp>
      <p:sp>
        <p:nvSpPr>
          <p:cNvPr id="187" name="CustomShape 2"/>
          <p:cNvSpPr/>
          <p:nvPr/>
        </p:nvSpPr>
        <p:spPr>
          <a:xfrm>
            <a:off x="465120" y="672840"/>
            <a:ext cx="11341440" cy="91260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Graphical representations that show how genes are related based on the </a:t>
            </a:r>
            <a:r>
              <a:rPr b="1" lang="en-US" sz="1800" spc="-1" strike="noStrike">
                <a:solidFill>
                  <a:srgbClr val="000000"/>
                </a:solidFill>
                <a:latin typeface="Aptos"/>
              </a:rPr>
              <a:t>similarity of their expression patterns</a:t>
            </a:r>
            <a:r>
              <a:rPr b="0" lang="en-US" sz="1800" spc="-1" strike="noStrike">
                <a:solidFill>
                  <a:srgbClr val="000000"/>
                </a:solidFill>
                <a:latin typeface="Aptos"/>
              </a:rPr>
              <a:t>.</a:t>
            </a:r>
            <a:endParaRPr b="0" lang="es-ES" sz="1800" spc="-1" strike="noStrike">
              <a:latin typeface="Arial"/>
            </a:endParaRPr>
          </a:p>
          <a:p>
            <a:pPr>
              <a:lnSpc>
                <a:spcPct val="100000"/>
              </a:lnSpc>
            </a:pPr>
            <a:r>
              <a:rPr b="1" lang="en-US" sz="1800" spc="-1" strike="noStrike">
                <a:solidFill>
                  <a:srgbClr val="156082"/>
                </a:solidFill>
                <a:latin typeface="Aptos"/>
              </a:rPr>
              <a:t>● </a:t>
            </a:r>
            <a:r>
              <a:rPr b="1" lang="en-US" sz="1800" spc="-1" strike="noStrike">
                <a:solidFill>
                  <a:srgbClr val="000000"/>
                </a:solidFill>
                <a:latin typeface="Aptos"/>
              </a:rPr>
              <a:t>Node = Gene                  Edge = Connection (correlated expression levels)</a:t>
            </a:r>
            <a:endParaRPr b="0" lang="es-ES" sz="1800" spc="-1" strike="noStrike">
              <a:latin typeface="Arial"/>
            </a:endParaRPr>
          </a:p>
        </p:txBody>
      </p:sp>
      <p:sp>
        <p:nvSpPr>
          <p:cNvPr id="188" name="CustomShape 3"/>
          <p:cNvSpPr/>
          <p:nvPr/>
        </p:nvSpPr>
        <p:spPr>
          <a:xfrm>
            <a:off x="461880" y="1375200"/>
            <a:ext cx="11341440" cy="3646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gn="ctr">
              <a:lnSpc>
                <a:spcPct val="100000"/>
              </a:lnSpc>
            </a:pPr>
            <a:r>
              <a:rPr b="1" i="1" lang="en-US" sz="1800" spc="-1" strike="noStrike">
                <a:solidFill>
                  <a:srgbClr val="000000"/>
                </a:solidFill>
                <a:latin typeface="Aptos"/>
              </a:rPr>
              <a:t>Premise: </a:t>
            </a:r>
            <a:r>
              <a:rPr b="0" i="1" lang="en-US" sz="1800" spc="-1" strike="noStrike">
                <a:solidFill>
                  <a:srgbClr val="000000"/>
                </a:solidFill>
                <a:latin typeface="Aptos"/>
              </a:rPr>
              <a:t>Genes with similar expression patterns (co-expressed) are functionally associated</a:t>
            </a:r>
            <a:endParaRPr b="0" lang="es-ES" sz="1800" spc="-1" strike="noStrike">
              <a:latin typeface="Arial"/>
            </a:endParaRPr>
          </a:p>
        </p:txBody>
      </p:sp>
      <p:sp>
        <p:nvSpPr>
          <p:cNvPr id="189" name="Line 4"/>
          <p:cNvSpPr/>
          <p:nvPr/>
        </p:nvSpPr>
        <p:spPr>
          <a:xfrm>
            <a:off x="2513160" y="1127160"/>
            <a:ext cx="329400" cy="0"/>
          </a:xfrm>
          <a:prstGeom prst="line">
            <a:avLst/>
          </a:prstGeom>
          <a:ln w="38160"/>
        </p:spPr>
        <p:style>
          <a:lnRef idx="2">
            <a:schemeClr val="dk1"/>
          </a:lnRef>
          <a:fillRef idx="0">
            <a:schemeClr val="dk1"/>
          </a:fillRef>
          <a:effectRef idx="1">
            <a:schemeClr val="dk1"/>
          </a:effectRef>
          <a:fontRef idx="minor"/>
        </p:style>
      </p:sp>
      <p:sp>
        <p:nvSpPr>
          <p:cNvPr id="190" name="Line 5"/>
          <p:cNvSpPr/>
          <p:nvPr/>
        </p:nvSpPr>
        <p:spPr>
          <a:xfrm flipV="1">
            <a:off x="2071440" y="4205880"/>
            <a:ext cx="1900800" cy="87084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191" name="Line 6"/>
          <p:cNvSpPr/>
          <p:nvPr/>
        </p:nvSpPr>
        <p:spPr>
          <a:xfrm flipH="1">
            <a:off x="2032920" y="2402280"/>
            <a:ext cx="2003760" cy="25812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192" name="Line 7"/>
          <p:cNvSpPr/>
          <p:nvPr/>
        </p:nvSpPr>
        <p:spPr>
          <a:xfrm flipV="1">
            <a:off x="886680" y="2270160"/>
            <a:ext cx="3017880" cy="8211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193" name="Line 8"/>
          <p:cNvSpPr/>
          <p:nvPr/>
        </p:nvSpPr>
        <p:spPr>
          <a:xfrm flipV="1">
            <a:off x="1609200" y="2270160"/>
            <a:ext cx="2295360" cy="7077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194" name="Line 9"/>
          <p:cNvSpPr/>
          <p:nvPr/>
        </p:nvSpPr>
        <p:spPr>
          <a:xfrm flipV="1">
            <a:off x="2022840" y="4205880"/>
            <a:ext cx="1949400" cy="17172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195" name="Line 10"/>
          <p:cNvSpPr/>
          <p:nvPr/>
        </p:nvSpPr>
        <p:spPr>
          <a:xfrm flipV="1">
            <a:off x="2032920" y="4205880"/>
            <a:ext cx="1939320" cy="7776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196" name="Line 11"/>
          <p:cNvSpPr/>
          <p:nvPr/>
        </p:nvSpPr>
        <p:spPr>
          <a:xfrm flipV="1">
            <a:off x="2774520" y="4205880"/>
            <a:ext cx="1197720" cy="43848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197" name="Line 12"/>
          <p:cNvSpPr/>
          <p:nvPr/>
        </p:nvSpPr>
        <p:spPr>
          <a:xfrm flipV="1">
            <a:off x="1609200" y="2961000"/>
            <a:ext cx="2008080" cy="169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198" name="Line 13"/>
          <p:cNvSpPr/>
          <p:nvPr/>
        </p:nvSpPr>
        <p:spPr>
          <a:xfrm flipH="1" flipV="1">
            <a:off x="1609200" y="2977920"/>
            <a:ext cx="2315520" cy="113868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199" name="Line 14"/>
          <p:cNvSpPr/>
          <p:nvPr/>
        </p:nvSpPr>
        <p:spPr>
          <a:xfrm flipH="1" flipV="1">
            <a:off x="1570680" y="3071160"/>
            <a:ext cx="996480" cy="234324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00" name="Line 15"/>
          <p:cNvSpPr/>
          <p:nvPr/>
        </p:nvSpPr>
        <p:spPr>
          <a:xfrm flipV="1">
            <a:off x="2660760" y="2625480"/>
            <a:ext cx="678960" cy="28278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01" name="Line 16"/>
          <p:cNvSpPr/>
          <p:nvPr/>
        </p:nvSpPr>
        <p:spPr>
          <a:xfrm flipV="1">
            <a:off x="2660760" y="2999880"/>
            <a:ext cx="1049760" cy="24534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02" name="Line 17"/>
          <p:cNvSpPr/>
          <p:nvPr/>
        </p:nvSpPr>
        <p:spPr>
          <a:xfrm flipH="1">
            <a:off x="2660760" y="4205880"/>
            <a:ext cx="1311480" cy="12474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03" name="Line 18"/>
          <p:cNvSpPr/>
          <p:nvPr/>
        </p:nvSpPr>
        <p:spPr>
          <a:xfrm flipV="1">
            <a:off x="3021840" y="2999880"/>
            <a:ext cx="688680" cy="29718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04" name="Line 19"/>
          <p:cNvSpPr/>
          <p:nvPr/>
        </p:nvSpPr>
        <p:spPr>
          <a:xfrm>
            <a:off x="925560" y="3184560"/>
            <a:ext cx="2999160" cy="93204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05" name="Line 20"/>
          <p:cNvSpPr/>
          <p:nvPr/>
        </p:nvSpPr>
        <p:spPr>
          <a:xfrm flipH="1">
            <a:off x="1929240" y="2625480"/>
            <a:ext cx="1410480" cy="32587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06" name="Line 21"/>
          <p:cNvSpPr/>
          <p:nvPr/>
        </p:nvSpPr>
        <p:spPr>
          <a:xfrm flipH="1">
            <a:off x="2774520" y="2363760"/>
            <a:ext cx="1168560" cy="22806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07" name="Line 22"/>
          <p:cNvSpPr/>
          <p:nvPr/>
        </p:nvSpPr>
        <p:spPr>
          <a:xfrm flipH="1">
            <a:off x="3265200" y="2402280"/>
            <a:ext cx="771480" cy="26769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08" name="Line 23"/>
          <p:cNvSpPr/>
          <p:nvPr/>
        </p:nvSpPr>
        <p:spPr>
          <a:xfrm flipV="1">
            <a:off x="2022840" y="2625480"/>
            <a:ext cx="1316880" cy="32976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09" name="Line 24"/>
          <p:cNvSpPr/>
          <p:nvPr/>
        </p:nvSpPr>
        <p:spPr>
          <a:xfrm flipV="1">
            <a:off x="3115440" y="2625480"/>
            <a:ext cx="224280" cy="33847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10" name="Line 25"/>
          <p:cNvSpPr/>
          <p:nvPr/>
        </p:nvSpPr>
        <p:spPr>
          <a:xfrm flipV="1">
            <a:off x="1939320" y="2625480"/>
            <a:ext cx="1400400" cy="23191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11" name="Line 26"/>
          <p:cNvSpPr/>
          <p:nvPr/>
        </p:nvSpPr>
        <p:spPr>
          <a:xfrm flipV="1">
            <a:off x="2774520" y="2270160"/>
            <a:ext cx="1130040" cy="23742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12" name="Line 27"/>
          <p:cNvSpPr/>
          <p:nvPr/>
        </p:nvSpPr>
        <p:spPr>
          <a:xfrm flipV="1">
            <a:off x="1595880" y="2270160"/>
            <a:ext cx="2308680" cy="135648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13" name="Line 28"/>
          <p:cNvSpPr/>
          <p:nvPr/>
        </p:nvSpPr>
        <p:spPr>
          <a:xfrm>
            <a:off x="2073600" y="2633040"/>
            <a:ext cx="400320" cy="282024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14" name="Line 29"/>
          <p:cNvSpPr/>
          <p:nvPr/>
        </p:nvSpPr>
        <p:spPr>
          <a:xfrm>
            <a:off x="2073600" y="2633040"/>
            <a:ext cx="607680" cy="19728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15" name="Line 30"/>
          <p:cNvSpPr/>
          <p:nvPr/>
        </p:nvSpPr>
        <p:spPr>
          <a:xfrm>
            <a:off x="2073600" y="2633040"/>
            <a:ext cx="1098360" cy="248508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16" name="Line 31"/>
          <p:cNvSpPr/>
          <p:nvPr/>
        </p:nvSpPr>
        <p:spPr>
          <a:xfrm flipH="1">
            <a:off x="1929240" y="2633040"/>
            <a:ext cx="144360" cy="32511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17" name="Line 32"/>
          <p:cNvSpPr/>
          <p:nvPr/>
        </p:nvSpPr>
        <p:spPr>
          <a:xfrm flipH="1">
            <a:off x="1939320" y="2633040"/>
            <a:ext cx="134280" cy="23115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18" name="Line 33"/>
          <p:cNvSpPr/>
          <p:nvPr/>
        </p:nvSpPr>
        <p:spPr>
          <a:xfrm>
            <a:off x="886680" y="3278160"/>
            <a:ext cx="2246760" cy="19332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19" name="Line 34"/>
          <p:cNvSpPr/>
          <p:nvPr/>
        </p:nvSpPr>
        <p:spPr>
          <a:xfrm>
            <a:off x="886680" y="3278160"/>
            <a:ext cx="2041920" cy="273204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20" name="Line 35"/>
          <p:cNvSpPr/>
          <p:nvPr/>
        </p:nvSpPr>
        <p:spPr>
          <a:xfrm>
            <a:off x="1463760" y="2270160"/>
            <a:ext cx="465480" cy="361404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21" name="Line 36"/>
          <p:cNvSpPr/>
          <p:nvPr/>
        </p:nvSpPr>
        <p:spPr>
          <a:xfrm>
            <a:off x="886680" y="3278160"/>
            <a:ext cx="2041920" cy="273204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22" name="Line 37"/>
          <p:cNvSpPr/>
          <p:nvPr/>
        </p:nvSpPr>
        <p:spPr>
          <a:xfrm>
            <a:off x="1463760" y="2270160"/>
            <a:ext cx="1558080" cy="37015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23" name="Line 38"/>
          <p:cNvSpPr/>
          <p:nvPr/>
        </p:nvSpPr>
        <p:spPr>
          <a:xfrm>
            <a:off x="886680" y="2424600"/>
            <a:ext cx="3067200" cy="15951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24" name="Line 39"/>
          <p:cNvSpPr/>
          <p:nvPr/>
        </p:nvSpPr>
        <p:spPr>
          <a:xfrm>
            <a:off x="1595880" y="2138040"/>
            <a:ext cx="2358000" cy="18817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25" name="Line 40"/>
          <p:cNvSpPr/>
          <p:nvPr/>
        </p:nvSpPr>
        <p:spPr>
          <a:xfrm>
            <a:off x="1595880" y="2138040"/>
            <a:ext cx="2308680" cy="1321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26" name="Line 41"/>
          <p:cNvSpPr/>
          <p:nvPr/>
        </p:nvSpPr>
        <p:spPr>
          <a:xfrm>
            <a:off x="1595880" y="2138040"/>
            <a:ext cx="1611720" cy="3553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27" name="Line 42"/>
          <p:cNvSpPr/>
          <p:nvPr/>
        </p:nvSpPr>
        <p:spPr>
          <a:xfrm>
            <a:off x="1463760" y="2270160"/>
            <a:ext cx="1010160" cy="31831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28" name="Line 43"/>
          <p:cNvSpPr/>
          <p:nvPr/>
        </p:nvSpPr>
        <p:spPr>
          <a:xfrm>
            <a:off x="1463760" y="2270160"/>
            <a:ext cx="475560" cy="267444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29" name="Line 44"/>
          <p:cNvSpPr/>
          <p:nvPr/>
        </p:nvSpPr>
        <p:spPr>
          <a:xfrm>
            <a:off x="1463760" y="2270160"/>
            <a:ext cx="1123920" cy="23742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30" name="Line 45"/>
          <p:cNvSpPr/>
          <p:nvPr/>
        </p:nvSpPr>
        <p:spPr>
          <a:xfrm>
            <a:off x="1463760" y="2270160"/>
            <a:ext cx="1708200" cy="28479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31" name="Line 46"/>
          <p:cNvSpPr/>
          <p:nvPr/>
        </p:nvSpPr>
        <p:spPr>
          <a:xfrm flipV="1">
            <a:off x="886680" y="2270160"/>
            <a:ext cx="3017880" cy="15444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32" name="Line 47"/>
          <p:cNvSpPr/>
          <p:nvPr/>
        </p:nvSpPr>
        <p:spPr>
          <a:xfrm>
            <a:off x="886680" y="2424600"/>
            <a:ext cx="2320920" cy="687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33" name="Line 48"/>
          <p:cNvSpPr/>
          <p:nvPr/>
        </p:nvSpPr>
        <p:spPr>
          <a:xfrm>
            <a:off x="886680" y="2424600"/>
            <a:ext cx="2691720" cy="4431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34" name="Line 49"/>
          <p:cNvSpPr/>
          <p:nvPr/>
        </p:nvSpPr>
        <p:spPr>
          <a:xfrm>
            <a:off x="886680" y="2424600"/>
            <a:ext cx="1587240" cy="302868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35" name="Line 50"/>
          <p:cNvSpPr/>
          <p:nvPr/>
        </p:nvSpPr>
        <p:spPr>
          <a:xfrm>
            <a:off x="886680" y="2424600"/>
            <a:ext cx="959400" cy="255888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36" name="Line 51"/>
          <p:cNvSpPr/>
          <p:nvPr/>
        </p:nvSpPr>
        <p:spPr>
          <a:xfrm>
            <a:off x="886680" y="2424600"/>
            <a:ext cx="1701000" cy="22197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37" name="Line 52"/>
          <p:cNvSpPr/>
          <p:nvPr/>
        </p:nvSpPr>
        <p:spPr>
          <a:xfrm>
            <a:off x="886680" y="2424600"/>
            <a:ext cx="1042560" cy="34596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38" name="Line 53"/>
          <p:cNvSpPr/>
          <p:nvPr/>
        </p:nvSpPr>
        <p:spPr>
          <a:xfrm>
            <a:off x="886680" y="2424600"/>
            <a:ext cx="2041920" cy="35856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39" name="Line 54"/>
          <p:cNvSpPr/>
          <p:nvPr/>
        </p:nvSpPr>
        <p:spPr>
          <a:xfrm>
            <a:off x="886680" y="2424600"/>
            <a:ext cx="2285280" cy="26935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40" name="CustomShape 55"/>
          <p:cNvSpPr/>
          <p:nvPr/>
        </p:nvSpPr>
        <p:spPr>
          <a:xfrm>
            <a:off x="661320" y="219924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41" name="CustomShape 56"/>
          <p:cNvSpPr/>
          <p:nvPr/>
        </p:nvSpPr>
        <p:spPr>
          <a:xfrm>
            <a:off x="1332000" y="200628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42" name="CustomShape 57"/>
          <p:cNvSpPr/>
          <p:nvPr/>
        </p:nvSpPr>
        <p:spPr>
          <a:xfrm>
            <a:off x="661320" y="305280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43" name="CustomShape 58"/>
          <p:cNvSpPr/>
          <p:nvPr/>
        </p:nvSpPr>
        <p:spPr>
          <a:xfrm>
            <a:off x="1941480" y="236916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44" name="CustomShape 59"/>
          <p:cNvSpPr/>
          <p:nvPr/>
        </p:nvSpPr>
        <p:spPr>
          <a:xfrm>
            <a:off x="1332000" y="349488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45" name="CustomShape 60"/>
          <p:cNvSpPr/>
          <p:nvPr/>
        </p:nvSpPr>
        <p:spPr>
          <a:xfrm>
            <a:off x="1962000" y="305280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46" name="CustomShape 61"/>
          <p:cNvSpPr/>
          <p:nvPr/>
        </p:nvSpPr>
        <p:spPr>
          <a:xfrm>
            <a:off x="3904920" y="213840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47" name="CustomShape 62"/>
          <p:cNvSpPr/>
          <p:nvPr/>
        </p:nvSpPr>
        <p:spPr>
          <a:xfrm>
            <a:off x="3207960" y="236160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48" name="CustomShape 63"/>
          <p:cNvSpPr/>
          <p:nvPr/>
        </p:nvSpPr>
        <p:spPr>
          <a:xfrm>
            <a:off x="3578760" y="273600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49" name="CustomShape 64"/>
          <p:cNvSpPr/>
          <p:nvPr/>
        </p:nvSpPr>
        <p:spPr>
          <a:xfrm>
            <a:off x="1807560" y="494496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50" name="CustomShape 65"/>
          <p:cNvSpPr/>
          <p:nvPr/>
        </p:nvSpPr>
        <p:spPr>
          <a:xfrm>
            <a:off x="2549160" y="460584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51" name="CustomShape 66"/>
          <p:cNvSpPr/>
          <p:nvPr/>
        </p:nvSpPr>
        <p:spPr>
          <a:xfrm>
            <a:off x="1797480" y="588456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52" name="CustomShape 67"/>
          <p:cNvSpPr/>
          <p:nvPr/>
        </p:nvSpPr>
        <p:spPr>
          <a:xfrm>
            <a:off x="3133440" y="507960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53" name="CustomShape 68"/>
          <p:cNvSpPr/>
          <p:nvPr/>
        </p:nvSpPr>
        <p:spPr>
          <a:xfrm>
            <a:off x="2890080" y="597168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54" name="CustomShape 69"/>
          <p:cNvSpPr/>
          <p:nvPr/>
        </p:nvSpPr>
        <p:spPr>
          <a:xfrm rot="2358000">
            <a:off x="3924360" y="397152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255" name="Line 70"/>
          <p:cNvSpPr/>
          <p:nvPr/>
        </p:nvSpPr>
        <p:spPr>
          <a:xfrm flipV="1">
            <a:off x="886680" y="2138040"/>
            <a:ext cx="445320" cy="9972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56" name="Line 71"/>
          <p:cNvSpPr/>
          <p:nvPr/>
        </p:nvSpPr>
        <p:spPr>
          <a:xfrm flipH="1" flipV="1">
            <a:off x="1595880" y="2138040"/>
            <a:ext cx="384120" cy="26964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57" name="Line 72"/>
          <p:cNvSpPr/>
          <p:nvPr/>
        </p:nvSpPr>
        <p:spPr>
          <a:xfrm flipH="1" flipV="1">
            <a:off x="2073600" y="2633040"/>
            <a:ext cx="20160" cy="41940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58" name="Line 73"/>
          <p:cNvSpPr/>
          <p:nvPr/>
        </p:nvSpPr>
        <p:spPr>
          <a:xfrm flipV="1">
            <a:off x="1595880" y="3278160"/>
            <a:ext cx="404640" cy="34848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59" name="Line 74"/>
          <p:cNvSpPr/>
          <p:nvPr/>
        </p:nvSpPr>
        <p:spPr>
          <a:xfrm>
            <a:off x="886680" y="3278160"/>
            <a:ext cx="445320" cy="34848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60" name="Line 75"/>
          <p:cNvSpPr/>
          <p:nvPr/>
        </p:nvSpPr>
        <p:spPr>
          <a:xfrm>
            <a:off x="793440" y="2463120"/>
            <a:ext cx="0" cy="58932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61" name="Line 76"/>
          <p:cNvSpPr/>
          <p:nvPr/>
        </p:nvSpPr>
        <p:spPr>
          <a:xfrm>
            <a:off x="886680" y="2424600"/>
            <a:ext cx="497160" cy="45972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262" name="Line 77"/>
          <p:cNvSpPr/>
          <p:nvPr/>
        </p:nvSpPr>
        <p:spPr>
          <a:xfrm>
            <a:off x="1463760" y="2270160"/>
            <a:ext cx="13320" cy="57564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263" name="Line 78"/>
          <p:cNvSpPr/>
          <p:nvPr/>
        </p:nvSpPr>
        <p:spPr>
          <a:xfrm flipH="1">
            <a:off x="1570680" y="2500920"/>
            <a:ext cx="370800" cy="38340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264" name="Line 79"/>
          <p:cNvSpPr/>
          <p:nvPr/>
        </p:nvSpPr>
        <p:spPr>
          <a:xfrm flipH="1" flipV="1">
            <a:off x="1609200" y="2977920"/>
            <a:ext cx="391320" cy="11340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265" name="Line 80"/>
          <p:cNvSpPr/>
          <p:nvPr/>
        </p:nvSpPr>
        <p:spPr>
          <a:xfrm flipV="1">
            <a:off x="1463760" y="3110040"/>
            <a:ext cx="13320" cy="38448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266" name="Line 81"/>
          <p:cNvSpPr/>
          <p:nvPr/>
        </p:nvSpPr>
        <p:spPr>
          <a:xfrm flipV="1">
            <a:off x="886680" y="2977920"/>
            <a:ext cx="458280" cy="11340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267" name="Line 82"/>
          <p:cNvSpPr/>
          <p:nvPr/>
        </p:nvSpPr>
        <p:spPr>
          <a:xfrm flipH="1">
            <a:off x="1929240" y="5208840"/>
            <a:ext cx="10080" cy="67536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68" name="Line 83"/>
          <p:cNvSpPr/>
          <p:nvPr/>
        </p:nvSpPr>
        <p:spPr>
          <a:xfrm flipV="1">
            <a:off x="2032920" y="4737960"/>
            <a:ext cx="516240" cy="24552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69" name="Line 84"/>
          <p:cNvSpPr/>
          <p:nvPr/>
        </p:nvSpPr>
        <p:spPr>
          <a:xfrm flipH="1" flipV="1">
            <a:off x="2813400" y="4737960"/>
            <a:ext cx="358560" cy="38016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70" name="Line 85"/>
          <p:cNvSpPr/>
          <p:nvPr/>
        </p:nvSpPr>
        <p:spPr>
          <a:xfrm flipH="1">
            <a:off x="3115440" y="5343480"/>
            <a:ext cx="149760" cy="66672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71" name="Line 86"/>
          <p:cNvSpPr/>
          <p:nvPr/>
        </p:nvSpPr>
        <p:spPr>
          <a:xfrm flipV="1">
            <a:off x="2022840" y="6103800"/>
            <a:ext cx="866880" cy="576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72" name="Line 87"/>
          <p:cNvSpPr/>
          <p:nvPr/>
        </p:nvSpPr>
        <p:spPr>
          <a:xfrm flipV="1">
            <a:off x="2022840" y="5640120"/>
            <a:ext cx="451080" cy="28296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273" name="Line 88"/>
          <p:cNvSpPr/>
          <p:nvPr/>
        </p:nvSpPr>
        <p:spPr>
          <a:xfrm>
            <a:off x="2660760" y="5640120"/>
            <a:ext cx="267840" cy="37008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274" name="Line 89"/>
          <p:cNvSpPr/>
          <p:nvPr/>
        </p:nvSpPr>
        <p:spPr>
          <a:xfrm flipH="1">
            <a:off x="2660760" y="5211360"/>
            <a:ext cx="472680" cy="24192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275" name="Line 90"/>
          <p:cNvSpPr/>
          <p:nvPr/>
        </p:nvSpPr>
        <p:spPr>
          <a:xfrm flipH="1">
            <a:off x="2567160" y="4870080"/>
            <a:ext cx="114120" cy="54432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276" name="Line 91"/>
          <p:cNvSpPr/>
          <p:nvPr/>
        </p:nvSpPr>
        <p:spPr>
          <a:xfrm>
            <a:off x="2032920" y="5170320"/>
            <a:ext cx="441000" cy="28296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277" name="Line 92"/>
          <p:cNvSpPr/>
          <p:nvPr/>
        </p:nvSpPr>
        <p:spPr>
          <a:xfrm flipH="1">
            <a:off x="3432960" y="2270160"/>
            <a:ext cx="471600" cy="12996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78" name="Line 93"/>
          <p:cNvSpPr/>
          <p:nvPr/>
        </p:nvSpPr>
        <p:spPr>
          <a:xfrm flipH="1">
            <a:off x="3804120" y="2402280"/>
            <a:ext cx="232560" cy="37188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79" name="Line 94"/>
          <p:cNvSpPr/>
          <p:nvPr/>
        </p:nvSpPr>
        <p:spPr>
          <a:xfrm>
            <a:off x="3339720" y="2625480"/>
            <a:ext cx="238680" cy="24228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80" name="Line 95"/>
          <p:cNvSpPr/>
          <p:nvPr/>
        </p:nvSpPr>
        <p:spPr>
          <a:xfrm>
            <a:off x="3710520" y="2999880"/>
            <a:ext cx="243360" cy="101988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81" name="Line 96"/>
          <p:cNvSpPr/>
          <p:nvPr/>
        </p:nvSpPr>
        <p:spPr>
          <a:xfrm flipH="1">
            <a:off x="3953880" y="2402280"/>
            <a:ext cx="82800" cy="161748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82" name="Line 97"/>
          <p:cNvSpPr/>
          <p:nvPr/>
        </p:nvSpPr>
        <p:spPr>
          <a:xfrm>
            <a:off x="3339720" y="2625480"/>
            <a:ext cx="614160" cy="139428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83" name="Line 98"/>
          <p:cNvSpPr/>
          <p:nvPr/>
        </p:nvSpPr>
        <p:spPr>
          <a:xfrm>
            <a:off x="1595880" y="2138040"/>
            <a:ext cx="1982520" cy="7297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84" name="Line 99"/>
          <p:cNvSpPr/>
          <p:nvPr/>
        </p:nvSpPr>
        <p:spPr>
          <a:xfrm>
            <a:off x="886680" y="3278160"/>
            <a:ext cx="959400" cy="17053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85" name="Line 100"/>
          <p:cNvSpPr/>
          <p:nvPr/>
        </p:nvSpPr>
        <p:spPr>
          <a:xfrm>
            <a:off x="886680" y="3278160"/>
            <a:ext cx="1701000" cy="13662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86" name="Line 101"/>
          <p:cNvSpPr/>
          <p:nvPr/>
        </p:nvSpPr>
        <p:spPr>
          <a:xfrm flipV="1">
            <a:off x="1463760" y="2500920"/>
            <a:ext cx="477720" cy="99360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87" name="Line 102"/>
          <p:cNvSpPr/>
          <p:nvPr/>
        </p:nvSpPr>
        <p:spPr>
          <a:xfrm flipH="1">
            <a:off x="886680" y="2500920"/>
            <a:ext cx="1054800" cy="59040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88" name="Line 103"/>
          <p:cNvSpPr/>
          <p:nvPr/>
        </p:nvSpPr>
        <p:spPr>
          <a:xfrm>
            <a:off x="886680" y="2424600"/>
            <a:ext cx="577080" cy="106992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89" name="Line 104"/>
          <p:cNvSpPr/>
          <p:nvPr/>
        </p:nvSpPr>
        <p:spPr>
          <a:xfrm>
            <a:off x="886680" y="2424600"/>
            <a:ext cx="1054800" cy="7632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90" name="Line 105"/>
          <p:cNvSpPr/>
          <p:nvPr/>
        </p:nvSpPr>
        <p:spPr>
          <a:xfrm>
            <a:off x="925560" y="3184560"/>
            <a:ext cx="1036080" cy="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91" name="CustomShape 106"/>
          <p:cNvSpPr/>
          <p:nvPr/>
        </p:nvSpPr>
        <p:spPr>
          <a:xfrm>
            <a:off x="1345320" y="2845800"/>
            <a:ext cx="263880" cy="263880"/>
          </a:xfrm>
          <a:prstGeom prst="ellipse">
            <a:avLst/>
          </a:prstGeom>
          <a:solidFill>
            <a:srgbClr val="00b0f0"/>
          </a:solidFill>
          <a:ln w="38160"/>
        </p:spPr>
        <p:style>
          <a:lnRef idx="2">
            <a:schemeClr val="accent1">
              <a:shade val="15000"/>
            </a:schemeClr>
          </a:lnRef>
          <a:fillRef idx="1">
            <a:schemeClr val="accent1"/>
          </a:fillRef>
          <a:effectRef idx="0">
            <a:schemeClr val="accent1"/>
          </a:effectRef>
          <a:fontRef idx="minor"/>
        </p:style>
      </p:sp>
      <p:sp>
        <p:nvSpPr>
          <p:cNvPr id="292" name="Line 107"/>
          <p:cNvSpPr/>
          <p:nvPr/>
        </p:nvSpPr>
        <p:spPr>
          <a:xfrm flipV="1">
            <a:off x="2187360" y="2493360"/>
            <a:ext cx="1020240" cy="5979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93" name="Line 108"/>
          <p:cNvSpPr/>
          <p:nvPr/>
        </p:nvSpPr>
        <p:spPr>
          <a:xfrm flipV="1">
            <a:off x="3265200" y="2625480"/>
            <a:ext cx="74520" cy="24537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294" name="Line 109"/>
          <p:cNvSpPr/>
          <p:nvPr/>
        </p:nvSpPr>
        <p:spPr>
          <a:xfrm>
            <a:off x="2032920" y="5170320"/>
            <a:ext cx="1100520" cy="4104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95" name="Line 110"/>
          <p:cNvSpPr/>
          <p:nvPr/>
        </p:nvSpPr>
        <p:spPr>
          <a:xfrm>
            <a:off x="2032920" y="5170320"/>
            <a:ext cx="895680" cy="83988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96" name="Line 111"/>
          <p:cNvSpPr/>
          <p:nvPr/>
        </p:nvSpPr>
        <p:spPr>
          <a:xfrm flipV="1">
            <a:off x="2022840" y="4870080"/>
            <a:ext cx="658440" cy="105300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97" name="Line 112"/>
          <p:cNvSpPr/>
          <p:nvPr/>
        </p:nvSpPr>
        <p:spPr>
          <a:xfrm flipH="1" flipV="1">
            <a:off x="2681280" y="4870080"/>
            <a:ext cx="247320" cy="114012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298" name="CustomShape 113"/>
          <p:cNvSpPr/>
          <p:nvPr/>
        </p:nvSpPr>
        <p:spPr>
          <a:xfrm>
            <a:off x="2435400" y="5414760"/>
            <a:ext cx="263880" cy="263880"/>
          </a:xfrm>
          <a:prstGeom prst="ellipse">
            <a:avLst/>
          </a:prstGeom>
          <a:solidFill>
            <a:srgbClr val="00b0f0"/>
          </a:solidFill>
          <a:ln w="38160"/>
        </p:spPr>
        <p:style>
          <a:lnRef idx="2">
            <a:schemeClr val="accent1">
              <a:shade val="15000"/>
            </a:schemeClr>
          </a:lnRef>
          <a:fillRef idx="1">
            <a:schemeClr val="accent1"/>
          </a:fillRef>
          <a:effectRef idx="0">
            <a:schemeClr val="accent1"/>
          </a:effectRef>
          <a:fontRef idx="minor"/>
        </p:style>
      </p:sp>
      <p:sp>
        <p:nvSpPr>
          <p:cNvPr id="299" name="Line 114"/>
          <p:cNvSpPr/>
          <p:nvPr/>
        </p:nvSpPr>
        <p:spPr>
          <a:xfrm flipV="1">
            <a:off x="3358800" y="4205880"/>
            <a:ext cx="613440" cy="91224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300" name="Line 115"/>
          <p:cNvSpPr/>
          <p:nvPr/>
        </p:nvSpPr>
        <p:spPr>
          <a:xfrm>
            <a:off x="2225880" y="3184560"/>
            <a:ext cx="1728000" cy="83520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301" name="Line 116"/>
          <p:cNvSpPr/>
          <p:nvPr/>
        </p:nvSpPr>
        <p:spPr>
          <a:xfrm>
            <a:off x="1595880" y="3626640"/>
            <a:ext cx="2328840" cy="48996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302" name="Line 117"/>
          <p:cNvSpPr/>
          <p:nvPr/>
        </p:nvSpPr>
        <p:spPr>
          <a:xfrm flipV="1">
            <a:off x="3115440" y="4205880"/>
            <a:ext cx="856800" cy="180432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303" name="CustomShape 118"/>
          <p:cNvSpPr/>
          <p:nvPr/>
        </p:nvSpPr>
        <p:spPr>
          <a:xfrm>
            <a:off x="326520" y="1913040"/>
            <a:ext cx="2183400" cy="1953720"/>
          </a:xfrm>
          <a:prstGeom prst="ellipse">
            <a:avLst/>
          </a:prstGeom>
          <a:noFill/>
          <a:ln w="38160">
            <a:solidFill>
              <a:srgbClr val="ff0000"/>
            </a:solidFill>
            <a:prstDash val="dash"/>
          </a:ln>
        </p:spPr>
        <p:style>
          <a:lnRef idx="2">
            <a:schemeClr val="accent1">
              <a:shade val="15000"/>
            </a:schemeClr>
          </a:lnRef>
          <a:fillRef idx="1">
            <a:schemeClr val="accent1"/>
          </a:fillRef>
          <a:effectRef idx="0">
            <a:schemeClr val="accent1"/>
          </a:effectRef>
          <a:fontRef idx="minor"/>
        </p:style>
      </p:sp>
      <p:sp>
        <p:nvSpPr>
          <p:cNvPr id="304" name="CustomShape 119"/>
          <p:cNvSpPr/>
          <p:nvPr/>
        </p:nvSpPr>
        <p:spPr>
          <a:xfrm>
            <a:off x="1414800" y="4465800"/>
            <a:ext cx="2183400" cy="1982880"/>
          </a:xfrm>
          <a:prstGeom prst="ellipse">
            <a:avLst/>
          </a:prstGeom>
          <a:noFill/>
          <a:ln w="38160">
            <a:solidFill>
              <a:srgbClr val="0070c0"/>
            </a:solidFill>
            <a:prstDash val="dash"/>
          </a:ln>
        </p:spPr>
        <p:style>
          <a:lnRef idx="2">
            <a:schemeClr val="accent1">
              <a:shade val="15000"/>
            </a:schemeClr>
          </a:lnRef>
          <a:fillRef idx="1">
            <a:schemeClr val="accent1"/>
          </a:fillRef>
          <a:effectRef idx="0">
            <a:schemeClr val="accent1"/>
          </a:effectRef>
          <a:fontRef idx="minor"/>
        </p:style>
      </p:sp>
      <p:sp>
        <p:nvSpPr>
          <p:cNvPr id="305" name="CustomShape 120"/>
          <p:cNvSpPr/>
          <p:nvPr/>
        </p:nvSpPr>
        <p:spPr>
          <a:xfrm>
            <a:off x="3061440" y="2025000"/>
            <a:ext cx="1357560" cy="1070640"/>
          </a:xfrm>
          <a:prstGeom prst="ellipse">
            <a:avLst/>
          </a:prstGeom>
          <a:noFill/>
          <a:ln w="38160">
            <a:solidFill>
              <a:schemeClr val="accent5"/>
            </a:solidFill>
            <a:prstDash val="dash"/>
          </a:ln>
        </p:spPr>
        <p:style>
          <a:lnRef idx="2">
            <a:schemeClr val="accent1">
              <a:shade val="15000"/>
            </a:schemeClr>
          </a:lnRef>
          <a:fillRef idx="1">
            <a:schemeClr val="accent1"/>
          </a:fillRef>
          <a:effectRef idx="0">
            <a:schemeClr val="accent1"/>
          </a:effectRef>
          <a:fontRef idx="minor"/>
        </p:style>
      </p:sp>
      <p:sp>
        <p:nvSpPr>
          <p:cNvPr id="306" name="CustomShape 121"/>
          <p:cNvSpPr/>
          <p:nvPr/>
        </p:nvSpPr>
        <p:spPr>
          <a:xfrm>
            <a:off x="4542480" y="2206080"/>
            <a:ext cx="1439640" cy="363960"/>
          </a:xfrm>
          <a:prstGeom prst="rect">
            <a:avLst/>
          </a:prstGeom>
          <a:solidFill>
            <a:schemeClr val="accent5">
              <a:lumMod val="40000"/>
              <a:lumOff val="60000"/>
            </a:schemeClr>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000000"/>
                </a:solidFill>
                <a:latin typeface="Aptos"/>
              </a:rPr>
              <a:t>Weighted</a:t>
            </a:r>
            <a:endParaRPr b="0" lang="es-ES" sz="1800" spc="-1" strike="noStrike">
              <a:latin typeface="Arial"/>
            </a:endParaRPr>
          </a:p>
        </p:txBody>
      </p:sp>
      <p:sp>
        <p:nvSpPr>
          <p:cNvPr id="307" name="CustomShape 122"/>
          <p:cNvSpPr/>
          <p:nvPr/>
        </p:nvSpPr>
        <p:spPr>
          <a:xfrm>
            <a:off x="6263280" y="2206080"/>
            <a:ext cx="1439640" cy="638280"/>
          </a:xfrm>
          <a:prstGeom prst="rect">
            <a:avLst/>
          </a:prstGeom>
          <a:solidFill>
            <a:schemeClr val="accent6">
              <a:lumMod val="60000"/>
              <a:lumOff val="40000"/>
            </a:schemeClr>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000000"/>
                </a:solidFill>
                <a:latin typeface="Aptos"/>
              </a:rPr>
              <a:t>Unweighted</a:t>
            </a:r>
            <a:endParaRPr b="0" lang="es-ES" sz="1800" spc="-1" strike="noStrike">
              <a:latin typeface="Arial"/>
            </a:endParaRPr>
          </a:p>
        </p:txBody>
      </p:sp>
      <p:sp>
        <p:nvSpPr>
          <p:cNvPr id="308" name="CustomShape 123"/>
          <p:cNvSpPr/>
          <p:nvPr/>
        </p:nvSpPr>
        <p:spPr>
          <a:xfrm>
            <a:off x="8362440" y="228168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09" name="CustomShape 124"/>
          <p:cNvSpPr/>
          <p:nvPr/>
        </p:nvSpPr>
        <p:spPr>
          <a:xfrm>
            <a:off x="9033120" y="208872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10" name="CustomShape 125"/>
          <p:cNvSpPr/>
          <p:nvPr/>
        </p:nvSpPr>
        <p:spPr>
          <a:xfrm>
            <a:off x="8362440" y="313524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11" name="CustomShape 126"/>
          <p:cNvSpPr/>
          <p:nvPr/>
        </p:nvSpPr>
        <p:spPr>
          <a:xfrm>
            <a:off x="9642600" y="245124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12" name="CustomShape 127"/>
          <p:cNvSpPr/>
          <p:nvPr/>
        </p:nvSpPr>
        <p:spPr>
          <a:xfrm>
            <a:off x="9033120" y="357696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13" name="CustomShape 128"/>
          <p:cNvSpPr/>
          <p:nvPr/>
        </p:nvSpPr>
        <p:spPr>
          <a:xfrm>
            <a:off x="9662760" y="313524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14" name="CustomShape 129"/>
          <p:cNvSpPr/>
          <p:nvPr/>
        </p:nvSpPr>
        <p:spPr>
          <a:xfrm>
            <a:off x="11374200" y="222084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15" name="CustomShape 130"/>
          <p:cNvSpPr/>
          <p:nvPr/>
        </p:nvSpPr>
        <p:spPr>
          <a:xfrm>
            <a:off x="10677240" y="244404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16" name="CustomShape 131"/>
          <p:cNvSpPr/>
          <p:nvPr/>
        </p:nvSpPr>
        <p:spPr>
          <a:xfrm>
            <a:off x="11048040" y="281808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17" name="CustomShape 132"/>
          <p:cNvSpPr/>
          <p:nvPr/>
        </p:nvSpPr>
        <p:spPr>
          <a:xfrm>
            <a:off x="9068760" y="481896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18" name="CustomShape 133"/>
          <p:cNvSpPr/>
          <p:nvPr/>
        </p:nvSpPr>
        <p:spPr>
          <a:xfrm>
            <a:off x="9810360" y="448020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19" name="CustomShape 134"/>
          <p:cNvSpPr/>
          <p:nvPr/>
        </p:nvSpPr>
        <p:spPr>
          <a:xfrm>
            <a:off x="9058680" y="575856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20" name="CustomShape 135"/>
          <p:cNvSpPr/>
          <p:nvPr/>
        </p:nvSpPr>
        <p:spPr>
          <a:xfrm>
            <a:off x="10394640" y="495360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21" name="CustomShape 136"/>
          <p:cNvSpPr/>
          <p:nvPr/>
        </p:nvSpPr>
        <p:spPr>
          <a:xfrm>
            <a:off x="10151280" y="584568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22" name="CustomShape 137"/>
          <p:cNvSpPr/>
          <p:nvPr/>
        </p:nvSpPr>
        <p:spPr>
          <a:xfrm rot="2358000">
            <a:off x="10987200" y="403164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23" name="Line 138"/>
          <p:cNvSpPr/>
          <p:nvPr/>
        </p:nvSpPr>
        <p:spPr>
          <a:xfrm flipV="1">
            <a:off x="8587800" y="2220480"/>
            <a:ext cx="444960" cy="9972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24" name="Line 139"/>
          <p:cNvSpPr/>
          <p:nvPr/>
        </p:nvSpPr>
        <p:spPr>
          <a:xfrm flipH="1" flipV="1">
            <a:off x="9297000" y="2220480"/>
            <a:ext cx="384120" cy="26928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25" name="Line 140"/>
          <p:cNvSpPr/>
          <p:nvPr/>
        </p:nvSpPr>
        <p:spPr>
          <a:xfrm flipH="1" flipV="1">
            <a:off x="9774360" y="2715480"/>
            <a:ext cx="20520" cy="41940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26" name="Line 141"/>
          <p:cNvSpPr/>
          <p:nvPr/>
        </p:nvSpPr>
        <p:spPr>
          <a:xfrm flipV="1">
            <a:off x="9297000" y="3360240"/>
            <a:ext cx="404280" cy="34884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27" name="Line 142"/>
          <p:cNvSpPr/>
          <p:nvPr/>
        </p:nvSpPr>
        <p:spPr>
          <a:xfrm>
            <a:off x="8494200" y="2545560"/>
            <a:ext cx="0" cy="58932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28" name="Line 143"/>
          <p:cNvSpPr/>
          <p:nvPr/>
        </p:nvSpPr>
        <p:spPr>
          <a:xfrm flipV="1">
            <a:off x="9294120" y="4611960"/>
            <a:ext cx="516240" cy="24552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29" name="Line 144"/>
          <p:cNvSpPr/>
          <p:nvPr/>
        </p:nvSpPr>
        <p:spPr>
          <a:xfrm flipH="1" flipV="1">
            <a:off x="10035720" y="4705200"/>
            <a:ext cx="397440" cy="28692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30" name="Line 145"/>
          <p:cNvSpPr/>
          <p:nvPr/>
        </p:nvSpPr>
        <p:spPr>
          <a:xfrm>
            <a:off x="9322560" y="5890320"/>
            <a:ext cx="828360" cy="8748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31" name="Line 146"/>
          <p:cNvSpPr/>
          <p:nvPr/>
        </p:nvSpPr>
        <p:spPr>
          <a:xfrm flipH="1">
            <a:off x="10902600" y="2352600"/>
            <a:ext cx="471600" cy="12996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32" name="Line 147"/>
          <p:cNvSpPr/>
          <p:nvPr/>
        </p:nvSpPr>
        <p:spPr>
          <a:xfrm flipH="1">
            <a:off x="11273400" y="2484720"/>
            <a:ext cx="232560" cy="37188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33" name="Line 148"/>
          <p:cNvSpPr/>
          <p:nvPr/>
        </p:nvSpPr>
        <p:spPr>
          <a:xfrm>
            <a:off x="10809360" y="2707920"/>
            <a:ext cx="238680" cy="24228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34" name="CustomShape 149"/>
          <p:cNvSpPr/>
          <p:nvPr/>
        </p:nvSpPr>
        <p:spPr>
          <a:xfrm>
            <a:off x="9046080" y="2928240"/>
            <a:ext cx="263880" cy="263880"/>
          </a:xfrm>
          <a:prstGeom prst="ellipse">
            <a:avLst/>
          </a:prstGeom>
          <a:ln w="38160"/>
        </p:spPr>
        <p:style>
          <a:lnRef idx="2">
            <a:schemeClr val="accent1">
              <a:shade val="15000"/>
            </a:schemeClr>
          </a:lnRef>
          <a:fillRef idx="1">
            <a:schemeClr val="accent1"/>
          </a:fillRef>
          <a:effectRef idx="0">
            <a:schemeClr val="accent1"/>
          </a:effectRef>
          <a:fontRef idx="minor"/>
        </p:style>
      </p:sp>
      <p:sp>
        <p:nvSpPr>
          <p:cNvPr id="335" name="CustomShape 150"/>
          <p:cNvSpPr/>
          <p:nvPr/>
        </p:nvSpPr>
        <p:spPr>
          <a:xfrm>
            <a:off x="9696600" y="5288760"/>
            <a:ext cx="263880" cy="263880"/>
          </a:xfrm>
          <a:prstGeom prst="ellipse">
            <a:avLst/>
          </a:prstGeom>
          <a:ln w="38160"/>
        </p:spPr>
        <p:style>
          <a:lnRef idx="2">
            <a:schemeClr val="accent1">
              <a:shade val="15000"/>
            </a:schemeClr>
          </a:lnRef>
          <a:fillRef idx="1">
            <a:schemeClr val="accent1"/>
          </a:fillRef>
          <a:effectRef idx="0">
            <a:schemeClr val="accent1"/>
          </a:effectRef>
          <a:fontRef idx="minor"/>
        </p:style>
      </p:sp>
      <p:sp>
        <p:nvSpPr>
          <p:cNvPr id="336" name="CustomShape 151"/>
          <p:cNvSpPr/>
          <p:nvPr/>
        </p:nvSpPr>
        <p:spPr>
          <a:xfrm>
            <a:off x="8027640" y="1995120"/>
            <a:ext cx="2183400" cy="1953720"/>
          </a:xfrm>
          <a:prstGeom prst="ellipse">
            <a:avLst/>
          </a:prstGeom>
          <a:noFill/>
          <a:ln w="38160">
            <a:solidFill>
              <a:srgbClr val="ff0000"/>
            </a:solidFill>
            <a:prstDash val="dash"/>
          </a:ln>
        </p:spPr>
        <p:style>
          <a:lnRef idx="2">
            <a:schemeClr val="accent1">
              <a:shade val="15000"/>
            </a:schemeClr>
          </a:lnRef>
          <a:fillRef idx="1">
            <a:schemeClr val="accent1"/>
          </a:fillRef>
          <a:effectRef idx="0">
            <a:schemeClr val="accent1"/>
          </a:effectRef>
          <a:fontRef idx="minor"/>
        </p:style>
      </p:sp>
      <p:sp>
        <p:nvSpPr>
          <p:cNvPr id="337" name="CustomShape 152"/>
          <p:cNvSpPr/>
          <p:nvPr/>
        </p:nvSpPr>
        <p:spPr>
          <a:xfrm>
            <a:off x="8676000" y="4339800"/>
            <a:ext cx="2183400" cy="1982880"/>
          </a:xfrm>
          <a:prstGeom prst="ellipse">
            <a:avLst/>
          </a:prstGeom>
          <a:noFill/>
          <a:ln w="38160">
            <a:solidFill>
              <a:srgbClr val="0070c0"/>
            </a:solidFill>
            <a:prstDash val="dash"/>
          </a:ln>
        </p:spPr>
        <p:style>
          <a:lnRef idx="2">
            <a:schemeClr val="accent1">
              <a:shade val="15000"/>
            </a:schemeClr>
          </a:lnRef>
          <a:fillRef idx="1">
            <a:schemeClr val="accent1"/>
          </a:fillRef>
          <a:effectRef idx="0">
            <a:schemeClr val="accent1"/>
          </a:effectRef>
          <a:fontRef idx="minor"/>
        </p:style>
      </p:sp>
      <p:sp>
        <p:nvSpPr>
          <p:cNvPr id="338" name="CustomShape 153"/>
          <p:cNvSpPr/>
          <p:nvPr/>
        </p:nvSpPr>
        <p:spPr>
          <a:xfrm>
            <a:off x="10530720" y="2107080"/>
            <a:ext cx="1357560" cy="1070640"/>
          </a:xfrm>
          <a:prstGeom prst="ellipse">
            <a:avLst/>
          </a:prstGeom>
          <a:noFill/>
          <a:ln w="38160">
            <a:solidFill>
              <a:schemeClr val="accent5"/>
            </a:solidFill>
            <a:prstDash val="dash"/>
          </a:ln>
        </p:spPr>
        <p:style>
          <a:lnRef idx="2">
            <a:schemeClr val="accent1">
              <a:shade val="15000"/>
            </a:schemeClr>
          </a:lnRef>
          <a:fillRef idx="1">
            <a:schemeClr val="accent1"/>
          </a:fillRef>
          <a:effectRef idx="0">
            <a:schemeClr val="accent1"/>
          </a:effectRef>
          <a:fontRef idx="minor"/>
        </p:style>
      </p:sp>
      <p:sp>
        <p:nvSpPr>
          <p:cNvPr id="339" name="Line 154"/>
          <p:cNvSpPr/>
          <p:nvPr/>
        </p:nvSpPr>
        <p:spPr>
          <a:xfrm flipV="1">
            <a:off x="9164880" y="3192120"/>
            <a:ext cx="13320" cy="38484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40" name="Line 155"/>
          <p:cNvSpPr/>
          <p:nvPr/>
        </p:nvSpPr>
        <p:spPr>
          <a:xfrm flipV="1">
            <a:off x="9271440" y="2583360"/>
            <a:ext cx="370800" cy="38340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41" name="Line 156"/>
          <p:cNvSpPr/>
          <p:nvPr/>
        </p:nvSpPr>
        <p:spPr>
          <a:xfrm flipH="1">
            <a:off x="8626320" y="3060000"/>
            <a:ext cx="419760" cy="20700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42" name="Line 157"/>
          <p:cNvSpPr/>
          <p:nvPr/>
        </p:nvSpPr>
        <p:spPr>
          <a:xfrm flipV="1">
            <a:off x="9283680" y="5514120"/>
            <a:ext cx="451440" cy="28296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43" name="Line 158"/>
          <p:cNvSpPr/>
          <p:nvPr/>
        </p:nvSpPr>
        <p:spPr>
          <a:xfrm flipH="1" flipV="1">
            <a:off x="9294120" y="5044320"/>
            <a:ext cx="441000" cy="28296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44" name="Line 159"/>
          <p:cNvSpPr/>
          <p:nvPr/>
        </p:nvSpPr>
        <p:spPr>
          <a:xfrm flipH="1">
            <a:off x="9960480" y="5085360"/>
            <a:ext cx="433800" cy="33516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45" name="Line 160"/>
          <p:cNvSpPr/>
          <p:nvPr/>
        </p:nvSpPr>
        <p:spPr>
          <a:xfrm flipH="1" flipV="1">
            <a:off x="9921600" y="5514120"/>
            <a:ext cx="361440" cy="33156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46" name="CustomShape 161"/>
          <p:cNvSpPr/>
          <p:nvPr/>
        </p:nvSpPr>
        <p:spPr>
          <a:xfrm>
            <a:off x="6148440" y="2734200"/>
            <a:ext cx="1647000" cy="1094760"/>
          </a:xfrm>
          <a:prstGeom prst="rect">
            <a:avLst/>
          </a:prstGeom>
          <a:noFill/>
          <a:ln>
            <a:noFill/>
          </a:ln>
        </p:spPr>
        <p:style>
          <a:lnRef idx="0"/>
          <a:fillRef idx="0"/>
          <a:effectRef idx="0"/>
          <a:fontRef idx="minor"/>
        </p:style>
        <p:txBody>
          <a:bodyPr lIns="90000" rIns="90000" tIns="45000" bIns="45000">
            <a:spAutoFit/>
          </a:bodyPr>
          <a:p>
            <a:pPr>
              <a:lnSpc>
                <a:spcPct val="100000"/>
              </a:lnSpc>
              <a:spcBef>
                <a:spcPts val="601"/>
              </a:spcBef>
              <a:spcAft>
                <a:spcPts val="601"/>
              </a:spcAft>
            </a:pPr>
            <a:r>
              <a:rPr b="0" lang="en-US" sz="1400" spc="-1" strike="noStrike">
                <a:solidFill>
                  <a:srgbClr val="000000"/>
                </a:solidFill>
                <a:latin typeface="Aptos"/>
              </a:rPr>
              <a:t>Connected (1) or not connected (0)</a:t>
            </a:r>
            <a:endParaRPr b="0" lang="es-ES" sz="1400" spc="-1" strike="noStrike">
              <a:latin typeface="Arial"/>
            </a:endParaRPr>
          </a:p>
          <a:p>
            <a:pPr>
              <a:lnSpc>
                <a:spcPct val="100000"/>
              </a:lnSpc>
              <a:spcBef>
                <a:spcPts val="601"/>
              </a:spcBef>
              <a:spcAft>
                <a:spcPts val="601"/>
              </a:spcAft>
            </a:pPr>
            <a:r>
              <a:rPr b="0" lang="en-US" sz="1400" spc="-1" strike="noStrike">
                <a:solidFill>
                  <a:srgbClr val="000000"/>
                </a:solidFill>
                <a:latin typeface="Aptos"/>
              </a:rPr>
              <a:t>Hard-threshold</a:t>
            </a:r>
            <a:endParaRPr b="0" lang="es-ES" sz="1400" spc="-1" strike="noStrike">
              <a:latin typeface="Arial"/>
            </a:endParaRPr>
          </a:p>
        </p:txBody>
      </p:sp>
      <p:sp>
        <p:nvSpPr>
          <p:cNvPr id="347" name="CustomShape 162"/>
          <p:cNvSpPr/>
          <p:nvPr/>
        </p:nvSpPr>
        <p:spPr>
          <a:xfrm>
            <a:off x="4360320" y="2738880"/>
            <a:ext cx="1843200" cy="1018440"/>
          </a:xfrm>
          <a:prstGeom prst="rect">
            <a:avLst/>
          </a:prstGeom>
          <a:noFill/>
          <a:ln>
            <a:noFill/>
          </a:ln>
        </p:spPr>
        <p:style>
          <a:lnRef idx="0"/>
          <a:fillRef idx="0"/>
          <a:effectRef idx="0"/>
          <a:fontRef idx="minor"/>
        </p:style>
        <p:txBody>
          <a:bodyPr lIns="90000" rIns="90000" tIns="45000" bIns="45000">
            <a:spAutoFit/>
          </a:bodyPr>
          <a:p>
            <a:pPr>
              <a:lnSpc>
                <a:spcPct val="100000"/>
              </a:lnSpc>
              <a:spcAft>
                <a:spcPts val="601"/>
              </a:spcAft>
            </a:pPr>
            <a:r>
              <a:rPr b="0" lang="en-US" sz="1400" spc="-1" strike="noStrike">
                <a:solidFill>
                  <a:srgbClr val="000000"/>
                </a:solidFill>
                <a:latin typeface="Aptos"/>
              </a:rPr>
              <a:t>Connection strength varies (from 0 to 1)</a:t>
            </a:r>
            <a:endParaRPr b="0" lang="es-ES" sz="1400" spc="-1" strike="noStrike">
              <a:latin typeface="Arial"/>
            </a:endParaRPr>
          </a:p>
          <a:p>
            <a:pPr>
              <a:lnSpc>
                <a:spcPct val="100000"/>
              </a:lnSpc>
              <a:spcAft>
                <a:spcPts val="601"/>
              </a:spcAft>
            </a:pPr>
            <a:r>
              <a:rPr b="0" lang="en-US" sz="1400" spc="-1" strike="noStrike">
                <a:solidFill>
                  <a:srgbClr val="000000"/>
                </a:solidFill>
                <a:latin typeface="Aptos"/>
              </a:rPr>
              <a:t>Soft-threshold</a:t>
            </a:r>
            <a:endParaRPr b="0" lang="es-ES" sz="1400" spc="-1" strike="noStrike">
              <a:latin typeface="Arial"/>
            </a:endParaRPr>
          </a:p>
        </p:txBody>
      </p:sp>
      <p:sp>
        <p:nvSpPr>
          <p:cNvPr id="348" name="Line 163"/>
          <p:cNvSpPr/>
          <p:nvPr/>
        </p:nvSpPr>
        <p:spPr>
          <a:xfrm>
            <a:off x="6095880" y="1744200"/>
            <a:ext cx="0" cy="5113800"/>
          </a:xfrm>
          <a:prstGeom prst="line">
            <a:avLst/>
          </a:prstGeom>
          <a:ln>
            <a:solidFill>
              <a:schemeClr val="tx1"/>
            </a:solidFill>
          </a:ln>
        </p:spPr>
        <p:style>
          <a:lnRef idx="2">
            <a:schemeClr val="accent1"/>
          </a:lnRef>
          <a:fillRef idx="0">
            <a:schemeClr val="accent1"/>
          </a:fillRef>
          <a:effectRef idx="1">
            <a:schemeClr val="accent1"/>
          </a:effectRef>
          <a:fontRef idx="minor"/>
        </p:style>
      </p:sp>
      <p:grpSp>
        <p:nvGrpSpPr>
          <p:cNvPr id="349" name="Group 164"/>
          <p:cNvGrpSpPr/>
          <p:nvPr/>
        </p:nvGrpSpPr>
        <p:grpSpPr>
          <a:xfrm>
            <a:off x="4734000" y="4460400"/>
            <a:ext cx="2708280" cy="1878480"/>
            <a:chOff x="4734000" y="4460400"/>
            <a:chExt cx="2708280" cy="1878480"/>
          </a:xfrm>
        </p:grpSpPr>
        <p:sp>
          <p:nvSpPr>
            <p:cNvPr id="350" name="CustomShape 165"/>
            <p:cNvSpPr/>
            <p:nvPr/>
          </p:nvSpPr>
          <p:spPr>
            <a:xfrm>
              <a:off x="4734000" y="4485960"/>
              <a:ext cx="2708280" cy="174960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p:style>
        </p:sp>
        <p:sp>
          <p:nvSpPr>
            <p:cNvPr id="351" name="CustomShape 166"/>
            <p:cNvSpPr/>
            <p:nvPr/>
          </p:nvSpPr>
          <p:spPr>
            <a:xfrm rot="2358000">
              <a:off x="4917600" y="5060880"/>
              <a:ext cx="263880" cy="263880"/>
            </a:xfrm>
            <a:prstGeom prst="ellipse">
              <a:avLst/>
            </a:prstGeom>
            <a:ln/>
          </p:spPr>
          <p:style>
            <a:lnRef idx="2">
              <a:schemeClr val="accent1">
                <a:shade val="15000"/>
              </a:schemeClr>
            </a:lnRef>
            <a:fillRef idx="1">
              <a:schemeClr val="accent1"/>
            </a:fillRef>
            <a:effectRef idx="0">
              <a:schemeClr val="accent1"/>
            </a:effectRef>
            <a:fontRef idx="minor"/>
          </p:style>
        </p:sp>
        <p:sp>
          <p:nvSpPr>
            <p:cNvPr id="352" name="Line 167"/>
            <p:cNvSpPr/>
            <p:nvPr/>
          </p:nvSpPr>
          <p:spPr>
            <a:xfrm>
              <a:off x="4815000" y="5490720"/>
              <a:ext cx="439560" cy="0"/>
            </a:xfrm>
            <a:prstGeom prst="line">
              <a:avLst/>
            </a:prstGeom>
            <a:ln>
              <a:solidFill>
                <a:schemeClr val="bg2">
                  <a:lumMod val="75000"/>
                </a:schemeClr>
              </a:solidFill>
            </a:ln>
          </p:spPr>
          <p:style>
            <a:lnRef idx="2">
              <a:schemeClr val="dk1"/>
            </a:lnRef>
            <a:fillRef idx="0">
              <a:schemeClr val="dk1"/>
            </a:fillRef>
            <a:effectRef idx="1">
              <a:schemeClr val="dk1"/>
            </a:effectRef>
            <a:fontRef idx="minor"/>
          </p:style>
        </p:sp>
        <p:sp>
          <p:nvSpPr>
            <p:cNvPr id="353" name="Line 168"/>
            <p:cNvSpPr/>
            <p:nvPr/>
          </p:nvSpPr>
          <p:spPr>
            <a:xfrm>
              <a:off x="4829400" y="5732280"/>
              <a:ext cx="439920" cy="0"/>
            </a:xfrm>
            <a:prstGeom prst="line">
              <a:avLst/>
            </a:prstGeom>
            <a:ln w="38160">
              <a:solidFill>
                <a:schemeClr val="tx1"/>
              </a:solidFill>
            </a:ln>
          </p:spPr>
          <p:style>
            <a:lnRef idx="2">
              <a:schemeClr val="dk1"/>
            </a:lnRef>
            <a:fillRef idx="0">
              <a:schemeClr val="dk1"/>
            </a:fillRef>
            <a:effectRef idx="1">
              <a:schemeClr val="dk1"/>
            </a:effectRef>
            <a:fontRef idx="minor"/>
          </p:style>
        </p:sp>
        <p:sp>
          <p:nvSpPr>
            <p:cNvPr id="354" name="Line 169"/>
            <p:cNvSpPr/>
            <p:nvPr/>
          </p:nvSpPr>
          <p:spPr>
            <a:xfrm>
              <a:off x="4829400" y="5964480"/>
              <a:ext cx="439920" cy="0"/>
            </a:xfrm>
            <a:prstGeom prst="line">
              <a:avLst/>
            </a:prstGeom>
            <a:ln w="76320">
              <a:solidFill>
                <a:schemeClr val="tx1"/>
              </a:solidFill>
            </a:ln>
          </p:spPr>
          <p:style>
            <a:lnRef idx="2">
              <a:schemeClr val="dk1"/>
            </a:lnRef>
            <a:fillRef idx="0">
              <a:schemeClr val="dk1"/>
            </a:fillRef>
            <a:effectRef idx="1">
              <a:schemeClr val="dk1"/>
            </a:effectRef>
            <a:fontRef idx="minor"/>
          </p:style>
        </p:sp>
        <p:sp>
          <p:nvSpPr>
            <p:cNvPr id="355" name="CustomShape 170"/>
            <p:cNvSpPr/>
            <p:nvPr/>
          </p:nvSpPr>
          <p:spPr>
            <a:xfrm>
              <a:off x="4917240" y="4600800"/>
              <a:ext cx="263880" cy="263880"/>
            </a:xfrm>
            <a:prstGeom prst="ellipse">
              <a:avLst/>
            </a:prstGeom>
            <a:solidFill>
              <a:srgbClr val="00b0f0"/>
            </a:solidFill>
            <a:ln w="38160"/>
          </p:spPr>
          <p:style>
            <a:lnRef idx="2">
              <a:schemeClr val="accent1">
                <a:shade val="15000"/>
              </a:schemeClr>
            </a:lnRef>
            <a:fillRef idx="1">
              <a:schemeClr val="accent1"/>
            </a:fillRef>
            <a:effectRef idx="0">
              <a:schemeClr val="accent1"/>
            </a:effectRef>
            <a:fontRef idx="minor"/>
          </p:style>
        </p:sp>
        <p:sp>
          <p:nvSpPr>
            <p:cNvPr id="356" name="CustomShape 171"/>
            <p:cNvSpPr/>
            <p:nvPr/>
          </p:nvSpPr>
          <p:spPr>
            <a:xfrm>
              <a:off x="5302800" y="5329080"/>
              <a:ext cx="1659600" cy="515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400" spc="-1" strike="noStrike">
                  <a:solidFill>
                    <a:srgbClr val="000000"/>
                  </a:solidFill>
                  <a:latin typeface="Aptos"/>
                </a:rPr>
                <a:t>Weak connections</a:t>
              </a:r>
              <a:endParaRPr b="0" lang="es-ES" sz="1400" spc="-1" strike="noStrike">
                <a:latin typeface="Arial"/>
              </a:endParaRPr>
            </a:p>
          </p:txBody>
        </p:sp>
        <p:sp>
          <p:nvSpPr>
            <p:cNvPr id="357" name="CustomShape 172"/>
            <p:cNvSpPr/>
            <p:nvPr/>
          </p:nvSpPr>
          <p:spPr>
            <a:xfrm>
              <a:off x="5302800" y="5564880"/>
              <a:ext cx="1745640" cy="515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400" spc="-1" strike="noStrike">
                  <a:solidFill>
                    <a:srgbClr val="000000"/>
                  </a:solidFill>
                  <a:latin typeface="Aptos"/>
                </a:rPr>
                <a:t>Strong connections</a:t>
              </a:r>
              <a:endParaRPr b="0" lang="es-ES" sz="1400" spc="-1" strike="noStrike">
                <a:latin typeface="Arial"/>
              </a:endParaRPr>
            </a:p>
          </p:txBody>
        </p:sp>
        <p:sp>
          <p:nvSpPr>
            <p:cNvPr id="358" name="CustomShape 173"/>
            <p:cNvSpPr/>
            <p:nvPr/>
          </p:nvSpPr>
          <p:spPr>
            <a:xfrm>
              <a:off x="5302800" y="5823000"/>
              <a:ext cx="2137320" cy="5158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400" spc="-1" strike="noStrike">
                  <a:solidFill>
                    <a:srgbClr val="000000"/>
                  </a:solidFill>
                  <a:latin typeface="Aptos"/>
                </a:rPr>
                <a:t>Very Strong connections</a:t>
              </a:r>
              <a:endParaRPr b="0" lang="es-ES" sz="1400" spc="-1" strike="noStrike">
                <a:latin typeface="Arial"/>
              </a:endParaRPr>
            </a:p>
          </p:txBody>
        </p:sp>
        <p:sp>
          <p:nvSpPr>
            <p:cNvPr id="359" name="CustomShape 174"/>
            <p:cNvSpPr/>
            <p:nvPr/>
          </p:nvSpPr>
          <p:spPr>
            <a:xfrm>
              <a:off x="5300640" y="5039280"/>
              <a:ext cx="1659600" cy="30348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400" spc="-1" strike="noStrike">
                  <a:solidFill>
                    <a:srgbClr val="000000"/>
                  </a:solidFill>
                  <a:latin typeface="Aptos"/>
                </a:rPr>
                <a:t>Gene/Isoform</a:t>
              </a:r>
              <a:endParaRPr b="0" lang="es-ES" sz="1400" spc="-1" strike="noStrike">
                <a:latin typeface="Arial"/>
              </a:endParaRPr>
            </a:p>
          </p:txBody>
        </p:sp>
        <p:sp>
          <p:nvSpPr>
            <p:cNvPr id="360" name="CustomShape 175"/>
            <p:cNvSpPr/>
            <p:nvPr/>
          </p:nvSpPr>
          <p:spPr>
            <a:xfrm>
              <a:off x="5288040" y="4460400"/>
              <a:ext cx="2102040" cy="72900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400" spc="-1" strike="noStrike">
                  <a:solidFill>
                    <a:srgbClr val="000000"/>
                  </a:solidFill>
                  <a:latin typeface="Aptos"/>
                </a:rPr>
                <a:t>Hub Gene/Isoform</a:t>
              </a:r>
              <a:endParaRPr b="0" lang="es-ES" sz="1400" spc="-1" strike="noStrike">
                <a:latin typeface="Arial"/>
              </a:endParaRPr>
            </a:p>
            <a:p>
              <a:pPr>
                <a:lnSpc>
                  <a:spcPct val="100000"/>
                </a:lnSpc>
              </a:pPr>
              <a:r>
                <a:rPr b="0" lang="en-US" sz="1400" spc="-1" strike="noStrike">
                  <a:solidFill>
                    <a:srgbClr val="000000"/>
                  </a:solidFill>
                  <a:latin typeface="Aptos"/>
                </a:rPr>
                <a:t>(potential driver genes)</a:t>
              </a:r>
              <a:endParaRPr b="0" lang="es-ES" sz="1400" spc="-1" strike="noStrike">
                <a:latin typeface="Arial"/>
              </a:endParaRPr>
            </a:p>
          </p:txBody>
        </p:sp>
      </p:gr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CustomShape 1"/>
          <p:cNvSpPr/>
          <p:nvPr/>
        </p:nvSpPr>
        <p:spPr>
          <a:xfrm>
            <a:off x="3455280" y="553320"/>
            <a:ext cx="5281200" cy="91260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000000"/>
                </a:solidFill>
                <a:latin typeface="Aptos"/>
              </a:rPr>
              <a:t>WGCNA</a:t>
            </a:r>
            <a:endParaRPr b="0" lang="es-ES" sz="1800" spc="-1" strike="noStrike">
              <a:latin typeface="Arial"/>
            </a:endParaRPr>
          </a:p>
          <a:p>
            <a:pPr algn="ctr">
              <a:lnSpc>
                <a:spcPct val="100000"/>
              </a:lnSpc>
            </a:pPr>
            <a:r>
              <a:rPr b="1" lang="en-US" sz="1800" spc="-1" strike="noStrike">
                <a:solidFill>
                  <a:srgbClr val="000000"/>
                </a:solidFill>
                <a:latin typeface="Aptos"/>
              </a:rPr>
              <a:t>Weighted Gene Co-expression Network Analysis</a:t>
            </a:r>
            <a:endParaRPr b="0" lang="es-ES" sz="1800" spc="-1" strike="noStrike">
              <a:latin typeface="Arial"/>
            </a:endParaRPr>
          </a:p>
        </p:txBody>
      </p:sp>
      <p:pic>
        <p:nvPicPr>
          <p:cNvPr id="362" name="Imagen 22" descr=""/>
          <p:cNvPicPr/>
          <p:nvPr/>
        </p:nvPicPr>
        <p:blipFill>
          <a:blip r:embed="rId1"/>
          <a:stretch/>
        </p:blipFill>
        <p:spPr>
          <a:xfrm>
            <a:off x="8877960" y="495000"/>
            <a:ext cx="635760" cy="704520"/>
          </a:xfrm>
          <a:prstGeom prst="rect">
            <a:avLst/>
          </a:prstGeom>
          <a:ln>
            <a:noFill/>
          </a:ln>
        </p:spPr>
      </p:pic>
      <p:pic>
        <p:nvPicPr>
          <p:cNvPr id="363" name="Imagen 24" descr=""/>
          <p:cNvPicPr/>
          <p:nvPr/>
        </p:nvPicPr>
        <p:blipFill>
          <a:blip r:embed="rId2"/>
          <a:stretch/>
        </p:blipFill>
        <p:spPr>
          <a:xfrm>
            <a:off x="2678040" y="553320"/>
            <a:ext cx="635760" cy="704520"/>
          </a:xfrm>
          <a:prstGeom prst="rect">
            <a:avLst/>
          </a:prstGeom>
          <a:ln>
            <a:noFill/>
          </a:ln>
        </p:spPr>
      </p:pic>
      <p:pic>
        <p:nvPicPr>
          <p:cNvPr id="364" name="Gráfico 2" descr="Burbuja de chat con relleno sólido"/>
          <p:cNvPicPr/>
          <p:nvPr/>
        </p:nvPicPr>
        <p:blipFill>
          <a:blip r:embed="rId3"/>
          <a:stretch/>
        </p:blipFill>
        <p:spPr>
          <a:xfrm flipH="1">
            <a:off x="6552000" y="553320"/>
            <a:ext cx="375480" cy="375480"/>
          </a:xfrm>
          <a:prstGeom prst="rect">
            <a:avLst/>
          </a:prstGeom>
          <a:ln>
            <a:noFill/>
          </a:ln>
        </p:spPr>
      </p:pic>
      <p:pic>
        <p:nvPicPr>
          <p:cNvPr id="365" name="Gráfico 3" descr="Burbuja de chat con relleno sólido"/>
          <p:cNvPicPr/>
          <p:nvPr/>
        </p:nvPicPr>
        <p:blipFill>
          <a:blip r:embed="rId4"/>
          <a:stretch/>
        </p:blipFill>
        <p:spPr>
          <a:xfrm flipH="1">
            <a:off x="6908400" y="554400"/>
            <a:ext cx="375480" cy="375480"/>
          </a:xfrm>
          <a:prstGeom prst="rect">
            <a:avLst/>
          </a:prstGeom>
          <a:ln>
            <a:noFill/>
          </a:ln>
        </p:spPr>
      </p:pic>
      <p:sp>
        <p:nvSpPr>
          <p:cNvPr id="366" name="CustomShape 2"/>
          <p:cNvSpPr/>
          <p:nvPr/>
        </p:nvSpPr>
        <p:spPr>
          <a:xfrm>
            <a:off x="419400" y="2004480"/>
            <a:ext cx="4017240" cy="6382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Aptos"/>
              </a:rPr>
              <a:t>Glossary of WGCNA Terminology </a:t>
            </a:r>
            <a:endParaRPr b="0" lang="es-ES" sz="1800" spc="-1" strike="noStrike">
              <a:latin typeface="Arial"/>
            </a:endParaRPr>
          </a:p>
        </p:txBody>
      </p:sp>
      <p:pic>
        <p:nvPicPr>
          <p:cNvPr id="367" name="Gráfico 5" descr="Burbuja de chat con relleno sólido"/>
          <p:cNvPicPr/>
          <p:nvPr/>
        </p:nvPicPr>
        <p:blipFill>
          <a:blip r:embed="rId5"/>
          <a:stretch/>
        </p:blipFill>
        <p:spPr>
          <a:xfrm flipH="1">
            <a:off x="3936600" y="2032200"/>
            <a:ext cx="375480" cy="375480"/>
          </a:xfrm>
          <a:prstGeom prst="rect">
            <a:avLst/>
          </a:prstGeom>
          <a:ln>
            <a:noFill/>
          </a:ln>
        </p:spPr>
      </p:pic>
      <p:sp>
        <p:nvSpPr>
          <p:cNvPr id="368" name="CustomShape 3"/>
          <p:cNvSpPr/>
          <p:nvPr/>
        </p:nvSpPr>
        <p:spPr>
          <a:xfrm>
            <a:off x="419400" y="3048840"/>
            <a:ext cx="11371680" cy="228420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marL="343080" indent="-342720">
              <a:lnSpc>
                <a:spcPct val="100000"/>
              </a:lnSpc>
              <a:buClr>
                <a:srgbClr val="000000"/>
              </a:buClr>
              <a:buFont typeface="StarSymbol"/>
              <a:buAutoNum type="arabicPeriod"/>
            </a:pPr>
            <a:r>
              <a:rPr b="1" lang="en-US" sz="1800" spc="-1" strike="noStrike">
                <a:solidFill>
                  <a:srgbClr val="000000"/>
                </a:solidFill>
                <a:latin typeface="Aptos"/>
              </a:rPr>
              <a:t>Data set</a:t>
            </a:r>
            <a:endParaRPr b="0" lang="es-ES" sz="1800" spc="-1" strike="noStrike">
              <a:latin typeface="Arial"/>
            </a:endParaRPr>
          </a:p>
          <a:p>
            <a:pPr marL="285840" indent="-285480">
              <a:lnSpc>
                <a:spcPct val="100000"/>
              </a:lnSpc>
              <a:buClr>
                <a:srgbClr val="000000"/>
              </a:buClr>
              <a:buFont typeface="Wingdings" charset="2"/>
              <a:buChar char=""/>
            </a:pPr>
            <a:r>
              <a:rPr b="0" lang="en-US" sz="1800" spc="-1" strike="noStrike">
                <a:solidFill>
                  <a:srgbClr val="000000"/>
                </a:solidFill>
                <a:latin typeface="Aptos"/>
              </a:rPr>
              <a:t>Expression matrix (normalized expression values) with rows as genes/isoforms and columns as samples.</a:t>
            </a:r>
            <a:endParaRPr b="0" lang="es-ES" sz="1800" spc="-1" strike="noStrike">
              <a:latin typeface="Arial"/>
            </a:endParaRPr>
          </a:p>
          <a:p>
            <a:pPr marL="285840" indent="-285480">
              <a:lnSpc>
                <a:spcPct val="100000"/>
              </a:lnSpc>
              <a:buClr>
                <a:srgbClr val="000000"/>
              </a:buClr>
              <a:buFont typeface="Wingdings" charset="2"/>
              <a:buChar char=""/>
            </a:pPr>
            <a:r>
              <a:rPr b="0" lang="en-US" sz="1800" spc="-1" strike="noStrike">
                <a:solidFill>
                  <a:srgbClr val="000000"/>
                </a:solidFill>
                <a:latin typeface="Aptos"/>
              </a:rPr>
              <a:t>Not filtering genes by differential expression.</a:t>
            </a:r>
            <a:endParaRPr b="0" lang="es-ES" sz="1800" spc="-1" strike="noStrike">
              <a:latin typeface="Arial"/>
            </a:endParaRPr>
          </a:p>
          <a:p>
            <a:pPr marL="285840" indent="-285480">
              <a:lnSpc>
                <a:spcPct val="100000"/>
              </a:lnSpc>
              <a:buClr>
                <a:srgbClr val="000000"/>
              </a:buClr>
              <a:buFont typeface="Wingdings" charset="2"/>
              <a:buChar char=""/>
            </a:pPr>
            <a:r>
              <a:rPr b="0" lang="en-US" sz="1800" spc="-1" strike="noStrike">
                <a:solidFill>
                  <a:srgbClr val="000000"/>
                </a:solidFill>
                <a:latin typeface="Aptos"/>
              </a:rPr>
              <a:t>It is recommended that the analysis be performed with a larger number of samples, at least 20.</a:t>
            </a:r>
            <a:endParaRPr b="0" lang="es-ES" sz="1800" spc="-1" strike="noStrike">
              <a:latin typeface="Arial"/>
            </a:endParaRPr>
          </a:p>
          <a:p>
            <a:pPr marL="285840" indent="-285480">
              <a:lnSpc>
                <a:spcPct val="100000"/>
              </a:lnSpc>
              <a:buClr>
                <a:srgbClr val="000000"/>
              </a:buClr>
              <a:buFont typeface="Wingdings" charset="2"/>
              <a:buChar char=""/>
            </a:pPr>
            <a:r>
              <a:rPr b="0" lang="en-US" sz="1800" spc="-1" strike="noStrike">
                <a:solidFill>
                  <a:srgbClr val="000000"/>
                </a:solidFill>
                <a:latin typeface="Aptos"/>
              </a:rPr>
              <a:t>Clean the data by removing obvious outlier samples as well as genes and samples with excessive numbers of missing entries.</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CustomShape 1"/>
          <p:cNvSpPr/>
          <p:nvPr/>
        </p:nvSpPr>
        <p:spPr>
          <a:xfrm>
            <a:off x="3455280" y="171000"/>
            <a:ext cx="5281200" cy="91260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000000"/>
                </a:solidFill>
                <a:latin typeface="Aptos"/>
              </a:rPr>
              <a:t>WGCNA</a:t>
            </a:r>
            <a:endParaRPr b="0" lang="es-ES" sz="1800" spc="-1" strike="noStrike">
              <a:latin typeface="Arial"/>
            </a:endParaRPr>
          </a:p>
          <a:p>
            <a:pPr algn="ctr">
              <a:lnSpc>
                <a:spcPct val="100000"/>
              </a:lnSpc>
            </a:pPr>
            <a:r>
              <a:rPr b="1" lang="en-US" sz="1800" spc="-1" strike="noStrike">
                <a:solidFill>
                  <a:srgbClr val="000000"/>
                </a:solidFill>
                <a:latin typeface="Aptos"/>
              </a:rPr>
              <a:t>Weighted Gene Co-expression Network Analysis</a:t>
            </a:r>
            <a:endParaRPr b="0" lang="es-ES" sz="1800" spc="-1" strike="noStrike">
              <a:latin typeface="Arial"/>
            </a:endParaRPr>
          </a:p>
        </p:txBody>
      </p:sp>
      <p:pic>
        <p:nvPicPr>
          <p:cNvPr id="370" name="Imagen 22" descr=""/>
          <p:cNvPicPr/>
          <p:nvPr/>
        </p:nvPicPr>
        <p:blipFill>
          <a:blip r:embed="rId1"/>
          <a:stretch/>
        </p:blipFill>
        <p:spPr>
          <a:xfrm>
            <a:off x="8877960" y="112680"/>
            <a:ext cx="635760" cy="704520"/>
          </a:xfrm>
          <a:prstGeom prst="rect">
            <a:avLst/>
          </a:prstGeom>
          <a:ln>
            <a:noFill/>
          </a:ln>
        </p:spPr>
      </p:pic>
      <p:pic>
        <p:nvPicPr>
          <p:cNvPr id="371" name="Imagen 24" descr=""/>
          <p:cNvPicPr/>
          <p:nvPr/>
        </p:nvPicPr>
        <p:blipFill>
          <a:blip r:embed="rId2"/>
          <a:stretch/>
        </p:blipFill>
        <p:spPr>
          <a:xfrm>
            <a:off x="2678040" y="171000"/>
            <a:ext cx="635760" cy="704520"/>
          </a:xfrm>
          <a:prstGeom prst="rect">
            <a:avLst/>
          </a:prstGeom>
          <a:ln>
            <a:noFill/>
          </a:ln>
        </p:spPr>
      </p:pic>
      <p:sp>
        <p:nvSpPr>
          <p:cNvPr id="372" name="CustomShape 2"/>
          <p:cNvSpPr/>
          <p:nvPr/>
        </p:nvSpPr>
        <p:spPr>
          <a:xfrm>
            <a:off x="408240" y="1080000"/>
            <a:ext cx="11351160" cy="720972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Aptos"/>
              </a:rPr>
              <a:t>2. Weighted Network construction</a:t>
            </a:r>
            <a:endParaRPr b="0" lang="es-ES" sz="1800" spc="-1" strike="noStrike">
              <a:latin typeface="Arial"/>
            </a:endParaRPr>
          </a:p>
          <a:p>
            <a:pPr>
              <a:lnSpc>
                <a:spcPct val="100000"/>
              </a:lnSpc>
            </a:pPr>
            <a:endParaRPr b="0" lang="es-ES" sz="1800" spc="-1" strike="noStrike">
              <a:latin typeface="Arial"/>
            </a:endParaRPr>
          </a:p>
          <a:p>
            <a:pPr>
              <a:lnSpc>
                <a:spcPct val="100000"/>
              </a:lnSpc>
            </a:pPr>
            <a:r>
              <a:rPr b="1" lang="en-US" sz="1800" spc="-1" strike="noStrike">
                <a:solidFill>
                  <a:srgbClr val="000000"/>
                </a:solidFill>
                <a:latin typeface="Aptos"/>
              </a:rPr>
              <a:t>Adjacency:</a:t>
            </a:r>
            <a:r>
              <a:rPr b="0" lang="en-US" sz="1800" spc="-1" strike="noStrike">
                <a:solidFill>
                  <a:srgbClr val="000000"/>
                </a:solidFill>
                <a:latin typeface="Aptos"/>
              </a:rPr>
              <a:t> matrix n x n which encodes the network </a:t>
            </a:r>
            <a:r>
              <a:rPr b="1" lang="en-US" sz="1800" spc="-1" strike="noStrike">
                <a:solidFill>
                  <a:srgbClr val="000000"/>
                </a:solidFill>
                <a:latin typeface="Aptos"/>
              </a:rPr>
              <a:t>connection strength between nodes </a:t>
            </a:r>
            <a:r>
              <a:rPr b="1" i="1" lang="en-US" sz="1800" spc="-1" strike="noStrike">
                <a:solidFill>
                  <a:srgbClr val="000000"/>
                </a:solidFill>
                <a:latin typeface="Aptos"/>
              </a:rPr>
              <a:t>i</a:t>
            </a:r>
            <a:r>
              <a:rPr b="1" lang="en-US" sz="1800" spc="-1" strike="noStrike">
                <a:solidFill>
                  <a:srgbClr val="000000"/>
                </a:solidFill>
                <a:latin typeface="Aptos"/>
              </a:rPr>
              <a:t> and </a:t>
            </a:r>
            <a:r>
              <a:rPr b="1" i="1" lang="en-US" sz="1800" spc="-1" strike="noStrike">
                <a:solidFill>
                  <a:srgbClr val="000000"/>
                </a:solidFill>
                <a:latin typeface="Aptos"/>
              </a:rPr>
              <a:t>j</a:t>
            </a:r>
            <a:r>
              <a:rPr b="0" lang="en-US" sz="1800" spc="-1" strike="noStrike">
                <a:solidFill>
                  <a:srgbClr val="000000"/>
                </a:solidFill>
                <a:latin typeface="Aptos"/>
              </a:rPr>
              <a:t>.</a:t>
            </a:r>
            <a:endParaRPr b="0" lang="es-ES" sz="1800" spc="-1" strike="noStrike">
              <a:latin typeface="Arial"/>
            </a:endParaRPr>
          </a:p>
          <a:p>
            <a:pPr>
              <a:lnSpc>
                <a:spcPct val="100000"/>
              </a:lnSpc>
            </a:pPr>
            <a:r>
              <a:rPr b="0" lang="en-US" sz="1800" spc="-1" strike="noStrike">
                <a:solidFill>
                  <a:srgbClr val="000000"/>
                </a:solidFill>
                <a:latin typeface="Aptos"/>
              </a:rPr>
              <a:t>An intermediate quantity called the </a:t>
            </a:r>
            <a:r>
              <a:rPr b="0" i="1" lang="en-US" sz="1800" spc="-1" strike="noStrike">
                <a:solidFill>
                  <a:srgbClr val="000000"/>
                </a:solidFill>
                <a:latin typeface="Aptos"/>
              </a:rPr>
              <a:t>co-expression </a:t>
            </a:r>
            <a:r>
              <a:rPr b="1" i="1" lang="en-US" sz="1800" spc="-1" strike="noStrike">
                <a:solidFill>
                  <a:srgbClr val="000000"/>
                </a:solidFill>
                <a:latin typeface="Aptos"/>
              </a:rPr>
              <a:t>similarity</a:t>
            </a:r>
            <a:r>
              <a:rPr b="0" i="1" lang="en-US" sz="1800" spc="-1" strike="noStrike">
                <a:solidFill>
                  <a:srgbClr val="000000"/>
                </a:solidFill>
                <a:latin typeface="Aptos"/>
              </a:rPr>
              <a:t> </a:t>
            </a:r>
            <a:r>
              <a:rPr b="1" i="1" lang="en-US" sz="1800" spc="-1" strike="noStrike">
                <a:solidFill>
                  <a:srgbClr val="000000"/>
                </a:solidFill>
                <a:latin typeface="Aptos"/>
              </a:rPr>
              <a:t>s</a:t>
            </a:r>
            <a:r>
              <a:rPr b="1" lang="en-US" sz="1800" spc="-1" strike="noStrike" baseline="-25000">
                <a:solidFill>
                  <a:srgbClr val="000000"/>
                </a:solidFill>
                <a:latin typeface="Aptos"/>
              </a:rPr>
              <a:t> </a:t>
            </a:r>
            <a:r>
              <a:rPr b="1" i="1" lang="en-US" sz="1800" spc="-1" strike="noStrike" baseline="-25000">
                <a:solidFill>
                  <a:srgbClr val="000000"/>
                </a:solidFill>
                <a:latin typeface="Aptos"/>
              </a:rPr>
              <a:t>ij</a:t>
            </a:r>
            <a:r>
              <a:rPr b="1" lang="en-US" sz="1800" spc="-1" strike="noStrike" baseline="-25000">
                <a:solidFill>
                  <a:srgbClr val="000000"/>
                </a:solidFill>
                <a:latin typeface="Aptos"/>
              </a:rPr>
              <a:t> </a:t>
            </a:r>
            <a:r>
              <a:rPr b="0" lang="en-US" sz="1800" spc="-1" strike="noStrike">
                <a:solidFill>
                  <a:srgbClr val="000000"/>
                </a:solidFill>
                <a:latin typeface="Aptos"/>
              </a:rPr>
              <a:t>is first defined to calculate the adjacency matrix.</a:t>
            </a:r>
            <a:endParaRPr b="0" lang="es-ES" sz="1800" spc="-1" strike="noStrike">
              <a:latin typeface="Arial"/>
            </a:endParaRPr>
          </a:p>
          <a:p>
            <a:pPr>
              <a:lnSpc>
                <a:spcPct val="100000"/>
              </a:lnSpc>
            </a:pPr>
            <a:r>
              <a:rPr b="0" lang="en-US" sz="1800" spc="-1" strike="noStrike">
                <a:solidFill>
                  <a:srgbClr val="000000"/>
                </a:solidFill>
                <a:latin typeface="Aptos"/>
              </a:rPr>
              <a:t>The default method defines the co-expression </a:t>
            </a:r>
            <a:r>
              <a:rPr b="1" lang="en-US" sz="1800" spc="-1" strike="noStrike">
                <a:solidFill>
                  <a:srgbClr val="000000"/>
                </a:solidFill>
                <a:latin typeface="Aptos"/>
              </a:rPr>
              <a:t>similarity </a:t>
            </a:r>
            <a:r>
              <a:rPr b="1" i="1" lang="en-US" sz="1800" spc="-1" strike="noStrike">
                <a:solidFill>
                  <a:srgbClr val="000000"/>
                </a:solidFill>
                <a:latin typeface="Aptos"/>
              </a:rPr>
              <a:t>s</a:t>
            </a:r>
            <a:r>
              <a:rPr b="1" lang="en-US" sz="1800" spc="-1" strike="noStrike" baseline="-25000">
                <a:solidFill>
                  <a:srgbClr val="000000"/>
                </a:solidFill>
                <a:latin typeface="Aptos"/>
              </a:rPr>
              <a:t> </a:t>
            </a:r>
            <a:r>
              <a:rPr b="1" i="1" lang="en-US" sz="1800" spc="-1" strike="noStrike" baseline="-25000">
                <a:solidFill>
                  <a:srgbClr val="000000"/>
                </a:solidFill>
                <a:latin typeface="Aptos"/>
              </a:rPr>
              <a:t>ij</a:t>
            </a:r>
            <a:r>
              <a:rPr b="1" lang="en-US" sz="1800" spc="-1" strike="noStrike" baseline="-25000">
                <a:solidFill>
                  <a:srgbClr val="000000"/>
                </a:solidFill>
                <a:latin typeface="Aptos"/>
              </a:rPr>
              <a:t> </a:t>
            </a:r>
            <a:r>
              <a:rPr b="1" lang="en-US" sz="1800" spc="-1" strike="noStrike">
                <a:solidFill>
                  <a:srgbClr val="000000"/>
                </a:solidFill>
                <a:latin typeface="Aptos"/>
              </a:rPr>
              <a:t>as the absolute value of the correlation coefficient </a:t>
            </a:r>
            <a:r>
              <a:rPr b="0" lang="en-US" sz="1800" spc="-1" strike="noStrike">
                <a:solidFill>
                  <a:srgbClr val="000000"/>
                </a:solidFill>
                <a:latin typeface="Aptos"/>
              </a:rPr>
              <a:t>(Pearson, biweight or the Spearman correlation) between the profiles of nodes </a:t>
            </a:r>
            <a:r>
              <a:rPr b="0" i="1" lang="en-US" sz="1800" spc="-1" strike="noStrike">
                <a:solidFill>
                  <a:srgbClr val="000000"/>
                </a:solidFill>
                <a:latin typeface="Aptos"/>
              </a:rPr>
              <a:t>i</a:t>
            </a:r>
            <a:r>
              <a:rPr b="0" lang="en-US" sz="1800" spc="-1" strike="noStrike">
                <a:solidFill>
                  <a:srgbClr val="000000"/>
                </a:solidFill>
                <a:latin typeface="Aptos"/>
              </a:rPr>
              <a:t> and </a:t>
            </a:r>
            <a:r>
              <a:rPr b="0" i="1" lang="en-US" sz="1800" spc="-1" strike="noStrike">
                <a:solidFill>
                  <a:srgbClr val="000000"/>
                </a:solidFill>
                <a:latin typeface="Aptos"/>
              </a:rPr>
              <a:t>j</a:t>
            </a:r>
            <a:r>
              <a:rPr b="0" lang="en-US" sz="1800" spc="-1" strike="noStrike">
                <a:solidFill>
                  <a:srgbClr val="000000"/>
                </a:solidFill>
                <a:latin typeface="Aptos"/>
              </a:rPr>
              <a:t>:</a:t>
            </a:r>
            <a:r>
              <a:rPr b="1" i="1" lang="en-US" sz="1800" spc="-1" strike="noStrike">
                <a:solidFill>
                  <a:srgbClr val="000000"/>
                </a:solidFill>
                <a:latin typeface="Aptos"/>
              </a:rPr>
              <a:t>s</a:t>
            </a:r>
            <a:r>
              <a:rPr b="1" lang="en-US" sz="1800" spc="-1" strike="noStrike" baseline="-25000">
                <a:solidFill>
                  <a:srgbClr val="000000"/>
                </a:solidFill>
                <a:latin typeface="Aptos"/>
              </a:rPr>
              <a:t> </a:t>
            </a:r>
            <a:r>
              <a:rPr b="1" i="1" lang="en-US" sz="1800" spc="-1" strike="noStrike" baseline="-25000">
                <a:solidFill>
                  <a:srgbClr val="000000"/>
                </a:solidFill>
                <a:latin typeface="Aptos"/>
              </a:rPr>
              <a:t>ij</a:t>
            </a:r>
            <a:r>
              <a:rPr b="1" lang="en-US" sz="1800" spc="-1" strike="noStrike" baseline="-25000">
                <a:solidFill>
                  <a:srgbClr val="000000"/>
                </a:solidFill>
                <a:latin typeface="Aptos"/>
              </a:rPr>
              <a:t> </a:t>
            </a:r>
            <a:r>
              <a:rPr b="1" lang="en-US" sz="1800" spc="-1" strike="noStrike">
                <a:solidFill>
                  <a:srgbClr val="000000"/>
                </a:solidFill>
                <a:latin typeface="Aptos"/>
              </a:rPr>
              <a:t>= |</a:t>
            </a:r>
            <a:r>
              <a:rPr b="1" i="1" lang="en-US" sz="1800" spc="-1" strike="noStrike">
                <a:solidFill>
                  <a:srgbClr val="000000"/>
                </a:solidFill>
                <a:latin typeface="Aptos"/>
              </a:rPr>
              <a:t>cor</a:t>
            </a:r>
            <a:r>
              <a:rPr b="1" lang="en-US" sz="1800" spc="-1" strike="noStrike">
                <a:solidFill>
                  <a:srgbClr val="000000"/>
                </a:solidFill>
                <a:latin typeface="Aptos"/>
              </a:rPr>
              <a:t>(</a:t>
            </a:r>
            <a:r>
              <a:rPr b="1" i="1" lang="en-US" sz="1800" spc="-1" strike="noStrike">
                <a:solidFill>
                  <a:srgbClr val="000000"/>
                </a:solidFill>
                <a:latin typeface="Aptos"/>
              </a:rPr>
              <a:t>x</a:t>
            </a:r>
            <a:r>
              <a:rPr b="1" lang="en-US" sz="1800" spc="-1" strike="noStrike" baseline="-25000">
                <a:solidFill>
                  <a:srgbClr val="000000"/>
                </a:solidFill>
                <a:latin typeface="Aptos"/>
              </a:rPr>
              <a:t> </a:t>
            </a:r>
            <a:r>
              <a:rPr b="1" i="1" lang="en-US" sz="1800" spc="-1" strike="noStrike" baseline="-25000">
                <a:solidFill>
                  <a:srgbClr val="000000"/>
                </a:solidFill>
                <a:latin typeface="Aptos"/>
              </a:rPr>
              <a:t>i</a:t>
            </a:r>
            <a:r>
              <a:rPr b="1" lang="en-US" sz="1800" spc="-1" strike="noStrike" baseline="-25000">
                <a:solidFill>
                  <a:srgbClr val="000000"/>
                </a:solidFill>
                <a:latin typeface="Aptos"/>
              </a:rPr>
              <a:t> </a:t>
            </a:r>
            <a:r>
              <a:rPr b="1" lang="en-US" sz="1800" spc="-1" strike="noStrike">
                <a:solidFill>
                  <a:srgbClr val="000000"/>
                </a:solidFill>
                <a:latin typeface="Aptos"/>
              </a:rPr>
              <a:t>, </a:t>
            </a:r>
            <a:r>
              <a:rPr b="1" i="1" lang="en-US" sz="1800" spc="-1" strike="noStrike">
                <a:solidFill>
                  <a:srgbClr val="000000"/>
                </a:solidFill>
                <a:latin typeface="Aptos"/>
              </a:rPr>
              <a:t>x</a:t>
            </a:r>
            <a:r>
              <a:rPr b="1" lang="en-US" sz="1800" spc="-1" strike="noStrike" baseline="-25000">
                <a:solidFill>
                  <a:srgbClr val="000000"/>
                </a:solidFill>
                <a:latin typeface="Aptos"/>
              </a:rPr>
              <a:t> </a:t>
            </a:r>
            <a:r>
              <a:rPr b="1" i="1" lang="en-US" sz="1800" spc="-1" strike="noStrike" baseline="-25000">
                <a:solidFill>
                  <a:srgbClr val="000000"/>
                </a:solidFill>
                <a:latin typeface="Aptos"/>
              </a:rPr>
              <a:t>j</a:t>
            </a:r>
            <a:r>
              <a:rPr b="1" lang="en-US" sz="1800" spc="-1" strike="noStrike" baseline="-25000">
                <a:solidFill>
                  <a:srgbClr val="000000"/>
                </a:solidFill>
                <a:latin typeface="Aptos"/>
              </a:rPr>
              <a:t> </a:t>
            </a:r>
            <a:r>
              <a:rPr b="1" lang="en-US" sz="1800" spc="-1" strike="noStrike">
                <a:solidFill>
                  <a:srgbClr val="000000"/>
                </a:solidFill>
                <a:latin typeface="Aptos"/>
              </a:rPr>
              <a:t>)|.</a:t>
            </a:r>
            <a:endParaRPr b="0" lang="es-ES" sz="1800" spc="-1" strike="noStrike">
              <a:latin typeface="Arial"/>
            </a:endParaRPr>
          </a:p>
          <a:p>
            <a:pPr>
              <a:lnSpc>
                <a:spcPct val="100000"/>
              </a:lnSpc>
            </a:pPr>
            <a:r>
              <a:rPr b="0" lang="en-US" sz="1800" spc="-1" strike="noStrike">
                <a:solidFill>
                  <a:srgbClr val="000000"/>
                </a:solidFill>
                <a:latin typeface="Aptos"/>
              </a:rPr>
              <a:t>The co-expression </a:t>
            </a:r>
            <a:r>
              <a:rPr b="1" lang="en-US" sz="1800" spc="-1" strike="noStrike">
                <a:solidFill>
                  <a:srgbClr val="000000"/>
                </a:solidFill>
                <a:latin typeface="Aptos"/>
              </a:rPr>
              <a:t>similarity is transformed into the adjacency using a thresholding procedure</a:t>
            </a:r>
            <a:r>
              <a:rPr b="0" lang="en-US" sz="1800" spc="-1" strike="noStrike">
                <a:solidFill>
                  <a:srgbClr val="000000"/>
                </a:solidFill>
                <a:latin typeface="Aptos"/>
              </a:rPr>
              <a:t>.</a:t>
            </a:r>
            <a:endParaRPr b="0" lang="es-ES" sz="1800" spc="-1" strike="noStrike">
              <a:latin typeface="Arial"/>
            </a:endParaRPr>
          </a:p>
          <a:p>
            <a:pPr>
              <a:lnSpc>
                <a:spcPct val="100000"/>
              </a:lnSpc>
            </a:pPr>
            <a:endParaRPr b="0" lang="es-ES" sz="1800" spc="-1" strike="noStrike">
              <a:latin typeface="Arial"/>
            </a:endParaRPr>
          </a:p>
          <a:p>
            <a:pPr>
              <a:lnSpc>
                <a:spcPct val="100000"/>
              </a:lnSpc>
            </a:pPr>
            <a:r>
              <a:rPr b="0" i="1" lang="en-US" sz="1800" spc="-1" strike="noStrike" u="sng">
                <a:solidFill>
                  <a:srgbClr val="000000"/>
                </a:solidFill>
                <a:uFillTx/>
                <a:latin typeface="Aptos"/>
              </a:rPr>
              <a:t>Unweighted networks: </a:t>
            </a:r>
            <a:r>
              <a:rPr b="0" lang="en-US" sz="1800" spc="-1" strike="noStrike">
                <a:solidFill>
                  <a:srgbClr val="000000"/>
                </a:solidFill>
                <a:latin typeface="Aptos"/>
              </a:rPr>
              <a:t>adjacency </a:t>
            </a:r>
            <a:r>
              <a:rPr b="0" i="1" lang="en-US" sz="1800" spc="-1" strike="noStrike">
                <a:solidFill>
                  <a:srgbClr val="000000"/>
                </a:solidFill>
                <a:latin typeface="Aptos"/>
              </a:rPr>
              <a:t>a</a:t>
            </a:r>
            <a:r>
              <a:rPr b="0" lang="en-US" sz="1800" spc="-1" strike="noStrike" baseline="-25000">
                <a:solidFill>
                  <a:srgbClr val="000000"/>
                </a:solidFill>
                <a:latin typeface="Aptos"/>
              </a:rPr>
              <a:t> </a:t>
            </a:r>
            <a:r>
              <a:rPr b="0" i="1" lang="en-US" sz="1800" spc="-1" strike="noStrike" baseline="-25000">
                <a:solidFill>
                  <a:srgbClr val="000000"/>
                </a:solidFill>
                <a:latin typeface="Aptos"/>
              </a:rPr>
              <a:t>ij</a:t>
            </a:r>
            <a:r>
              <a:rPr b="0" lang="en-US" sz="1800" spc="-1" strike="noStrike" baseline="-25000">
                <a:solidFill>
                  <a:srgbClr val="000000"/>
                </a:solidFill>
                <a:latin typeface="Aptos"/>
              </a:rPr>
              <a:t> </a:t>
            </a:r>
            <a:r>
              <a:rPr b="0" lang="en-US" sz="1800" spc="-1" strike="noStrike">
                <a:solidFill>
                  <a:srgbClr val="000000"/>
                </a:solidFill>
                <a:latin typeface="Aptos"/>
              </a:rPr>
              <a:t>between gene expression profiles </a:t>
            </a:r>
            <a:r>
              <a:rPr b="0" i="1" lang="en-US" sz="1800" spc="-1" strike="noStrike">
                <a:solidFill>
                  <a:srgbClr val="000000"/>
                </a:solidFill>
                <a:latin typeface="Aptos"/>
              </a:rPr>
              <a:t>x</a:t>
            </a:r>
            <a:r>
              <a:rPr b="0" lang="en-US" sz="1800" spc="-1" strike="noStrike" baseline="-25000">
                <a:solidFill>
                  <a:srgbClr val="000000"/>
                </a:solidFill>
                <a:latin typeface="Aptos"/>
              </a:rPr>
              <a:t> </a:t>
            </a:r>
            <a:r>
              <a:rPr b="0" i="1" lang="en-US" sz="1800" spc="-1" strike="noStrike" baseline="-25000">
                <a:solidFill>
                  <a:srgbClr val="000000"/>
                </a:solidFill>
                <a:latin typeface="Aptos"/>
              </a:rPr>
              <a:t>i</a:t>
            </a:r>
            <a:r>
              <a:rPr b="0" lang="en-US" sz="1800" spc="-1" strike="noStrike" baseline="-25000">
                <a:solidFill>
                  <a:srgbClr val="000000"/>
                </a:solidFill>
                <a:latin typeface="Aptos"/>
              </a:rPr>
              <a:t> </a:t>
            </a:r>
            <a:r>
              <a:rPr b="0" lang="en-US" sz="1800" spc="-1" strike="noStrike">
                <a:solidFill>
                  <a:srgbClr val="000000"/>
                </a:solidFill>
                <a:latin typeface="Aptos"/>
              </a:rPr>
              <a:t>and </a:t>
            </a:r>
            <a:r>
              <a:rPr b="0" i="1" lang="en-US" sz="1800" spc="-1" strike="noStrike">
                <a:solidFill>
                  <a:srgbClr val="000000"/>
                </a:solidFill>
                <a:latin typeface="Aptos"/>
              </a:rPr>
              <a:t>x</a:t>
            </a:r>
            <a:r>
              <a:rPr b="0" lang="en-US" sz="1800" spc="-1" strike="noStrike" baseline="-25000">
                <a:solidFill>
                  <a:srgbClr val="000000"/>
                </a:solidFill>
                <a:latin typeface="Aptos"/>
              </a:rPr>
              <a:t> </a:t>
            </a:r>
            <a:r>
              <a:rPr b="0" i="1" lang="en-US" sz="1800" spc="-1" strike="noStrike" baseline="-25000">
                <a:solidFill>
                  <a:srgbClr val="000000"/>
                </a:solidFill>
                <a:latin typeface="Aptos"/>
              </a:rPr>
              <a:t>j</a:t>
            </a:r>
            <a:r>
              <a:rPr b="0" lang="en-US" sz="1800" spc="-1" strike="noStrike" baseline="-25000">
                <a:solidFill>
                  <a:srgbClr val="000000"/>
                </a:solidFill>
                <a:latin typeface="Aptos"/>
              </a:rPr>
              <a:t> </a:t>
            </a:r>
            <a:r>
              <a:rPr b="0" lang="en-US" sz="1800" spc="-1" strike="noStrike">
                <a:solidFill>
                  <a:srgbClr val="000000"/>
                </a:solidFill>
                <a:latin typeface="Aptos"/>
              </a:rPr>
              <a:t>can be defined by </a:t>
            </a:r>
            <a:r>
              <a:rPr b="1" lang="en-US" sz="1800" spc="-1" strike="noStrike">
                <a:solidFill>
                  <a:srgbClr val="000000"/>
                </a:solidFill>
                <a:latin typeface="Aptos"/>
              </a:rPr>
              <a:t>hard thresholding</a:t>
            </a:r>
            <a:r>
              <a:rPr b="0" lang="en-US" sz="1800" spc="-1" strike="noStrike">
                <a:solidFill>
                  <a:srgbClr val="000000"/>
                </a:solidFill>
                <a:latin typeface="Aptos"/>
              </a:rPr>
              <a:t> the co-expression similarity </a:t>
            </a:r>
            <a:r>
              <a:rPr b="0" i="1" lang="en-US" sz="1800" spc="-1" strike="noStrike">
                <a:solidFill>
                  <a:srgbClr val="000000"/>
                </a:solidFill>
                <a:latin typeface="Aptos"/>
              </a:rPr>
              <a:t>s</a:t>
            </a:r>
            <a:r>
              <a:rPr b="0" lang="en-US" sz="1800" spc="-1" strike="noStrike" baseline="-25000">
                <a:solidFill>
                  <a:srgbClr val="000000"/>
                </a:solidFill>
                <a:latin typeface="Aptos"/>
              </a:rPr>
              <a:t> </a:t>
            </a:r>
            <a:r>
              <a:rPr b="0" i="1" lang="en-US" sz="1800" spc="-1" strike="noStrike" baseline="-25000">
                <a:solidFill>
                  <a:srgbClr val="000000"/>
                </a:solidFill>
                <a:latin typeface="Aptos"/>
              </a:rPr>
              <a:t>ij</a:t>
            </a:r>
            <a:r>
              <a:rPr b="0" lang="en-US" sz="1800" spc="-1" strike="noStrike" baseline="-25000">
                <a:solidFill>
                  <a:srgbClr val="000000"/>
                </a:solidFill>
                <a:latin typeface="Aptos"/>
              </a:rPr>
              <a:t> </a:t>
            </a:r>
            <a:r>
              <a:rPr b="0" lang="en-US" sz="1800" spc="-1" strike="noStrike">
                <a:solidFill>
                  <a:srgbClr val="000000"/>
                </a:solidFill>
                <a:latin typeface="Aptos"/>
              </a:rPr>
              <a:t>as</a:t>
            </a:r>
            <a:endParaRPr b="0" lang="es-ES" sz="1800" spc="-1" strike="noStrike">
              <a:latin typeface="Arial"/>
            </a:endParaRPr>
          </a:p>
          <a:p>
            <a:pPr>
              <a:lnSpc>
                <a:spcPct val="100000"/>
              </a:lnSpc>
            </a:pPr>
            <a:r>
              <a:rPr b="0" lang="en-US" sz="1800" spc="-1" strike="noStrike">
                <a:solidFill>
                  <a:srgbClr val="000000"/>
                </a:solidFill>
                <a:latin typeface="Aptos"/>
              </a:rPr>
              <a:t>                                           </a:t>
            </a:r>
            <a:r>
              <a:rPr b="0" lang="en-US" sz="1800" spc="-1" strike="noStrike">
                <a:solidFill>
                  <a:srgbClr val="000000"/>
                </a:solidFill>
                <a:latin typeface="Aptos"/>
              </a:rPr>
              <a:t>where </a:t>
            </a:r>
            <a:r>
              <a:rPr b="0" i="1" lang="en-US" sz="1800" spc="-1" strike="noStrike">
                <a:solidFill>
                  <a:srgbClr val="000000"/>
                </a:solidFill>
                <a:latin typeface="Aptos"/>
              </a:rPr>
              <a:t>τ</a:t>
            </a:r>
            <a:r>
              <a:rPr b="0" lang="en-US" sz="1800" spc="-1" strike="noStrike">
                <a:solidFill>
                  <a:srgbClr val="000000"/>
                </a:solidFill>
                <a:latin typeface="Aptos"/>
              </a:rPr>
              <a:t> is the "hard" threshold parameter. Thus, two genes are linked (</a:t>
            </a:r>
            <a:r>
              <a:rPr b="0" i="1" lang="en-US" sz="1800" spc="-1" strike="noStrike">
                <a:solidFill>
                  <a:srgbClr val="000000"/>
                </a:solidFill>
                <a:latin typeface="Aptos"/>
              </a:rPr>
              <a:t>a</a:t>
            </a:r>
            <a:r>
              <a:rPr b="0" lang="en-US" sz="1800" spc="-1" strike="noStrike" baseline="-25000">
                <a:solidFill>
                  <a:srgbClr val="000000"/>
                </a:solidFill>
                <a:latin typeface="Aptos"/>
              </a:rPr>
              <a:t> </a:t>
            </a:r>
            <a:r>
              <a:rPr b="0" i="1" lang="en-US" sz="1800" spc="-1" strike="noStrike" baseline="-25000">
                <a:solidFill>
                  <a:srgbClr val="000000"/>
                </a:solidFill>
                <a:latin typeface="Aptos"/>
              </a:rPr>
              <a:t>ij</a:t>
            </a:r>
            <a:r>
              <a:rPr b="0" lang="en-US" sz="1800" spc="-1" strike="noStrike" baseline="-25000">
                <a:solidFill>
                  <a:srgbClr val="000000"/>
                </a:solidFill>
                <a:latin typeface="Aptos"/>
              </a:rPr>
              <a:t> </a:t>
            </a:r>
            <a:r>
              <a:rPr b="0" lang="en-US" sz="1800" spc="-1" strike="noStrike">
                <a:solidFill>
                  <a:srgbClr val="000000"/>
                </a:solidFill>
                <a:latin typeface="Aptos"/>
              </a:rPr>
              <a:t>= 1) if the absolute</a:t>
            </a:r>
            <a:endParaRPr b="0" lang="es-ES" sz="1800" spc="-1" strike="noStrike">
              <a:latin typeface="Arial"/>
            </a:endParaRPr>
          </a:p>
          <a:p>
            <a:pPr>
              <a:lnSpc>
                <a:spcPct val="100000"/>
              </a:lnSpc>
            </a:pPr>
            <a:r>
              <a:rPr b="0" lang="en-US" sz="1800" spc="-1" strike="noStrike">
                <a:solidFill>
                  <a:srgbClr val="000000"/>
                </a:solidFill>
                <a:latin typeface="Aptos"/>
              </a:rPr>
              <a:t>                                           </a:t>
            </a:r>
            <a:r>
              <a:rPr b="0" lang="en-US" sz="1800" spc="-1" strike="noStrike">
                <a:solidFill>
                  <a:srgbClr val="000000"/>
                </a:solidFill>
                <a:latin typeface="Aptos"/>
              </a:rPr>
              <a:t>correlation between their expression profiles exceeds the (hard) threshold </a:t>
            </a:r>
            <a:r>
              <a:rPr b="0" i="1" lang="en-US" sz="1800" spc="-1" strike="noStrike">
                <a:solidFill>
                  <a:srgbClr val="000000"/>
                </a:solidFill>
                <a:latin typeface="Aptos"/>
              </a:rPr>
              <a:t>τ</a:t>
            </a:r>
            <a:r>
              <a:rPr b="0" lang="en-US" sz="1800" spc="-1" strike="noStrike">
                <a:solidFill>
                  <a:srgbClr val="000000"/>
                </a:solidFill>
                <a:latin typeface="Aptos"/>
              </a:rPr>
              <a:t>.</a:t>
            </a:r>
            <a:endParaRPr b="0" lang="es-ES" sz="1800" spc="-1" strike="noStrike">
              <a:latin typeface="Arial"/>
            </a:endParaRPr>
          </a:p>
          <a:p>
            <a:pPr>
              <a:lnSpc>
                <a:spcPct val="100000"/>
              </a:lnSpc>
            </a:pPr>
            <a:endParaRPr b="0" lang="es-ES" sz="1800" spc="-1" strike="noStrike">
              <a:latin typeface="Arial"/>
            </a:endParaRPr>
          </a:p>
          <a:p>
            <a:pPr>
              <a:lnSpc>
                <a:spcPct val="100000"/>
              </a:lnSpc>
            </a:pPr>
            <a:r>
              <a:rPr b="1" i="1" lang="en-US" sz="1800" spc="-1" strike="noStrike" u="sng">
                <a:solidFill>
                  <a:srgbClr val="000000"/>
                </a:solidFill>
                <a:uFillTx/>
                <a:latin typeface="Aptos"/>
              </a:rPr>
              <a:t>Weighted networks: </a:t>
            </a:r>
            <a:r>
              <a:rPr b="0" lang="en-US" sz="1800" spc="-1" strike="noStrike">
                <a:solidFill>
                  <a:srgbClr val="000000"/>
                </a:solidFill>
                <a:latin typeface="Aptos"/>
              </a:rPr>
              <a:t>the adjacency takes on continuous values between 0 and 1 and can be defined by raising the co-expression </a:t>
            </a:r>
            <a:r>
              <a:rPr b="1" lang="en-US" sz="1800" spc="-1" strike="noStrike">
                <a:solidFill>
                  <a:srgbClr val="000000"/>
                </a:solidFill>
                <a:latin typeface="Aptos"/>
              </a:rPr>
              <a:t>similarity to a power</a:t>
            </a:r>
            <a:r>
              <a:rPr b="0" lang="en-US" sz="1800" spc="-1" strike="noStrike">
                <a:solidFill>
                  <a:srgbClr val="000000"/>
                </a:solidFill>
                <a:latin typeface="Aptos"/>
              </a:rPr>
              <a:t>:                    with </a:t>
            </a:r>
            <a:r>
              <a:rPr b="0" i="1" lang="en-US" sz="1800" spc="-1" strike="noStrike">
                <a:solidFill>
                  <a:srgbClr val="000000"/>
                </a:solidFill>
                <a:latin typeface="Aptos"/>
              </a:rPr>
              <a:t>β</a:t>
            </a:r>
            <a:r>
              <a:rPr b="0" lang="en-US" sz="1800" spc="-1" strike="noStrike">
                <a:solidFill>
                  <a:srgbClr val="000000"/>
                </a:solidFill>
                <a:latin typeface="Aptos"/>
              </a:rPr>
              <a:t> ≥ 1.  The weighted adjacency </a:t>
            </a:r>
            <a:r>
              <a:rPr b="0" i="1" lang="en-US" sz="1800" spc="-1" strike="noStrike">
                <a:solidFill>
                  <a:srgbClr val="000000"/>
                </a:solidFill>
                <a:latin typeface="Aptos"/>
              </a:rPr>
              <a:t>a</a:t>
            </a:r>
            <a:r>
              <a:rPr b="0" lang="en-US" sz="1800" spc="-1" strike="noStrike" baseline="-25000">
                <a:solidFill>
                  <a:srgbClr val="000000"/>
                </a:solidFill>
                <a:latin typeface="Aptos"/>
              </a:rPr>
              <a:t> </a:t>
            </a:r>
            <a:r>
              <a:rPr b="0" i="1" lang="en-US" sz="1800" spc="-1" strike="noStrike" baseline="-25000">
                <a:solidFill>
                  <a:srgbClr val="000000"/>
                </a:solidFill>
                <a:latin typeface="Aptos"/>
              </a:rPr>
              <a:t>ij</a:t>
            </a:r>
            <a:r>
              <a:rPr b="0" lang="en-US" sz="1800" spc="-1" strike="noStrike" baseline="-25000">
                <a:solidFill>
                  <a:srgbClr val="000000"/>
                </a:solidFill>
                <a:latin typeface="Aptos"/>
              </a:rPr>
              <a:t> </a:t>
            </a:r>
            <a:r>
              <a:rPr b="0" lang="en-US" sz="1800" spc="-1" strike="noStrike">
                <a:solidFill>
                  <a:srgbClr val="000000"/>
                </a:solidFill>
                <a:latin typeface="Aptos"/>
              </a:rPr>
              <a:t>between two genes is proportional to their similarity.</a:t>
            </a:r>
            <a:endParaRPr b="0" lang="es-ES" sz="1800" spc="-1" strike="noStrike">
              <a:latin typeface="Arial"/>
            </a:endParaRPr>
          </a:p>
          <a:p>
            <a:pPr>
              <a:lnSpc>
                <a:spcPct val="100000"/>
              </a:lnSpc>
            </a:pPr>
            <a:endParaRPr b="0" lang="es-ES" sz="1800" spc="-1" strike="noStrike">
              <a:latin typeface="Arial"/>
            </a:endParaRPr>
          </a:p>
          <a:p>
            <a:pPr>
              <a:lnSpc>
                <a:spcPct val="100000"/>
              </a:lnSpc>
            </a:pPr>
            <a:r>
              <a:rPr b="1" i="1" lang="en-US" sz="1800" spc="-1" strike="noStrike">
                <a:solidFill>
                  <a:srgbClr val="000000"/>
                </a:solidFill>
                <a:latin typeface="Aptos"/>
              </a:rPr>
              <a:t>How to choose the threshold parameters? </a:t>
            </a:r>
            <a:r>
              <a:rPr b="0" lang="en-US" sz="1800" spc="-1" strike="noStrike">
                <a:solidFill>
                  <a:srgbClr val="000000"/>
                </a:solidFill>
                <a:latin typeface="Aptos"/>
              </a:rPr>
              <a:t>Scale-free topology criterion.</a:t>
            </a:r>
            <a:endParaRPr b="0" lang="es-ES" sz="1800" spc="-1" strike="noStrike">
              <a:latin typeface="Arial"/>
            </a:endParaRPr>
          </a:p>
          <a:p>
            <a:pPr>
              <a:lnSpc>
                <a:spcPct val="100000"/>
              </a:lnSpc>
            </a:pPr>
            <a:endParaRPr b="0" lang="es-ES" sz="1800" spc="-1" strike="noStrike">
              <a:latin typeface="Arial"/>
            </a:endParaRPr>
          </a:p>
        </p:txBody>
      </p:sp>
      <p:pic>
        <p:nvPicPr>
          <p:cNvPr id="373" name="Imagen 18" descr=""/>
          <p:cNvPicPr/>
          <p:nvPr/>
        </p:nvPicPr>
        <p:blipFill>
          <a:blip r:embed="rId3"/>
          <a:stretch/>
        </p:blipFill>
        <p:spPr>
          <a:xfrm>
            <a:off x="576000" y="3871440"/>
            <a:ext cx="1689120" cy="516240"/>
          </a:xfrm>
          <a:prstGeom prst="rect">
            <a:avLst/>
          </a:prstGeom>
          <a:ln>
            <a:noFill/>
          </a:ln>
        </p:spPr>
      </p:pic>
      <p:pic>
        <p:nvPicPr>
          <p:cNvPr id="374" name="Imagen 9" descr=""/>
          <p:cNvPicPr/>
          <p:nvPr/>
        </p:nvPicPr>
        <p:blipFill>
          <a:blip r:embed="rId4"/>
          <a:stretch/>
        </p:blipFill>
        <p:spPr>
          <a:xfrm>
            <a:off x="4176360" y="4960080"/>
            <a:ext cx="784800" cy="396000"/>
          </a:xfrm>
          <a:prstGeom prst="rect">
            <a:avLst/>
          </a:prstGeom>
          <a:ln>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CustomShape 1"/>
          <p:cNvSpPr/>
          <p:nvPr/>
        </p:nvSpPr>
        <p:spPr>
          <a:xfrm>
            <a:off x="3455280" y="171000"/>
            <a:ext cx="5281200" cy="91260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000000"/>
                </a:solidFill>
                <a:latin typeface="Aptos"/>
              </a:rPr>
              <a:t>WGCNA</a:t>
            </a:r>
            <a:endParaRPr b="0" lang="es-ES" sz="1800" spc="-1" strike="noStrike">
              <a:latin typeface="Arial"/>
            </a:endParaRPr>
          </a:p>
          <a:p>
            <a:pPr algn="ctr">
              <a:lnSpc>
                <a:spcPct val="100000"/>
              </a:lnSpc>
            </a:pPr>
            <a:r>
              <a:rPr b="1" lang="en-US" sz="1800" spc="-1" strike="noStrike">
                <a:solidFill>
                  <a:srgbClr val="000000"/>
                </a:solidFill>
                <a:latin typeface="Aptos"/>
              </a:rPr>
              <a:t>Weighted Gene Co-expression Network Analysis</a:t>
            </a:r>
            <a:endParaRPr b="0" lang="es-ES" sz="1800" spc="-1" strike="noStrike">
              <a:latin typeface="Arial"/>
            </a:endParaRPr>
          </a:p>
        </p:txBody>
      </p:sp>
      <p:pic>
        <p:nvPicPr>
          <p:cNvPr id="376" name="Imagen 22" descr=""/>
          <p:cNvPicPr/>
          <p:nvPr/>
        </p:nvPicPr>
        <p:blipFill>
          <a:blip r:embed="rId1"/>
          <a:stretch/>
        </p:blipFill>
        <p:spPr>
          <a:xfrm>
            <a:off x="8877960" y="112680"/>
            <a:ext cx="635760" cy="704520"/>
          </a:xfrm>
          <a:prstGeom prst="rect">
            <a:avLst/>
          </a:prstGeom>
          <a:ln>
            <a:noFill/>
          </a:ln>
        </p:spPr>
      </p:pic>
      <p:pic>
        <p:nvPicPr>
          <p:cNvPr id="377" name="Imagen 24" descr=""/>
          <p:cNvPicPr/>
          <p:nvPr/>
        </p:nvPicPr>
        <p:blipFill>
          <a:blip r:embed="rId2"/>
          <a:stretch/>
        </p:blipFill>
        <p:spPr>
          <a:xfrm>
            <a:off x="2678040" y="171000"/>
            <a:ext cx="635760" cy="704520"/>
          </a:xfrm>
          <a:prstGeom prst="rect">
            <a:avLst/>
          </a:prstGeom>
          <a:ln>
            <a:noFill/>
          </a:ln>
        </p:spPr>
      </p:pic>
      <p:sp>
        <p:nvSpPr>
          <p:cNvPr id="378" name="CustomShape 2"/>
          <p:cNvSpPr/>
          <p:nvPr/>
        </p:nvSpPr>
        <p:spPr>
          <a:xfrm>
            <a:off x="408240" y="1080000"/>
            <a:ext cx="11351160" cy="502740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1" i="1" lang="en-US" sz="1800" spc="-1" strike="noStrike">
                <a:solidFill>
                  <a:srgbClr val="000000"/>
                </a:solidFill>
                <a:latin typeface="Aptos"/>
              </a:rPr>
              <a:t>How to choose the threshold parameters? </a:t>
            </a:r>
            <a:r>
              <a:rPr b="0" lang="en-US" sz="1800" spc="-1" strike="noStrike">
                <a:solidFill>
                  <a:srgbClr val="000000"/>
                </a:solidFill>
                <a:latin typeface="Aptos"/>
              </a:rPr>
              <a:t>Scale-free topology criterion.</a:t>
            </a:r>
            <a:endParaRPr b="0" lang="es-ES" sz="1800" spc="-1" strike="noStrike">
              <a:latin typeface="Arial"/>
            </a:endParaRPr>
          </a:p>
          <a:p>
            <a:pPr>
              <a:lnSpc>
                <a:spcPct val="100000"/>
              </a:lnSpc>
            </a:pPr>
            <a:endParaRPr b="0" lang="es-ES" sz="1800" spc="-1" strike="noStrike">
              <a:latin typeface="Arial"/>
            </a:endParaRPr>
          </a:p>
          <a:p>
            <a:pPr>
              <a:lnSpc>
                <a:spcPct val="100000"/>
              </a:lnSpc>
            </a:pPr>
            <a:r>
              <a:rPr b="0" lang="en-US" sz="1800" spc="-1" strike="noStrike">
                <a:solidFill>
                  <a:srgbClr val="000000"/>
                </a:solidFill>
                <a:latin typeface="Aptos"/>
              </a:rPr>
              <a:t>A </a:t>
            </a:r>
            <a:r>
              <a:rPr b="1" i="1" lang="en-US" sz="1800" spc="-1" strike="noStrike">
                <a:solidFill>
                  <a:srgbClr val="000000"/>
                </a:solidFill>
                <a:latin typeface="Aptos"/>
              </a:rPr>
              <a:t>scale-free network </a:t>
            </a:r>
            <a:r>
              <a:rPr b="0" lang="en-US" sz="1800" spc="-1" strike="noStrike">
                <a:solidFill>
                  <a:srgbClr val="000000"/>
                </a:solidFill>
                <a:latin typeface="Aptos"/>
              </a:rPr>
              <a:t>is one where </a:t>
            </a:r>
            <a:r>
              <a:rPr b="1" i="1" lang="en-US" sz="1800" spc="-1" strike="noStrike">
                <a:solidFill>
                  <a:srgbClr val="000000"/>
                </a:solidFill>
                <a:latin typeface="Aptos"/>
              </a:rPr>
              <a:t>most nodes</a:t>
            </a:r>
            <a:r>
              <a:rPr b="0" lang="en-US" sz="1800" spc="-1" strike="noStrike">
                <a:solidFill>
                  <a:srgbClr val="000000"/>
                </a:solidFill>
                <a:latin typeface="Aptos"/>
              </a:rPr>
              <a:t> have </a:t>
            </a:r>
            <a:r>
              <a:rPr b="1" i="1" lang="en-US" sz="1800" spc="-1" strike="noStrike">
                <a:solidFill>
                  <a:srgbClr val="000000"/>
                </a:solidFill>
                <a:latin typeface="Aptos"/>
              </a:rPr>
              <a:t>few connections</a:t>
            </a:r>
            <a:r>
              <a:rPr b="0" lang="en-US" sz="1800" spc="-1" strike="noStrike">
                <a:solidFill>
                  <a:srgbClr val="000000"/>
                </a:solidFill>
                <a:latin typeface="Aptos"/>
              </a:rPr>
              <a:t>, and a </a:t>
            </a:r>
            <a:r>
              <a:rPr b="1" i="1" lang="en-US" sz="1800" spc="-1" strike="noStrike">
                <a:solidFill>
                  <a:srgbClr val="000000"/>
                </a:solidFill>
                <a:latin typeface="Aptos"/>
              </a:rPr>
              <a:t>few nodes</a:t>
            </a:r>
            <a:r>
              <a:rPr b="0" lang="en-US" sz="1800" spc="-1" strike="noStrike">
                <a:solidFill>
                  <a:srgbClr val="000000"/>
                </a:solidFill>
                <a:latin typeface="Aptos"/>
              </a:rPr>
              <a:t> (hubs) have </a:t>
            </a:r>
            <a:r>
              <a:rPr b="1" i="1" lang="en-US" sz="1800" spc="-1" strike="noStrike">
                <a:solidFill>
                  <a:srgbClr val="000000"/>
                </a:solidFill>
                <a:latin typeface="Aptos"/>
              </a:rPr>
              <a:t>many</a:t>
            </a:r>
            <a:r>
              <a:rPr b="0" lang="en-US" sz="1800" spc="-1" strike="noStrike">
                <a:solidFill>
                  <a:srgbClr val="000000"/>
                </a:solidFill>
                <a:latin typeface="Aptos"/>
              </a:rPr>
              <a:t> </a:t>
            </a:r>
            <a:r>
              <a:rPr b="1" i="1" lang="en-US" sz="1800" spc="-1" strike="noStrike">
                <a:solidFill>
                  <a:srgbClr val="000000"/>
                </a:solidFill>
                <a:latin typeface="Aptos"/>
              </a:rPr>
              <a:t>connections</a:t>
            </a:r>
            <a:r>
              <a:rPr b="0" lang="en-US" sz="1800" spc="-1" strike="noStrike">
                <a:solidFill>
                  <a:srgbClr val="000000"/>
                </a:solidFill>
                <a:latin typeface="Aptos"/>
              </a:rPr>
              <a:t>. Many real biological systems show this property.</a:t>
            </a:r>
            <a:endParaRPr b="0" lang="es-ES" sz="1800" spc="-1" strike="noStrike">
              <a:latin typeface="Arial"/>
            </a:endParaRPr>
          </a:p>
          <a:p>
            <a:pPr>
              <a:lnSpc>
                <a:spcPct val="100000"/>
              </a:lnSpc>
            </a:pPr>
            <a:endParaRPr b="0" lang="es-ES" sz="1800" spc="-1" strike="noStrike">
              <a:latin typeface="Arial"/>
            </a:endParaRPr>
          </a:p>
          <a:p>
            <a:pPr>
              <a:lnSpc>
                <a:spcPct val="100000"/>
              </a:lnSpc>
            </a:pPr>
            <a:r>
              <a:rPr b="0" lang="en-US" sz="1800" spc="-1" strike="noStrike">
                <a:solidFill>
                  <a:srgbClr val="000000"/>
                </a:solidFill>
                <a:latin typeface="Aptos"/>
              </a:rPr>
              <a:t>WGCNA package tests a range of β values (e.g. 1 to 20), and calculates:</a:t>
            </a:r>
            <a:endParaRPr b="0" lang="es-ES" sz="1800" spc="-1" strike="noStrike">
              <a:latin typeface="Arial"/>
            </a:endParaRPr>
          </a:p>
          <a:p>
            <a:pPr marL="285840" indent="-285480">
              <a:lnSpc>
                <a:spcPct val="100000"/>
              </a:lnSpc>
              <a:buClr>
                <a:srgbClr val="000000"/>
              </a:buClr>
              <a:buFont typeface="Wingdings" charset="2"/>
              <a:buChar char=""/>
            </a:pPr>
            <a:r>
              <a:rPr b="0" lang="en-US" sz="1800" spc="-1" strike="noStrike">
                <a:solidFill>
                  <a:srgbClr val="000000"/>
                </a:solidFill>
                <a:latin typeface="Aptos"/>
              </a:rPr>
              <a:t>The R² of the fit between node connectivity and the power-law distribution (how “scale-free” the network is)</a:t>
            </a:r>
            <a:endParaRPr b="0" lang="es-ES" sz="1800" spc="-1" strike="noStrike">
              <a:latin typeface="Arial"/>
            </a:endParaRPr>
          </a:p>
          <a:p>
            <a:pPr marL="285840" indent="-285480">
              <a:lnSpc>
                <a:spcPct val="100000"/>
              </a:lnSpc>
              <a:buClr>
                <a:srgbClr val="000000"/>
              </a:buClr>
              <a:buFont typeface="Wingdings" charset="2"/>
              <a:buChar char=""/>
            </a:pPr>
            <a:r>
              <a:rPr b="0" lang="en-US" sz="1800" spc="-1" strike="noStrike">
                <a:solidFill>
                  <a:srgbClr val="000000"/>
                </a:solidFill>
                <a:latin typeface="Aptos"/>
              </a:rPr>
              <a:t>The mean connectivity (so the network isn’t too sparse or too dense).</a:t>
            </a:r>
            <a:endParaRPr b="0" lang="es-ES" sz="1800" spc="-1" strike="noStrike">
              <a:latin typeface="Arial"/>
            </a:endParaRPr>
          </a:p>
          <a:p>
            <a:pPr>
              <a:lnSpc>
                <a:spcPct val="100000"/>
              </a:lnSpc>
            </a:pPr>
            <a:endParaRPr b="0" lang="es-ES" sz="1800" spc="-1" strike="noStrike">
              <a:latin typeface="Arial"/>
            </a:endParaRPr>
          </a:p>
          <a:p>
            <a:pPr>
              <a:lnSpc>
                <a:spcPct val="100000"/>
              </a:lnSpc>
            </a:pPr>
            <a:r>
              <a:rPr b="0" lang="en-US" sz="1800" spc="-1" strike="noStrike">
                <a:solidFill>
                  <a:srgbClr val="000000"/>
                </a:solidFill>
                <a:latin typeface="Aptos"/>
              </a:rPr>
              <a:t>Then WGCNA plots these results:</a:t>
            </a:r>
            <a:endParaRPr b="0" lang="es-ES" sz="1800" spc="-1" strike="noStrike">
              <a:latin typeface="Arial"/>
            </a:endParaRPr>
          </a:p>
          <a:p>
            <a:pPr marL="285840" indent="-285480">
              <a:lnSpc>
                <a:spcPct val="100000"/>
              </a:lnSpc>
              <a:buClr>
                <a:srgbClr val="000000"/>
              </a:buClr>
              <a:buFont typeface="Wingdings" charset="2"/>
              <a:buChar char=""/>
            </a:pPr>
            <a:r>
              <a:rPr b="1" lang="en-US" sz="1800" spc="-1" strike="noStrike">
                <a:solidFill>
                  <a:srgbClr val="000000"/>
                </a:solidFill>
                <a:latin typeface="Aptos"/>
              </a:rPr>
              <a:t>R² vs. β</a:t>
            </a:r>
            <a:r>
              <a:rPr b="0" lang="en-US" sz="1800" spc="-1" strike="noStrike">
                <a:solidFill>
                  <a:srgbClr val="000000"/>
                </a:solidFill>
                <a:latin typeface="Aptos"/>
              </a:rPr>
              <a:t> (to see where the scale-free fit becomes strong)</a:t>
            </a:r>
            <a:endParaRPr b="0" lang="es-ES" sz="1800" spc="-1" strike="noStrike">
              <a:latin typeface="Arial"/>
            </a:endParaRPr>
          </a:p>
          <a:p>
            <a:pPr marL="285840" indent="-285480">
              <a:lnSpc>
                <a:spcPct val="100000"/>
              </a:lnSpc>
              <a:buClr>
                <a:srgbClr val="000000"/>
              </a:buClr>
              <a:buFont typeface="Wingdings" charset="2"/>
              <a:buChar char=""/>
            </a:pPr>
            <a:r>
              <a:rPr b="1" lang="en-US" sz="1800" spc="-1" strike="noStrike">
                <a:solidFill>
                  <a:srgbClr val="000000"/>
                </a:solidFill>
                <a:latin typeface="Aptos"/>
              </a:rPr>
              <a:t>Mean connectivity vs. β</a:t>
            </a:r>
            <a:r>
              <a:rPr b="0" lang="en-US" sz="1800" spc="-1" strike="noStrike">
                <a:solidFill>
                  <a:srgbClr val="000000"/>
                </a:solidFill>
                <a:latin typeface="Aptos"/>
              </a:rPr>
              <a:t> (to check network density).</a:t>
            </a:r>
            <a:endParaRPr b="0" lang="es-ES" sz="1800" spc="-1" strike="noStrike">
              <a:latin typeface="Arial"/>
            </a:endParaRPr>
          </a:p>
          <a:p>
            <a:pPr>
              <a:lnSpc>
                <a:spcPct val="100000"/>
              </a:lnSpc>
            </a:pPr>
            <a:endParaRPr b="0" lang="es-ES" sz="1800" spc="-1" strike="noStrike">
              <a:latin typeface="Arial"/>
            </a:endParaRPr>
          </a:p>
          <a:p>
            <a:pPr>
              <a:lnSpc>
                <a:spcPct val="100000"/>
              </a:lnSpc>
            </a:pPr>
            <a:r>
              <a:rPr b="0" lang="en-US" sz="1800" spc="-1" strike="noStrike">
                <a:solidFill>
                  <a:srgbClr val="000000"/>
                </a:solidFill>
                <a:latin typeface="Aptos"/>
              </a:rPr>
              <a:t>The </a:t>
            </a:r>
            <a:r>
              <a:rPr b="1" lang="en-US" sz="1800" spc="-1" strike="noStrike">
                <a:solidFill>
                  <a:srgbClr val="000000"/>
                </a:solidFill>
                <a:latin typeface="Aptos"/>
              </a:rPr>
              <a:t>best β</a:t>
            </a:r>
            <a:r>
              <a:rPr b="0" lang="en-US" sz="1800" spc="-1" strike="noStrike">
                <a:solidFill>
                  <a:srgbClr val="000000"/>
                </a:solidFill>
                <a:latin typeface="Aptos"/>
              </a:rPr>
              <a:t> is usually the </a:t>
            </a:r>
            <a:r>
              <a:rPr b="1" lang="en-US" sz="1800" spc="-1" strike="noStrike">
                <a:solidFill>
                  <a:srgbClr val="000000"/>
                </a:solidFill>
                <a:latin typeface="Aptos"/>
              </a:rPr>
              <a:t>smallest value</a:t>
            </a:r>
            <a:r>
              <a:rPr b="0" lang="en-US" sz="1800" spc="-1" strike="noStrike">
                <a:solidFill>
                  <a:srgbClr val="000000"/>
                </a:solidFill>
                <a:latin typeface="Aptos"/>
              </a:rPr>
              <a:t> where:</a:t>
            </a:r>
            <a:endParaRPr b="0" lang="es-ES" sz="1800" spc="-1" strike="noStrike">
              <a:latin typeface="Arial"/>
            </a:endParaRPr>
          </a:p>
          <a:p>
            <a:pPr marL="285840" indent="-285480">
              <a:lnSpc>
                <a:spcPct val="100000"/>
              </a:lnSpc>
              <a:buClr>
                <a:srgbClr val="000000"/>
              </a:buClr>
              <a:buFont typeface="Wingdings" charset="2"/>
              <a:buChar char=""/>
            </a:pPr>
            <a:r>
              <a:rPr b="0" lang="en-US" sz="1800" spc="-1" strike="noStrike">
                <a:solidFill>
                  <a:srgbClr val="000000"/>
                </a:solidFill>
                <a:latin typeface="Aptos"/>
              </a:rPr>
              <a:t>the </a:t>
            </a:r>
            <a:r>
              <a:rPr b="1" lang="en-US" sz="1800" spc="-1" strike="noStrike">
                <a:solidFill>
                  <a:srgbClr val="000000"/>
                </a:solidFill>
                <a:latin typeface="Aptos"/>
              </a:rPr>
              <a:t>scale-free fit R²</a:t>
            </a:r>
            <a:r>
              <a:rPr b="0" lang="en-US" sz="1800" spc="-1" strike="noStrike">
                <a:solidFill>
                  <a:srgbClr val="000000"/>
                </a:solidFill>
                <a:latin typeface="Aptos"/>
              </a:rPr>
              <a:t> is </a:t>
            </a:r>
            <a:r>
              <a:rPr b="1" lang="en-US" sz="1800" spc="-1" strike="noStrike">
                <a:solidFill>
                  <a:srgbClr val="000000"/>
                </a:solidFill>
                <a:latin typeface="Aptos"/>
              </a:rPr>
              <a:t>high (≥ 0.8–0.9)</a:t>
            </a:r>
            <a:r>
              <a:rPr b="0" lang="en-US" sz="1800" spc="-1" strike="noStrike">
                <a:solidFill>
                  <a:srgbClr val="000000"/>
                </a:solidFill>
                <a:latin typeface="Aptos"/>
              </a:rPr>
              <a:t>, and</a:t>
            </a:r>
            <a:endParaRPr b="0" lang="es-ES" sz="1800" spc="-1" strike="noStrike">
              <a:latin typeface="Arial"/>
            </a:endParaRPr>
          </a:p>
          <a:p>
            <a:pPr marL="285840" indent="-285480">
              <a:lnSpc>
                <a:spcPct val="100000"/>
              </a:lnSpc>
              <a:buClr>
                <a:srgbClr val="000000"/>
              </a:buClr>
              <a:buFont typeface="Wingdings" charset="2"/>
              <a:buChar char=""/>
            </a:pPr>
            <a:r>
              <a:rPr b="0" lang="en-US" sz="1800" spc="-1" strike="noStrike">
                <a:solidFill>
                  <a:srgbClr val="000000"/>
                </a:solidFill>
                <a:latin typeface="Aptos"/>
              </a:rPr>
              <a:t>the </a:t>
            </a:r>
            <a:r>
              <a:rPr b="1" lang="en-US" sz="1800" spc="-1" strike="noStrike">
                <a:solidFill>
                  <a:srgbClr val="000000"/>
                </a:solidFill>
                <a:latin typeface="Aptos"/>
              </a:rPr>
              <a:t>mean connectivity</a:t>
            </a:r>
            <a:r>
              <a:rPr b="0" lang="en-US" sz="1800" spc="-1" strike="noStrike">
                <a:solidFill>
                  <a:srgbClr val="000000"/>
                </a:solidFill>
                <a:latin typeface="Aptos"/>
              </a:rPr>
              <a:t> is still reasonable.</a:t>
            </a:r>
            <a:endParaRPr b="0" lang="es-ES" sz="1800" spc="-1" strike="noStrike">
              <a:latin typeface="Arial"/>
            </a:endParaRPr>
          </a:p>
          <a:p>
            <a:pPr>
              <a:lnSpc>
                <a:spcPct val="100000"/>
              </a:lnSpc>
            </a:pPr>
            <a:endParaRPr b="0" lang="es-ES" sz="1800" spc="-1" strike="noStrike">
              <a:latin typeface="Arial"/>
            </a:endParaRPr>
          </a:p>
        </p:txBody>
      </p:sp>
      <p:pic>
        <p:nvPicPr>
          <p:cNvPr id="379" name="Imagen 5" descr=""/>
          <p:cNvPicPr/>
          <p:nvPr/>
        </p:nvPicPr>
        <p:blipFill>
          <a:blip r:embed="rId3"/>
          <a:stretch/>
        </p:blipFill>
        <p:spPr>
          <a:xfrm>
            <a:off x="6690240" y="3367440"/>
            <a:ext cx="4986720" cy="2417400"/>
          </a:xfrm>
          <a:prstGeom prst="rect">
            <a:avLst/>
          </a:prstGeom>
          <a:ln>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CustomShape 1"/>
          <p:cNvSpPr/>
          <p:nvPr/>
        </p:nvSpPr>
        <p:spPr>
          <a:xfrm>
            <a:off x="3455280" y="282600"/>
            <a:ext cx="5281200" cy="91260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000000"/>
                </a:solidFill>
                <a:latin typeface="Aptos"/>
              </a:rPr>
              <a:t>WGCNA</a:t>
            </a:r>
            <a:endParaRPr b="0" lang="es-ES" sz="1800" spc="-1" strike="noStrike">
              <a:latin typeface="Arial"/>
            </a:endParaRPr>
          </a:p>
          <a:p>
            <a:pPr algn="ctr">
              <a:lnSpc>
                <a:spcPct val="100000"/>
              </a:lnSpc>
            </a:pPr>
            <a:r>
              <a:rPr b="1" lang="en-US" sz="1800" spc="-1" strike="noStrike">
                <a:solidFill>
                  <a:srgbClr val="000000"/>
                </a:solidFill>
                <a:latin typeface="Aptos"/>
              </a:rPr>
              <a:t>Weighted Gene Co-expression Network Analysis</a:t>
            </a:r>
            <a:endParaRPr b="0" lang="es-ES" sz="1800" spc="-1" strike="noStrike">
              <a:latin typeface="Arial"/>
            </a:endParaRPr>
          </a:p>
        </p:txBody>
      </p:sp>
      <p:pic>
        <p:nvPicPr>
          <p:cNvPr id="381" name="Imagen 22" descr=""/>
          <p:cNvPicPr/>
          <p:nvPr/>
        </p:nvPicPr>
        <p:blipFill>
          <a:blip r:embed="rId1"/>
          <a:stretch/>
        </p:blipFill>
        <p:spPr>
          <a:xfrm>
            <a:off x="8877960" y="224280"/>
            <a:ext cx="635760" cy="704520"/>
          </a:xfrm>
          <a:prstGeom prst="rect">
            <a:avLst/>
          </a:prstGeom>
          <a:ln>
            <a:noFill/>
          </a:ln>
        </p:spPr>
      </p:pic>
      <p:pic>
        <p:nvPicPr>
          <p:cNvPr id="382" name="Imagen 24" descr=""/>
          <p:cNvPicPr/>
          <p:nvPr/>
        </p:nvPicPr>
        <p:blipFill>
          <a:blip r:embed="rId2"/>
          <a:stretch/>
        </p:blipFill>
        <p:spPr>
          <a:xfrm>
            <a:off x="2678040" y="282600"/>
            <a:ext cx="635760" cy="704520"/>
          </a:xfrm>
          <a:prstGeom prst="rect">
            <a:avLst/>
          </a:prstGeom>
          <a:ln>
            <a:noFill/>
          </a:ln>
        </p:spPr>
      </p:pic>
      <p:pic>
        <p:nvPicPr>
          <p:cNvPr id="383" name="Gráfico 2" descr="Burbuja de chat con relleno sólido"/>
          <p:cNvPicPr/>
          <p:nvPr/>
        </p:nvPicPr>
        <p:blipFill>
          <a:blip r:embed="rId3"/>
          <a:stretch/>
        </p:blipFill>
        <p:spPr>
          <a:xfrm flipH="1">
            <a:off x="6552000" y="282600"/>
            <a:ext cx="375480" cy="375480"/>
          </a:xfrm>
          <a:prstGeom prst="rect">
            <a:avLst/>
          </a:prstGeom>
          <a:ln>
            <a:noFill/>
          </a:ln>
        </p:spPr>
      </p:pic>
      <p:pic>
        <p:nvPicPr>
          <p:cNvPr id="384" name="Gráfico 3" descr="Burbuja de chat con relleno sólido"/>
          <p:cNvPicPr/>
          <p:nvPr/>
        </p:nvPicPr>
        <p:blipFill>
          <a:blip r:embed="rId4"/>
          <a:stretch/>
        </p:blipFill>
        <p:spPr>
          <a:xfrm flipH="1">
            <a:off x="6908400" y="283680"/>
            <a:ext cx="375480" cy="375480"/>
          </a:xfrm>
          <a:prstGeom prst="rect">
            <a:avLst/>
          </a:prstGeom>
          <a:ln>
            <a:noFill/>
          </a:ln>
        </p:spPr>
      </p:pic>
      <p:sp>
        <p:nvSpPr>
          <p:cNvPr id="385" name="CustomShape 2"/>
          <p:cNvSpPr/>
          <p:nvPr/>
        </p:nvSpPr>
        <p:spPr>
          <a:xfrm>
            <a:off x="397080" y="1115280"/>
            <a:ext cx="11394000" cy="537876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spcBef>
                <a:spcPts val="601"/>
              </a:spcBef>
              <a:spcAft>
                <a:spcPts val="601"/>
              </a:spcAft>
            </a:pPr>
            <a:r>
              <a:rPr b="1" lang="en-US" sz="1800" spc="-1" strike="noStrike">
                <a:solidFill>
                  <a:srgbClr val="000000"/>
                </a:solidFill>
                <a:latin typeface="Aptos"/>
              </a:rPr>
              <a:t>3. Module detection</a:t>
            </a:r>
            <a:endParaRPr b="0" lang="es-ES" sz="1800" spc="-1" strike="noStrike">
              <a:latin typeface="Arial"/>
            </a:endParaRPr>
          </a:p>
          <a:p>
            <a:pPr>
              <a:lnSpc>
                <a:spcPct val="100000"/>
              </a:lnSpc>
            </a:pPr>
            <a:r>
              <a:rPr b="0" lang="en-US" sz="1800" spc="-1" strike="noStrike">
                <a:solidFill>
                  <a:srgbClr val="000000"/>
                </a:solidFill>
                <a:latin typeface="Aptos"/>
              </a:rPr>
              <a:t>Modules are clusters of highly interconnected genes and are defined by average linkage </a:t>
            </a:r>
            <a:r>
              <a:rPr b="1" lang="en-US" sz="1800" spc="-1" strike="noStrike">
                <a:solidFill>
                  <a:srgbClr val="000000"/>
                </a:solidFill>
                <a:latin typeface="Aptos"/>
              </a:rPr>
              <a:t>hierarchical clustering </a:t>
            </a:r>
            <a:r>
              <a:rPr b="0" lang="en-US" sz="1800" spc="-1" strike="noStrike">
                <a:solidFill>
                  <a:srgbClr val="000000"/>
                </a:solidFill>
                <a:latin typeface="Aptos"/>
              </a:rPr>
              <a:t>using as input the </a:t>
            </a:r>
            <a:r>
              <a:rPr b="1" lang="en-US" sz="1800" spc="-1" strike="noStrike">
                <a:solidFill>
                  <a:srgbClr val="000000"/>
                </a:solidFill>
                <a:latin typeface="Aptos"/>
              </a:rPr>
              <a:t>topological overlap dissimilarity </a:t>
            </a:r>
            <a:r>
              <a:rPr b="0" lang="en-US" sz="1800" spc="-1" strike="noStrike">
                <a:solidFill>
                  <a:srgbClr val="000000"/>
                </a:solidFill>
                <a:latin typeface="Aptos"/>
              </a:rPr>
              <a:t>(distance) measure (the higher the value, the more different the connection patterns of two genes).</a:t>
            </a: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p:txBody>
      </p:sp>
      <p:pic>
        <p:nvPicPr>
          <p:cNvPr id="386" name="Imagen 5" descr=""/>
          <p:cNvPicPr/>
          <p:nvPr/>
        </p:nvPicPr>
        <p:blipFill>
          <a:blip r:embed="rId5"/>
          <a:srcRect l="5439" t="0" r="0" b="26616"/>
          <a:stretch/>
        </p:blipFill>
        <p:spPr>
          <a:xfrm>
            <a:off x="9223560" y="2394360"/>
            <a:ext cx="2498400" cy="997920"/>
          </a:xfrm>
          <a:prstGeom prst="rect">
            <a:avLst/>
          </a:prstGeom>
          <a:ln>
            <a:noFill/>
          </a:ln>
        </p:spPr>
      </p:pic>
      <p:pic>
        <p:nvPicPr>
          <p:cNvPr id="387" name="Imagen 7" descr=""/>
          <p:cNvPicPr/>
          <p:nvPr/>
        </p:nvPicPr>
        <p:blipFill>
          <a:blip r:embed="rId6"/>
          <a:srcRect l="0" t="22317" r="0" b="0"/>
          <a:stretch/>
        </p:blipFill>
        <p:spPr>
          <a:xfrm>
            <a:off x="510840" y="3518280"/>
            <a:ext cx="7634160" cy="2906280"/>
          </a:xfrm>
          <a:prstGeom prst="rect">
            <a:avLst/>
          </a:prstGeom>
          <a:ln>
            <a:noFill/>
          </a:ln>
        </p:spPr>
      </p:pic>
      <p:sp>
        <p:nvSpPr>
          <p:cNvPr id="388" name="CustomShape 3"/>
          <p:cNvSpPr/>
          <p:nvPr/>
        </p:nvSpPr>
        <p:spPr>
          <a:xfrm>
            <a:off x="384120" y="6511320"/>
            <a:ext cx="10336320" cy="3337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Aptos"/>
              </a:rPr>
              <a:t>Source: An Overview of Weighted Gene Co-Expression Network Analysis by Steve Horvath</a:t>
            </a:r>
            <a:endParaRPr b="0" lang="es-ES" sz="1600" spc="-1" strike="noStrike">
              <a:latin typeface="Arial"/>
            </a:endParaRPr>
          </a:p>
        </p:txBody>
      </p:sp>
      <p:sp>
        <p:nvSpPr>
          <p:cNvPr id="389" name="CustomShape 4"/>
          <p:cNvSpPr/>
          <p:nvPr/>
        </p:nvSpPr>
        <p:spPr>
          <a:xfrm>
            <a:off x="8199360" y="3518280"/>
            <a:ext cx="3535200" cy="1368360"/>
          </a:xfrm>
          <a:prstGeom prst="rect">
            <a:avLst/>
          </a:prstGeom>
          <a:noFill/>
          <a:ln>
            <a:solidFill>
              <a:schemeClr val="tx1">
                <a:lumMod val="65000"/>
                <a:lumOff val="35000"/>
              </a:schemeClr>
            </a:solidFill>
          </a:ln>
        </p:spPr>
        <p:style>
          <a:lnRef idx="0"/>
          <a:fillRef idx="0"/>
          <a:effectRef idx="0"/>
          <a:fontRef idx="minor"/>
        </p:style>
        <p:txBody>
          <a:bodyPr lIns="90000" rIns="90000" tIns="45000" bIns="45000">
            <a:spAutoFit/>
          </a:bodyPr>
          <a:p>
            <a:pPr algn="just">
              <a:lnSpc>
                <a:spcPct val="100000"/>
              </a:lnSpc>
            </a:pPr>
            <a:r>
              <a:rPr b="0" lang="en-US" sz="1400" spc="-1" strike="noStrike">
                <a:solidFill>
                  <a:srgbClr val="000000"/>
                </a:solidFill>
                <a:latin typeface="Aptos"/>
              </a:rPr>
              <a:t>A network heatmap plot (interconnectivity plot) of a gene network together with the corresponding hierarchical clustering dendrograms and the resulting modules</a:t>
            </a:r>
            <a:endParaRPr b="0" lang="es-ES" sz="1400" spc="-1" strike="noStrike">
              <a:latin typeface="Arial"/>
            </a:endParaRPr>
          </a:p>
        </p:txBody>
      </p:sp>
      <p:pic>
        <p:nvPicPr>
          <p:cNvPr id="390" name="Imagen 17" descr=""/>
          <p:cNvPicPr/>
          <p:nvPr/>
        </p:nvPicPr>
        <p:blipFill>
          <a:blip r:embed="rId7"/>
          <a:srcRect l="2181" t="77865" r="17513" b="0"/>
          <a:stretch/>
        </p:blipFill>
        <p:spPr>
          <a:xfrm>
            <a:off x="4328280" y="2064960"/>
            <a:ext cx="2121840" cy="300600"/>
          </a:xfrm>
          <a:prstGeom prst="rect">
            <a:avLst/>
          </a:prstGeom>
          <a:ln>
            <a:noFill/>
          </a:ln>
        </p:spPr>
      </p:pic>
      <p:sp>
        <p:nvSpPr>
          <p:cNvPr id="391" name="CustomShape 5"/>
          <p:cNvSpPr/>
          <p:nvPr/>
        </p:nvSpPr>
        <p:spPr>
          <a:xfrm>
            <a:off x="397080" y="2318040"/>
            <a:ext cx="8825760" cy="146124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1" lang="en-US" sz="1800" spc="-1" strike="noStrike">
                <a:solidFill>
                  <a:srgbClr val="000000"/>
                </a:solidFill>
                <a:latin typeface="Aptos"/>
              </a:rPr>
              <a:t>Topological Overlap Matrix (TOM)</a:t>
            </a:r>
            <a:r>
              <a:rPr b="0" lang="en-US" sz="1800" spc="-1" strike="noStrike">
                <a:solidFill>
                  <a:srgbClr val="000000"/>
                </a:solidFill>
                <a:latin typeface="Aptos"/>
              </a:rPr>
              <a:t> is a measure of how similar two genes are in terms of their network connections, considering not only the direct correlation between two genes but also </a:t>
            </a:r>
            <a:r>
              <a:rPr b="1" lang="en-US" sz="1800" spc="-1" strike="noStrike">
                <a:solidFill>
                  <a:srgbClr val="000000"/>
                </a:solidFill>
                <a:latin typeface="Aptos"/>
              </a:rPr>
              <a:t>how many neighbors they share </a:t>
            </a:r>
            <a:r>
              <a:rPr b="0" lang="en-US" sz="1800" spc="-1" strike="noStrike">
                <a:solidFill>
                  <a:srgbClr val="000000"/>
                </a:solidFill>
                <a:latin typeface="Aptos"/>
              </a:rPr>
              <a:t>(e.g. If gene A and gene B are both connected to many of the same genes, their TOM will be high).</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CustomShape 1"/>
          <p:cNvSpPr/>
          <p:nvPr/>
        </p:nvSpPr>
        <p:spPr>
          <a:xfrm>
            <a:off x="408240" y="1193040"/>
            <a:ext cx="11394000" cy="23284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spcBef>
                <a:spcPts val="601"/>
              </a:spcBef>
            </a:pPr>
            <a:r>
              <a:rPr b="1" lang="en-US" sz="1800" spc="-1" strike="noStrike">
                <a:solidFill>
                  <a:srgbClr val="000000"/>
                </a:solidFill>
                <a:latin typeface="Aptos"/>
              </a:rPr>
              <a:t>4.1. Gene significance (GS)</a:t>
            </a:r>
            <a:endParaRPr b="0" lang="es-ES" sz="1800" spc="-1" strike="noStrike">
              <a:latin typeface="Arial"/>
            </a:endParaRPr>
          </a:p>
          <a:p>
            <a:pPr marL="285840" indent="-285480">
              <a:lnSpc>
                <a:spcPct val="100000"/>
              </a:lnSpc>
              <a:spcBef>
                <a:spcPts val="601"/>
              </a:spcBef>
              <a:buClr>
                <a:srgbClr val="000000"/>
              </a:buClr>
              <a:buFont typeface="Wingdings" charset="2"/>
              <a:buChar char=""/>
            </a:pPr>
            <a:r>
              <a:rPr b="0" lang="en-US" sz="1800" spc="-1" strike="noStrike">
                <a:solidFill>
                  <a:srgbClr val="000000"/>
                </a:solidFill>
                <a:latin typeface="Aptos"/>
              </a:rPr>
              <a:t>It used to incorporate external information into the co-expression network.</a:t>
            </a:r>
            <a:endParaRPr b="0" lang="es-ES" sz="1800" spc="-1" strike="noStrike">
              <a:latin typeface="Arial"/>
            </a:endParaRPr>
          </a:p>
          <a:p>
            <a:pPr marL="285840" indent="-285480">
              <a:lnSpc>
                <a:spcPct val="100000"/>
              </a:lnSpc>
              <a:spcBef>
                <a:spcPts val="601"/>
              </a:spcBef>
              <a:buClr>
                <a:srgbClr val="000000"/>
              </a:buClr>
              <a:buFont typeface="Wingdings" charset="2"/>
              <a:buChar char=""/>
            </a:pPr>
            <a:r>
              <a:rPr b="0" lang="en-US" sz="1800" spc="-1" strike="noStrike">
                <a:solidFill>
                  <a:srgbClr val="000000"/>
                </a:solidFill>
                <a:latin typeface="Aptos"/>
              </a:rPr>
              <a:t>The higher the absolute value of </a:t>
            </a:r>
            <a:r>
              <a:rPr b="0" i="1" lang="en-US" sz="1800" spc="-1" strike="noStrike">
                <a:solidFill>
                  <a:srgbClr val="000000"/>
                </a:solidFill>
                <a:latin typeface="Aptos"/>
              </a:rPr>
              <a:t>GS</a:t>
            </a:r>
            <a:r>
              <a:rPr b="0" i="1" lang="en-US" sz="2800" spc="-1" strike="noStrike" baseline="-25000">
                <a:solidFill>
                  <a:srgbClr val="000000"/>
                </a:solidFill>
                <a:latin typeface="Aptos"/>
              </a:rPr>
              <a:t>i</a:t>
            </a:r>
            <a:r>
              <a:rPr b="0" i="1" lang="en-US" sz="1800" spc="-1" strike="noStrike">
                <a:solidFill>
                  <a:srgbClr val="000000"/>
                </a:solidFill>
                <a:latin typeface="Aptos"/>
              </a:rPr>
              <a:t> </a:t>
            </a:r>
            <a:r>
              <a:rPr b="0" lang="en-US" sz="1800" spc="-1" strike="noStrike">
                <a:solidFill>
                  <a:srgbClr val="000000"/>
                </a:solidFill>
                <a:latin typeface="Aptos"/>
              </a:rPr>
              <a:t>, the more biologically significant is the </a:t>
            </a:r>
            <a:r>
              <a:rPr b="0" i="1" lang="en-US" sz="1800" spc="-1" strike="noStrike">
                <a:solidFill>
                  <a:srgbClr val="000000"/>
                </a:solidFill>
                <a:latin typeface="Aptos"/>
              </a:rPr>
              <a:t>i-th</a:t>
            </a:r>
            <a:r>
              <a:rPr b="0" lang="en-US" sz="1800" spc="-1" strike="noStrike">
                <a:solidFill>
                  <a:srgbClr val="000000"/>
                </a:solidFill>
                <a:latin typeface="Aptos"/>
              </a:rPr>
              <a:t> gene.</a:t>
            </a:r>
            <a:endParaRPr b="0" lang="es-ES" sz="1800" spc="-1" strike="noStrike">
              <a:latin typeface="Arial"/>
            </a:endParaRPr>
          </a:p>
          <a:p>
            <a:pPr marL="285840" indent="-285480">
              <a:lnSpc>
                <a:spcPct val="100000"/>
              </a:lnSpc>
              <a:spcBef>
                <a:spcPts val="601"/>
              </a:spcBef>
              <a:buClr>
                <a:srgbClr val="000000"/>
              </a:buClr>
              <a:buFont typeface="Wingdings" charset="2"/>
              <a:buChar char=""/>
            </a:pPr>
            <a:r>
              <a:rPr b="0" lang="en-US" sz="1800" spc="-1" strike="noStrike">
                <a:solidFill>
                  <a:srgbClr val="000000"/>
                </a:solidFill>
                <a:latin typeface="Aptos"/>
              </a:rPr>
              <a:t>A gene significance measure could also be defined by minus log of a p-value.</a:t>
            </a:r>
            <a:endParaRPr b="0" lang="es-ES" sz="1800" spc="-1" strike="noStrike">
              <a:latin typeface="Arial"/>
            </a:endParaRPr>
          </a:p>
          <a:p>
            <a:pPr>
              <a:lnSpc>
                <a:spcPct val="100000"/>
              </a:lnSpc>
              <a:spcBef>
                <a:spcPts val="601"/>
              </a:spcBef>
            </a:pPr>
            <a:r>
              <a:rPr b="1" lang="en-US" sz="1800" spc="-1" strike="noStrike">
                <a:solidFill>
                  <a:srgbClr val="000000"/>
                </a:solidFill>
                <a:latin typeface="Aptos"/>
              </a:rPr>
              <a:t>4.2. Module significance</a:t>
            </a:r>
            <a:endParaRPr b="0" lang="es-ES" sz="1800" spc="-1" strike="noStrike">
              <a:latin typeface="Arial"/>
            </a:endParaRPr>
          </a:p>
          <a:p>
            <a:pPr>
              <a:lnSpc>
                <a:spcPct val="100000"/>
              </a:lnSpc>
              <a:spcBef>
                <a:spcPts val="601"/>
              </a:spcBef>
            </a:pPr>
            <a:r>
              <a:rPr b="0" lang="en-US" sz="1800" spc="-1" strike="noStrike">
                <a:solidFill>
                  <a:srgbClr val="000000"/>
                </a:solidFill>
                <a:latin typeface="Aptos"/>
              </a:rPr>
              <a:t>The average absolute gene significance measure for all genes in a given module.</a:t>
            </a:r>
            <a:endParaRPr b="0" lang="es-ES" sz="1800" spc="-1" strike="noStrike">
              <a:latin typeface="Arial"/>
            </a:endParaRPr>
          </a:p>
        </p:txBody>
      </p:sp>
      <p:sp>
        <p:nvSpPr>
          <p:cNvPr id="393" name="CustomShape 2"/>
          <p:cNvSpPr/>
          <p:nvPr/>
        </p:nvSpPr>
        <p:spPr>
          <a:xfrm>
            <a:off x="408240" y="3621960"/>
            <a:ext cx="11394000" cy="327996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spcBef>
                <a:spcPts val="601"/>
              </a:spcBef>
            </a:pPr>
            <a:r>
              <a:rPr b="1" lang="en-US" sz="1800" spc="-1" strike="noStrike">
                <a:solidFill>
                  <a:srgbClr val="000000"/>
                </a:solidFill>
                <a:latin typeface="Aptos"/>
              </a:rPr>
              <a:t>5. Other key parameters</a:t>
            </a:r>
            <a:endParaRPr b="0" lang="es-ES" sz="1800" spc="-1" strike="noStrike">
              <a:latin typeface="Arial"/>
            </a:endParaRPr>
          </a:p>
          <a:p>
            <a:pPr>
              <a:lnSpc>
                <a:spcPct val="100000"/>
              </a:lnSpc>
              <a:spcBef>
                <a:spcPts val="601"/>
              </a:spcBef>
            </a:pPr>
            <a:r>
              <a:rPr b="1" lang="en-US" sz="1800" spc="-1" strike="noStrike">
                <a:solidFill>
                  <a:srgbClr val="000000"/>
                </a:solidFill>
                <a:latin typeface="Aptos"/>
              </a:rPr>
              <a:t>Connectivity: </a:t>
            </a:r>
            <a:r>
              <a:rPr b="0" lang="en-US" sz="1800" spc="-1" strike="noStrike">
                <a:solidFill>
                  <a:srgbClr val="000000"/>
                </a:solidFill>
                <a:latin typeface="Aptos"/>
              </a:rPr>
              <a:t>it measures how correlated a gene is with all other network genes.</a:t>
            </a:r>
            <a:endParaRPr b="0" lang="es-ES" sz="1800" spc="-1" strike="noStrike">
              <a:latin typeface="Arial"/>
            </a:endParaRPr>
          </a:p>
          <a:p>
            <a:pPr>
              <a:lnSpc>
                <a:spcPct val="100000"/>
              </a:lnSpc>
              <a:spcBef>
                <a:spcPts val="601"/>
              </a:spcBef>
            </a:pPr>
            <a:r>
              <a:rPr b="1" lang="en-US" sz="1800" spc="-1" strike="noStrike">
                <a:solidFill>
                  <a:srgbClr val="000000"/>
                </a:solidFill>
                <a:latin typeface="Aptos"/>
              </a:rPr>
              <a:t>Intramodular connectivity (k</a:t>
            </a:r>
            <a:r>
              <a:rPr b="1" lang="en-US" sz="1800" spc="-1" strike="noStrike" baseline="-25000">
                <a:solidFill>
                  <a:srgbClr val="000000"/>
                </a:solidFill>
                <a:latin typeface="Aptos"/>
              </a:rPr>
              <a:t>IM</a:t>
            </a:r>
            <a:r>
              <a:rPr b="1" lang="en-US" sz="1800" spc="-1" strike="noStrike">
                <a:solidFill>
                  <a:srgbClr val="000000"/>
                </a:solidFill>
                <a:latin typeface="Aptos"/>
              </a:rPr>
              <a:t>): </a:t>
            </a:r>
            <a:r>
              <a:rPr b="0" lang="en-US" sz="1800" spc="-1" strike="noStrike">
                <a:solidFill>
                  <a:srgbClr val="000000"/>
                </a:solidFill>
                <a:latin typeface="Aptos"/>
              </a:rPr>
              <a:t>it measures how connected, or co-expressed, a given gene is with respect to the genes of a particular module.</a:t>
            </a:r>
            <a:endParaRPr b="0" lang="es-ES" sz="1800" spc="-1" strike="noStrike">
              <a:latin typeface="Arial"/>
            </a:endParaRPr>
          </a:p>
          <a:p>
            <a:pPr>
              <a:lnSpc>
                <a:spcPct val="100000"/>
              </a:lnSpc>
              <a:spcBef>
                <a:spcPts val="601"/>
              </a:spcBef>
            </a:pPr>
            <a:r>
              <a:rPr b="1" lang="en-US" sz="1800" spc="-1" strike="noStrike">
                <a:solidFill>
                  <a:srgbClr val="000000"/>
                </a:solidFill>
                <a:latin typeface="Aptos"/>
              </a:rPr>
              <a:t>Module eigengene E: </a:t>
            </a:r>
            <a:r>
              <a:rPr b="0" lang="en-US" sz="1800" spc="-1" strike="noStrike">
                <a:solidFill>
                  <a:srgbClr val="000000"/>
                </a:solidFill>
                <a:latin typeface="Aptos"/>
              </a:rPr>
              <a:t>The first principal component of a given module (such as a representative of the gene expression profiles in a module).</a:t>
            </a:r>
            <a:endParaRPr b="0" lang="es-ES" sz="1800" spc="-1" strike="noStrike">
              <a:latin typeface="Arial"/>
            </a:endParaRPr>
          </a:p>
          <a:p>
            <a:pPr>
              <a:lnSpc>
                <a:spcPct val="100000"/>
              </a:lnSpc>
              <a:spcBef>
                <a:spcPts val="601"/>
              </a:spcBef>
            </a:pPr>
            <a:r>
              <a:rPr b="1" lang="en-US" sz="1800" spc="-1" strike="noStrike">
                <a:solidFill>
                  <a:srgbClr val="000000"/>
                </a:solidFill>
                <a:latin typeface="Aptos"/>
              </a:rPr>
              <a:t>Eigengene significance: </a:t>
            </a:r>
            <a:r>
              <a:rPr b="0" lang="es-ES" sz="1800" spc="-1" strike="noStrike">
                <a:solidFill>
                  <a:srgbClr val="000000"/>
                </a:solidFill>
                <a:latin typeface="Aptos"/>
              </a:rPr>
              <a:t>The correlation coefficient between the module eigengene and a trait.</a:t>
            </a:r>
            <a:endParaRPr b="0" lang="es-ES" sz="1800" spc="-1" strike="noStrike">
              <a:latin typeface="Arial"/>
            </a:endParaRPr>
          </a:p>
          <a:p>
            <a:pPr>
              <a:lnSpc>
                <a:spcPct val="100000"/>
              </a:lnSpc>
              <a:spcBef>
                <a:spcPts val="601"/>
              </a:spcBef>
            </a:pPr>
            <a:r>
              <a:rPr b="1" lang="en-US" sz="1800" spc="-1" strike="noStrike">
                <a:solidFill>
                  <a:srgbClr val="000000"/>
                </a:solidFill>
                <a:latin typeface="Aptos"/>
              </a:rPr>
              <a:t>Module Membership (MM) </a:t>
            </a:r>
            <a:r>
              <a:rPr b="0" lang="en-US" sz="1600" spc="-1" strike="noStrike">
                <a:solidFill>
                  <a:srgbClr val="000000"/>
                </a:solidFill>
                <a:latin typeface="Aptos"/>
              </a:rPr>
              <a:t>(also known as eigengene-based connectivity </a:t>
            </a:r>
            <a:r>
              <a:rPr b="0" i="1" lang="en-US" sz="1600" spc="-1" strike="noStrike">
                <a:solidFill>
                  <a:srgbClr val="000000"/>
                </a:solidFill>
                <a:latin typeface="Aptos"/>
              </a:rPr>
              <a:t>k</a:t>
            </a:r>
            <a:r>
              <a:rPr b="0" i="1" lang="en-US" sz="1600" spc="-1" strike="noStrike" baseline="-25000">
                <a:solidFill>
                  <a:srgbClr val="000000"/>
                </a:solidFill>
                <a:latin typeface="Aptos"/>
              </a:rPr>
              <a:t>ME</a:t>
            </a:r>
            <a:r>
              <a:rPr b="0" i="1" lang="en-US" sz="1600" spc="-1" strike="noStrike">
                <a:solidFill>
                  <a:srgbClr val="000000"/>
                </a:solidFill>
                <a:latin typeface="Aptos"/>
              </a:rPr>
              <a:t>)</a:t>
            </a:r>
            <a:r>
              <a:rPr b="1" i="1" lang="en-US" sz="1800" spc="-1" strike="noStrike">
                <a:solidFill>
                  <a:srgbClr val="000000"/>
                </a:solidFill>
                <a:latin typeface="Aptos"/>
              </a:rPr>
              <a:t>: </a:t>
            </a:r>
            <a:r>
              <a:rPr b="0" lang="en-US" sz="1800" spc="-1" strike="noStrike">
                <a:solidFill>
                  <a:srgbClr val="000000"/>
                </a:solidFill>
                <a:latin typeface="Aptos"/>
              </a:rPr>
              <a:t>For each gene, a measure of module membership by correlating its gene expression profile with the module eigengene of a given module.</a:t>
            </a:r>
            <a:endParaRPr b="0" lang="es-ES" sz="1800" spc="-1" strike="noStrike">
              <a:latin typeface="Arial"/>
            </a:endParaRPr>
          </a:p>
        </p:txBody>
      </p:sp>
      <p:sp>
        <p:nvSpPr>
          <p:cNvPr id="394" name="CustomShape 3"/>
          <p:cNvSpPr/>
          <p:nvPr/>
        </p:nvSpPr>
        <p:spPr>
          <a:xfrm>
            <a:off x="3455280" y="289080"/>
            <a:ext cx="5281200" cy="91260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000000"/>
                </a:solidFill>
                <a:latin typeface="Aptos"/>
              </a:rPr>
              <a:t>WGCNA</a:t>
            </a:r>
            <a:endParaRPr b="0" lang="es-ES" sz="1800" spc="-1" strike="noStrike">
              <a:latin typeface="Arial"/>
            </a:endParaRPr>
          </a:p>
          <a:p>
            <a:pPr algn="ctr">
              <a:lnSpc>
                <a:spcPct val="100000"/>
              </a:lnSpc>
            </a:pPr>
            <a:r>
              <a:rPr b="1" lang="en-US" sz="1800" spc="-1" strike="noStrike">
                <a:solidFill>
                  <a:srgbClr val="000000"/>
                </a:solidFill>
                <a:latin typeface="Aptos"/>
              </a:rPr>
              <a:t>Weighted Gene Co-expression Network Analysis</a:t>
            </a:r>
            <a:endParaRPr b="0" lang="es-ES" sz="1800" spc="-1" strike="noStrike">
              <a:latin typeface="Arial"/>
            </a:endParaRPr>
          </a:p>
        </p:txBody>
      </p:sp>
      <p:pic>
        <p:nvPicPr>
          <p:cNvPr id="395" name="Imagen 2" descr=""/>
          <p:cNvPicPr/>
          <p:nvPr/>
        </p:nvPicPr>
        <p:blipFill>
          <a:blip r:embed="rId1"/>
          <a:stretch/>
        </p:blipFill>
        <p:spPr>
          <a:xfrm>
            <a:off x="8877960" y="230760"/>
            <a:ext cx="635760" cy="704520"/>
          </a:xfrm>
          <a:prstGeom prst="rect">
            <a:avLst/>
          </a:prstGeom>
          <a:ln>
            <a:noFill/>
          </a:ln>
        </p:spPr>
      </p:pic>
      <p:pic>
        <p:nvPicPr>
          <p:cNvPr id="396" name="Imagen 3" descr=""/>
          <p:cNvPicPr/>
          <p:nvPr/>
        </p:nvPicPr>
        <p:blipFill>
          <a:blip r:embed="rId2"/>
          <a:stretch/>
        </p:blipFill>
        <p:spPr>
          <a:xfrm>
            <a:off x="2678040" y="289080"/>
            <a:ext cx="635760" cy="704520"/>
          </a:xfrm>
          <a:prstGeom prst="rect">
            <a:avLst/>
          </a:prstGeom>
          <a:ln>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CustomShape 1"/>
          <p:cNvSpPr/>
          <p:nvPr/>
        </p:nvSpPr>
        <p:spPr>
          <a:xfrm>
            <a:off x="3049200" y="3003840"/>
            <a:ext cx="6093360" cy="173556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5400" spc="-1" strike="noStrike">
                <a:solidFill>
                  <a:srgbClr val="000000"/>
                </a:solidFill>
                <a:latin typeface="Aptos"/>
              </a:rPr>
              <a:t>Practical Exercise</a:t>
            </a:r>
            <a:endParaRPr b="0" lang="es-ES" sz="54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CustomShape 1"/>
          <p:cNvSpPr/>
          <p:nvPr/>
        </p:nvSpPr>
        <p:spPr>
          <a:xfrm>
            <a:off x="2954520" y="5014080"/>
            <a:ext cx="2569680" cy="118692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Differentially Expressed Genes-DEGs</a:t>
            </a:r>
            <a:endParaRPr b="0" lang="es-ES" sz="1800" spc="-1" strike="noStrike">
              <a:latin typeface="Arial"/>
            </a:endParaRPr>
          </a:p>
          <a:p>
            <a:pPr algn="ctr">
              <a:lnSpc>
                <a:spcPct val="100000"/>
              </a:lnSpc>
            </a:pPr>
            <a:r>
              <a:rPr b="0" lang="en-US" sz="1800" spc="-1" strike="noStrike">
                <a:solidFill>
                  <a:srgbClr val="000000"/>
                </a:solidFill>
                <a:latin typeface="Aptos"/>
              </a:rPr>
              <a:t>(individual genes)</a:t>
            </a:r>
            <a:endParaRPr b="0" lang="es-ES" sz="1800" spc="-1" strike="noStrike">
              <a:latin typeface="Arial"/>
            </a:endParaRPr>
          </a:p>
        </p:txBody>
      </p:sp>
      <p:sp>
        <p:nvSpPr>
          <p:cNvPr id="399" name="CustomShape 2"/>
          <p:cNvSpPr/>
          <p:nvPr/>
        </p:nvSpPr>
        <p:spPr>
          <a:xfrm>
            <a:off x="6032160" y="5014080"/>
            <a:ext cx="2211480" cy="118692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Co-expressed genes</a:t>
            </a:r>
            <a:endParaRPr b="0" lang="es-ES" sz="1800" spc="-1" strike="noStrike">
              <a:latin typeface="Arial"/>
            </a:endParaRPr>
          </a:p>
          <a:p>
            <a:pPr algn="ctr">
              <a:lnSpc>
                <a:spcPct val="100000"/>
              </a:lnSpc>
            </a:pPr>
            <a:r>
              <a:rPr b="0" lang="en-US" sz="1800" spc="-1" strike="noStrike">
                <a:solidFill>
                  <a:srgbClr val="000000"/>
                </a:solidFill>
                <a:latin typeface="Aptos"/>
              </a:rPr>
              <a:t>(Groups/modules of genes)</a:t>
            </a:r>
            <a:endParaRPr b="0" lang="es-ES" sz="1800" spc="-1" strike="noStrike">
              <a:latin typeface="Arial"/>
            </a:endParaRPr>
          </a:p>
        </p:txBody>
      </p:sp>
      <p:sp>
        <p:nvSpPr>
          <p:cNvPr id="400" name="CustomShape 3"/>
          <p:cNvSpPr/>
          <p:nvPr/>
        </p:nvSpPr>
        <p:spPr>
          <a:xfrm>
            <a:off x="4520160" y="316440"/>
            <a:ext cx="2273760" cy="638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Experimental Design</a:t>
            </a:r>
            <a:endParaRPr b="0" lang="es-ES" sz="1800" spc="-1" strike="noStrike">
              <a:latin typeface="Arial"/>
            </a:endParaRPr>
          </a:p>
        </p:txBody>
      </p:sp>
      <p:sp>
        <p:nvSpPr>
          <p:cNvPr id="401" name="CustomShape 4"/>
          <p:cNvSpPr/>
          <p:nvPr/>
        </p:nvSpPr>
        <p:spPr>
          <a:xfrm>
            <a:off x="4979160" y="902160"/>
            <a:ext cx="1342440" cy="91260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RNA-seq</a:t>
            </a:r>
            <a:endParaRPr b="0" lang="es-ES" sz="1800" spc="-1" strike="noStrike">
              <a:latin typeface="Arial"/>
            </a:endParaRPr>
          </a:p>
          <a:p>
            <a:pPr algn="ctr">
              <a:lnSpc>
                <a:spcPct val="100000"/>
              </a:lnSpc>
            </a:pPr>
            <a:r>
              <a:rPr b="0" lang="en-US" sz="1800" spc="-1" strike="noStrike">
                <a:solidFill>
                  <a:srgbClr val="000000"/>
                </a:solidFill>
                <a:latin typeface="Aptos"/>
              </a:rPr>
              <a:t>(raw data)</a:t>
            </a:r>
            <a:endParaRPr b="0" lang="es-ES" sz="1800" spc="-1" strike="noStrike">
              <a:latin typeface="Arial"/>
            </a:endParaRPr>
          </a:p>
        </p:txBody>
      </p:sp>
      <p:sp>
        <p:nvSpPr>
          <p:cNvPr id="402" name="CustomShape 5"/>
          <p:cNvSpPr/>
          <p:nvPr/>
        </p:nvSpPr>
        <p:spPr>
          <a:xfrm>
            <a:off x="4611600" y="1765080"/>
            <a:ext cx="2083320" cy="638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Quality Check (QC)</a:t>
            </a:r>
            <a:endParaRPr b="0" lang="es-ES" sz="1800" spc="-1" strike="noStrike">
              <a:latin typeface="Arial"/>
            </a:endParaRPr>
          </a:p>
        </p:txBody>
      </p:sp>
      <p:sp>
        <p:nvSpPr>
          <p:cNvPr id="403" name="CustomShape 6"/>
          <p:cNvSpPr/>
          <p:nvPr/>
        </p:nvSpPr>
        <p:spPr>
          <a:xfrm>
            <a:off x="5160240" y="2350800"/>
            <a:ext cx="993600" cy="638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Filtering</a:t>
            </a:r>
            <a:endParaRPr b="0" lang="es-ES" sz="1800" spc="-1" strike="noStrike">
              <a:latin typeface="Arial"/>
            </a:endParaRPr>
          </a:p>
        </p:txBody>
      </p:sp>
      <p:sp>
        <p:nvSpPr>
          <p:cNvPr id="404" name="CustomShape 7"/>
          <p:cNvSpPr/>
          <p:nvPr/>
        </p:nvSpPr>
        <p:spPr>
          <a:xfrm>
            <a:off x="5106960" y="2936880"/>
            <a:ext cx="1115280" cy="638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Mapping</a:t>
            </a:r>
            <a:endParaRPr b="0" lang="es-ES" sz="1800" spc="-1" strike="noStrike">
              <a:latin typeface="Arial"/>
            </a:endParaRPr>
          </a:p>
        </p:txBody>
      </p:sp>
      <p:sp>
        <p:nvSpPr>
          <p:cNvPr id="405" name="CustomShape 8"/>
          <p:cNvSpPr/>
          <p:nvPr/>
        </p:nvSpPr>
        <p:spPr>
          <a:xfrm>
            <a:off x="4215600" y="3957840"/>
            <a:ext cx="2887560" cy="3646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Counting/Normalization</a:t>
            </a:r>
            <a:endParaRPr b="0" lang="es-ES" sz="1800" spc="-1" strike="noStrike">
              <a:latin typeface="Arial"/>
            </a:endParaRPr>
          </a:p>
        </p:txBody>
      </p:sp>
      <p:sp>
        <p:nvSpPr>
          <p:cNvPr id="406" name="CustomShape 9"/>
          <p:cNvSpPr/>
          <p:nvPr/>
        </p:nvSpPr>
        <p:spPr>
          <a:xfrm flipH="1">
            <a:off x="5650560" y="685800"/>
            <a:ext cx="6480" cy="21600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407" name="CustomShape 10"/>
          <p:cNvSpPr/>
          <p:nvPr/>
        </p:nvSpPr>
        <p:spPr>
          <a:xfrm>
            <a:off x="5650560" y="1548360"/>
            <a:ext cx="2520" cy="21600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408" name="CustomShape 11"/>
          <p:cNvSpPr/>
          <p:nvPr/>
        </p:nvSpPr>
        <p:spPr>
          <a:xfrm>
            <a:off x="5653440" y="2134440"/>
            <a:ext cx="3600" cy="21600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409" name="CustomShape 12"/>
          <p:cNvSpPr/>
          <p:nvPr/>
        </p:nvSpPr>
        <p:spPr>
          <a:xfrm>
            <a:off x="5657400" y="2720160"/>
            <a:ext cx="7200" cy="21600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410" name="CustomShape 13"/>
          <p:cNvSpPr/>
          <p:nvPr/>
        </p:nvSpPr>
        <p:spPr>
          <a:xfrm flipH="1">
            <a:off x="5659560" y="3305880"/>
            <a:ext cx="5040" cy="65160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411" name="CustomShape 14"/>
          <p:cNvSpPr/>
          <p:nvPr/>
        </p:nvSpPr>
        <p:spPr>
          <a:xfrm flipH="1">
            <a:off x="4239000" y="4327200"/>
            <a:ext cx="1419480" cy="68652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sp>
        <p:nvSpPr>
          <p:cNvPr id="412" name="CustomShape 15"/>
          <p:cNvSpPr/>
          <p:nvPr/>
        </p:nvSpPr>
        <p:spPr>
          <a:xfrm>
            <a:off x="5659560" y="4327200"/>
            <a:ext cx="1478520" cy="686520"/>
          </a:xfrm>
          <a:custGeom>
            <a:avLst/>
            <a:gdLst/>
            <a:ahLst/>
            <a:rect l="l" t="t" r="r" b="b"/>
            <a:pathLst>
              <a:path w="21600" h="21600">
                <a:moveTo>
                  <a:pt x="0" y="0"/>
                </a:moveTo>
                <a:lnTo>
                  <a:pt x="21600" y="21600"/>
                </a:lnTo>
              </a:path>
            </a:pathLst>
          </a:custGeom>
          <a:noFill/>
          <a:ln w="28440">
            <a:tailEnd len="med" type="triangle" w="med"/>
          </a:ln>
        </p:spPr>
        <p:style>
          <a:lnRef idx="2">
            <a:schemeClr val="dk1"/>
          </a:lnRef>
          <a:fillRef idx="0">
            <a:schemeClr val="dk1"/>
          </a:fillRef>
          <a:effectRef idx="1">
            <a:schemeClr val="dk1"/>
          </a:effectRef>
          <a:fontRef idx="minor"/>
        </p:style>
      </p:sp>
      <p:pic>
        <p:nvPicPr>
          <p:cNvPr id="413" name="Picture 6" descr=""/>
          <p:cNvPicPr/>
          <p:nvPr/>
        </p:nvPicPr>
        <p:blipFill>
          <a:blip r:embed="rId1">
            <a:alphaModFix amt="50000"/>
          </a:blip>
          <a:stretch/>
        </p:blipFill>
        <p:spPr>
          <a:xfrm>
            <a:off x="1387800" y="3653280"/>
            <a:ext cx="1236600" cy="928440"/>
          </a:xfrm>
          <a:prstGeom prst="rect">
            <a:avLst/>
          </a:prstGeom>
          <a:ln>
            <a:noFill/>
          </a:ln>
        </p:spPr>
      </p:pic>
      <p:pic>
        <p:nvPicPr>
          <p:cNvPr id="414" name="Picture 2" descr="Babraham Bioinformatics"/>
          <p:cNvPicPr/>
          <p:nvPr/>
        </p:nvPicPr>
        <p:blipFill>
          <a:blip r:embed="rId2"/>
          <a:stretch/>
        </p:blipFill>
        <p:spPr>
          <a:xfrm>
            <a:off x="6740640" y="1721520"/>
            <a:ext cx="2595240" cy="475920"/>
          </a:xfrm>
          <a:prstGeom prst="rect">
            <a:avLst/>
          </a:prstGeom>
          <a:ln>
            <a:noFill/>
          </a:ln>
        </p:spPr>
      </p:pic>
      <p:sp>
        <p:nvSpPr>
          <p:cNvPr id="415" name="CustomShape 16"/>
          <p:cNvSpPr/>
          <p:nvPr/>
        </p:nvSpPr>
        <p:spPr>
          <a:xfrm>
            <a:off x="9142920" y="1740960"/>
            <a:ext cx="1495440" cy="3646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336699"/>
                </a:solidFill>
                <a:latin typeface="Consolas"/>
              </a:rPr>
              <a:t>FastQC</a:t>
            </a:r>
            <a:endParaRPr b="0" lang="es-ES" sz="1800" spc="-1" strike="noStrike">
              <a:latin typeface="Arial"/>
            </a:endParaRPr>
          </a:p>
        </p:txBody>
      </p:sp>
      <p:sp>
        <p:nvSpPr>
          <p:cNvPr id="416" name="CustomShape 17"/>
          <p:cNvSpPr/>
          <p:nvPr/>
        </p:nvSpPr>
        <p:spPr>
          <a:xfrm>
            <a:off x="1385280" y="2313360"/>
            <a:ext cx="1886040" cy="451440"/>
          </a:xfrm>
          <a:prstGeom prst="rect">
            <a:avLst/>
          </a:prstGeom>
          <a:noFill/>
          <a:ln>
            <a:noFill/>
          </a:ln>
        </p:spPr>
        <p:style>
          <a:lnRef idx="0"/>
          <a:fillRef idx="0"/>
          <a:effectRef idx="0"/>
          <a:fontRef idx="minor"/>
        </p:style>
        <p:txBody>
          <a:bodyPr lIns="90000" rIns="90000" tIns="45000" bIns="45000">
            <a:spAutoFit/>
          </a:bodyPr>
          <a:p>
            <a:pPr algn="ctr">
              <a:lnSpc>
                <a:spcPts val="2849"/>
              </a:lnSpc>
              <a:spcBef>
                <a:spcPts val="751"/>
              </a:spcBef>
              <a:spcAft>
                <a:spcPts val="751"/>
              </a:spcAft>
            </a:pPr>
            <a:r>
              <a:rPr b="0" lang="en-US" sz="1800" spc="-1" strike="noStrike">
                <a:solidFill>
                  <a:srgbClr val="298a08"/>
                </a:solidFill>
                <a:latin typeface="Consolas"/>
              </a:rPr>
              <a:t>Trimmomatic</a:t>
            </a:r>
            <a:endParaRPr b="0" lang="es-ES" sz="1800" spc="-1" strike="noStrike">
              <a:latin typeface="Arial"/>
            </a:endParaRPr>
          </a:p>
        </p:txBody>
      </p:sp>
      <p:pic>
        <p:nvPicPr>
          <p:cNvPr id="417" name="Imagen 30" descr=""/>
          <p:cNvPicPr/>
          <p:nvPr/>
        </p:nvPicPr>
        <p:blipFill>
          <a:blip r:embed="rId3"/>
          <a:stretch/>
        </p:blipFill>
        <p:spPr>
          <a:xfrm>
            <a:off x="3058560" y="2351520"/>
            <a:ext cx="2001240" cy="368640"/>
          </a:xfrm>
          <a:prstGeom prst="rect">
            <a:avLst/>
          </a:prstGeom>
          <a:ln>
            <a:noFill/>
          </a:ln>
        </p:spPr>
      </p:pic>
      <p:pic>
        <p:nvPicPr>
          <p:cNvPr id="418" name="Picture 4" descr=""/>
          <p:cNvPicPr/>
          <p:nvPr/>
        </p:nvPicPr>
        <p:blipFill>
          <a:blip r:embed="rId4">
            <a:alphaModFix amt="50000"/>
          </a:blip>
          <a:stretch/>
        </p:blipFill>
        <p:spPr>
          <a:xfrm>
            <a:off x="7692480" y="2623320"/>
            <a:ext cx="1236600" cy="1010520"/>
          </a:xfrm>
          <a:prstGeom prst="rect">
            <a:avLst/>
          </a:prstGeom>
          <a:ln>
            <a:noFill/>
          </a:ln>
        </p:spPr>
      </p:pic>
      <p:sp>
        <p:nvSpPr>
          <p:cNvPr id="419" name="CustomShape 18"/>
          <p:cNvSpPr/>
          <p:nvPr/>
        </p:nvSpPr>
        <p:spPr>
          <a:xfrm>
            <a:off x="7737840" y="2892600"/>
            <a:ext cx="1167840" cy="638280"/>
          </a:xfrm>
          <a:prstGeom prst="rect">
            <a:avLst/>
          </a:prstGeom>
          <a:solidFill>
            <a:schemeClr val="bg1">
              <a:alpha val="70000"/>
            </a:schemeClr>
          </a:solidFill>
          <a:ln>
            <a:noFill/>
          </a:ln>
          <a:effectLst>
            <a:softEdge rad="31750"/>
          </a:effectLst>
        </p:spPr>
        <p:style>
          <a:lnRef idx="0"/>
          <a:fillRef idx="0"/>
          <a:effectRef idx="0"/>
          <a:fontRef idx="minor"/>
        </p:style>
        <p:txBody>
          <a:bodyPr lIns="72000" rIns="72000" tIns="45000" bIns="45000">
            <a:spAutoFit/>
          </a:bodyPr>
          <a:p>
            <a:pPr algn="ctr">
              <a:lnSpc>
                <a:spcPct val="100000"/>
              </a:lnSpc>
            </a:pPr>
            <a:r>
              <a:rPr b="1" lang="en-US" sz="1800" spc="-1" strike="noStrike">
                <a:solidFill>
                  <a:srgbClr val="3a3a3a"/>
                </a:solidFill>
                <a:latin typeface="Consolas"/>
              </a:rPr>
              <a:t>kallisto</a:t>
            </a:r>
            <a:endParaRPr b="0" lang="es-ES" sz="1800" spc="-1" strike="noStrike">
              <a:latin typeface="Arial"/>
            </a:endParaRPr>
          </a:p>
        </p:txBody>
      </p:sp>
      <p:sp>
        <p:nvSpPr>
          <p:cNvPr id="420" name="CustomShape 19"/>
          <p:cNvSpPr/>
          <p:nvPr/>
        </p:nvSpPr>
        <p:spPr>
          <a:xfrm>
            <a:off x="1479960" y="3933000"/>
            <a:ext cx="1057680" cy="364680"/>
          </a:xfrm>
          <a:prstGeom prst="rect">
            <a:avLst/>
          </a:prstGeom>
          <a:solidFill>
            <a:schemeClr val="bg1">
              <a:alpha val="70000"/>
            </a:schemeClr>
          </a:solidFill>
          <a:ln>
            <a:noFill/>
          </a:ln>
          <a:effectLst>
            <a:softEdge rad="31750"/>
          </a:effectLst>
        </p:spPr>
        <p:style>
          <a:lnRef idx="0"/>
          <a:fillRef idx="0"/>
          <a:effectRef idx="0"/>
          <a:fontRef idx="minor"/>
        </p:style>
        <p:txBody>
          <a:bodyPr lIns="90000" rIns="90000" tIns="45000" bIns="45000">
            <a:spAutoFit/>
          </a:bodyPr>
          <a:p>
            <a:pPr algn="ctr">
              <a:lnSpc>
                <a:spcPct val="100000"/>
              </a:lnSpc>
            </a:pPr>
            <a:r>
              <a:rPr b="1" lang="en-US" sz="1800" spc="-1" strike="noStrike">
                <a:solidFill>
                  <a:srgbClr val="3a3a3a"/>
                </a:solidFill>
                <a:latin typeface="Consolas"/>
              </a:rPr>
              <a:t>sleuth</a:t>
            </a:r>
            <a:endParaRPr b="0" lang="es-ES" sz="1800" spc="-1" strike="noStrike">
              <a:latin typeface="Arial"/>
            </a:endParaRPr>
          </a:p>
        </p:txBody>
      </p:sp>
      <p:pic>
        <p:nvPicPr>
          <p:cNvPr id="421" name="Imagen 34" descr=""/>
          <p:cNvPicPr/>
          <p:nvPr/>
        </p:nvPicPr>
        <p:blipFill>
          <a:blip r:embed="rId5"/>
          <a:stretch/>
        </p:blipFill>
        <p:spPr>
          <a:xfrm>
            <a:off x="6279840" y="2949840"/>
            <a:ext cx="1384920" cy="354960"/>
          </a:xfrm>
          <a:prstGeom prst="rect">
            <a:avLst/>
          </a:prstGeom>
          <a:ln>
            <a:noFill/>
          </a:ln>
        </p:spPr>
      </p:pic>
      <p:grpSp>
        <p:nvGrpSpPr>
          <p:cNvPr id="422" name="Group 20"/>
          <p:cNvGrpSpPr/>
          <p:nvPr/>
        </p:nvGrpSpPr>
        <p:grpSpPr>
          <a:xfrm>
            <a:off x="8281080" y="5014080"/>
            <a:ext cx="3459600" cy="923040"/>
            <a:chOff x="8281080" y="5014080"/>
            <a:chExt cx="3459600" cy="923040"/>
          </a:xfrm>
        </p:grpSpPr>
        <p:sp>
          <p:nvSpPr>
            <p:cNvPr id="423" name="CustomShape 21"/>
            <p:cNvSpPr/>
            <p:nvPr/>
          </p:nvSpPr>
          <p:spPr>
            <a:xfrm>
              <a:off x="8281080" y="5014080"/>
              <a:ext cx="3459600" cy="923040"/>
            </a:xfrm>
            <a:prstGeom prst="rect">
              <a:avLst/>
            </a:prstGeom>
            <a:solidFill>
              <a:srgbClr val="444444"/>
            </a:solidFill>
            <a:ln>
              <a:solidFill>
                <a:srgbClr val="444444"/>
              </a:solidFill>
            </a:ln>
          </p:spPr>
          <p:style>
            <a:lnRef idx="2">
              <a:schemeClr val="accent1">
                <a:shade val="15000"/>
              </a:schemeClr>
            </a:lnRef>
            <a:fillRef idx="1">
              <a:schemeClr val="accent1"/>
            </a:fillRef>
            <a:effectRef idx="0">
              <a:schemeClr val="accent1"/>
            </a:effectRef>
            <a:fontRef idx="minor"/>
          </p:style>
        </p:sp>
        <p:pic>
          <p:nvPicPr>
            <p:cNvPr id="424" name="Imagen 35" descr=""/>
            <p:cNvPicPr/>
            <p:nvPr/>
          </p:nvPicPr>
          <p:blipFill>
            <a:blip r:embed="rId6"/>
            <a:stretch/>
          </p:blipFill>
          <p:spPr>
            <a:xfrm>
              <a:off x="8281080" y="5014080"/>
              <a:ext cx="3459600" cy="432720"/>
            </a:xfrm>
            <a:prstGeom prst="rect">
              <a:avLst/>
            </a:prstGeom>
            <a:ln>
              <a:noFill/>
            </a:ln>
          </p:spPr>
        </p:pic>
        <p:pic>
          <p:nvPicPr>
            <p:cNvPr id="425" name="Imagen 36" descr=""/>
            <p:cNvPicPr/>
            <p:nvPr/>
          </p:nvPicPr>
          <p:blipFill>
            <a:blip r:embed="rId7"/>
            <a:stretch/>
          </p:blipFill>
          <p:spPr>
            <a:xfrm>
              <a:off x="8330040" y="5434200"/>
              <a:ext cx="3316320" cy="502920"/>
            </a:xfrm>
            <a:prstGeom prst="rect">
              <a:avLst/>
            </a:prstGeom>
            <a:ln>
              <a:noFill/>
            </a:ln>
          </p:spPr>
        </p:pic>
      </p:grpSp>
      <p:pic>
        <p:nvPicPr>
          <p:cNvPr id="426" name="Imagen 39" descr=""/>
          <p:cNvPicPr/>
          <p:nvPr/>
        </p:nvPicPr>
        <p:blipFill>
          <a:blip r:embed="rId8"/>
          <a:stretch/>
        </p:blipFill>
        <p:spPr>
          <a:xfrm>
            <a:off x="2760120" y="3974400"/>
            <a:ext cx="1384920" cy="354960"/>
          </a:xfrm>
          <a:prstGeom prst="rect">
            <a:avLst/>
          </a:prstGeom>
          <a:ln>
            <a:noFill/>
          </a:ln>
        </p:spPr>
      </p:pic>
      <p:pic>
        <p:nvPicPr>
          <p:cNvPr id="427" name="Gráfico 43" descr="Burbuja de chat con relleno sólido"/>
          <p:cNvPicPr/>
          <p:nvPr/>
        </p:nvPicPr>
        <p:blipFill>
          <a:blip r:embed="rId9"/>
          <a:stretch/>
        </p:blipFill>
        <p:spPr>
          <a:xfrm flipH="1">
            <a:off x="10240920" y="1575720"/>
            <a:ext cx="375480" cy="375480"/>
          </a:xfrm>
          <a:prstGeom prst="rect">
            <a:avLst/>
          </a:prstGeom>
          <a:ln>
            <a:noFill/>
          </a:ln>
        </p:spPr>
      </p:pic>
      <p:pic>
        <p:nvPicPr>
          <p:cNvPr id="428" name="Gráfico 51" descr="Burbuja de chat con relleno sólido"/>
          <p:cNvPicPr/>
          <p:nvPr/>
        </p:nvPicPr>
        <p:blipFill>
          <a:blip r:embed="rId10"/>
          <a:stretch/>
        </p:blipFill>
        <p:spPr>
          <a:xfrm>
            <a:off x="1292400" y="2197800"/>
            <a:ext cx="375480" cy="375480"/>
          </a:xfrm>
          <a:prstGeom prst="rect">
            <a:avLst/>
          </a:prstGeom>
          <a:ln>
            <a:noFill/>
          </a:ln>
        </p:spPr>
      </p:pic>
      <p:pic>
        <p:nvPicPr>
          <p:cNvPr id="429" name="Gráfico 52" descr="Burbuja de chat con relleno sólido"/>
          <p:cNvPicPr/>
          <p:nvPr/>
        </p:nvPicPr>
        <p:blipFill>
          <a:blip r:embed="rId11"/>
          <a:stretch/>
        </p:blipFill>
        <p:spPr>
          <a:xfrm flipH="1">
            <a:off x="8912880" y="2585880"/>
            <a:ext cx="375480" cy="375480"/>
          </a:xfrm>
          <a:prstGeom prst="rect">
            <a:avLst/>
          </a:prstGeom>
          <a:ln>
            <a:noFill/>
          </a:ln>
        </p:spPr>
      </p:pic>
      <p:pic>
        <p:nvPicPr>
          <p:cNvPr id="430" name="Gráfico 53" descr="Burbuja de chat con relleno sólido"/>
          <p:cNvPicPr/>
          <p:nvPr/>
        </p:nvPicPr>
        <p:blipFill>
          <a:blip r:embed="rId12"/>
          <a:stretch/>
        </p:blipFill>
        <p:spPr>
          <a:xfrm>
            <a:off x="1033920" y="3592800"/>
            <a:ext cx="375480" cy="375480"/>
          </a:xfrm>
          <a:prstGeom prst="rect">
            <a:avLst/>
          </a:prstGeom>
          <a:ln>
            <a:noFill/>
          </a:ln>
        </p:spPr>
      </p:pic>
      <p:pic>
        <p:nvPicPr>
          <p:cNvPr id="431" name="Gráfico 8" descr="Burbuja de chat con relleno sólido"/>
          <p:cNvPicPr/>
          <p:nvPr/>
        </p:nvPicPr>
        <p:blipFill>
          <a:blip r:embed="rId13"/>
          <a:stretch/>
        </p:blipFill>
        <p:spPr>
          <a:xfrm flipH="1">
            <a:off x="11723760" y="4861440"/>
            <a:ext cx="375480" cy="375480"/>
          </a:xfrm>
          <a:prstGeom prst="rect">
            <a:avLst/>
          </a:prstGeom>
          <a:ln>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CustomShape 1"/>
          <p:cNvSpPr/>
          <p:nvPr/>
        </p:nvSpPr>
        <p:spPr>
          <a:xfrm>
            <a:off x="0" y="6059160"/>
            <a:ext cx="6097680" cy="791640"/>
          </a:xfrm>
          <a:prstGeom prst="rect">
            <a:avLst/>
          </a:prstGeom>
          <a:noFill/>
          <a:ln>
            <a:noFill/>
          </a:ln>
        </p:spPr>
        <p:style>
          <a:lnRef idx="0"/>
          <a:fillRef idx="0"/>
          <a:effectRef idx="0"/>
          <a:fontRef idx="minor"/>
        </p:style>
        <p:txBody>
          <a:bodyPr lIns="90000" rIns="90000" tIns="45000" bIns="45000">
            <a:spAutoFit/>
          </a:bodyPr>
          <a:p>
            <a:pPr>
              <a:lnSpc>
                <a:spcPct val="100000"/>
              </a:lnSpc>
              <a:spcBef>
                <a:spcPts val="601"/>
              </a:spcBef>
              <a:spcAft>
                <a:spcPts val="601"/>
              </a:spcAft>
            </a:pPr>
            <a:r>
              <a:rPr b="0" lang="en-US" sz="1800" spc="-1" strike="noStrike">
                <a:solidFill>
                  <a:srgbClr val="000000"/>
                </a:solidFill>
                <a:latin typeface="Aptos"/>
              </a:rPr>
              <a:t>Des Marais et al (2017) </a:t>
            </a:r>
            <a:endParaRPr b="0" lang="es-ES" sz="1800" spc="-1" strike="noStrike">
              <a:latin typeface="Arial"/>
            </a:endParaRPr>
          </a:p>
          <a:p>
            <a:pPr>
              <a:lnSpc>
                <a:spcPct val="100000"/>
              </a:lnSpc>
              <a:spcBef>
                <a:spcPts val="601"/>
              </a:spcBef>
              <a:spcAft>
                <a:spcPts val="601"/>
              </a:spcAft>
            </a:pPr>
            <a:r>
              <a:rPr b="0" lang="en-US" sz="1800" spc="-1" strike="noStrike">
                <a:solidFill>
                  <a:srgbClr val="000000"/>
                </a:solidFill>
                <a:latin typeface="Aptos"/>
              </a:rPr>
              <a:t>Sancho et al. (2022)</a:t>
            </a:r>
            <a:endParaRPr b="0" lang="es-ES" sz="1800" spc="-1" strike="noStrike">
              <a:latin typeface="Arial"/>
            </a:endParaRPr>
          </a:p>
        </p:txBody>
      </p:sp>
      <p:pic>
        <p:nvPicPr>
          <p:cNvPr id="433" name="Imagen 20" descr=""/>
          <p:cNvPicPr/>
          <p:nvPr/>
        </p:nvPicPr>
        <p:blipFill>
          <a:blip r:embed="rId1"/>
          <a:srcRect l="0" t="0" r="0" b="14136"/>
          <a:stretch/>
        </p:blipFill>
        <p:spPr>
          <a:xfrm>
            <a:off x="2181960" y="2293200"/>
            <a:ext cx="7861680" cy="2913480"/>
          </a:xfrm>
          <a:prstGeom prst="rect">
            <a:avLst/>
          </a:prstGeom>
          <a:ln>
            <a:noFill/>
          </a:ln>
        </p:spPr>
      </p:pic>
      <p:sp>
        <p:nvSpPr>
          <p:cNvPr id="434" name="CustomShape 2"/>
          <p:cNvSpPr/>
          <p:nvPr/>
        </p:nvSpPr>
        <p:spPr>
          <a:xfrm>
            <a:off x="4532040" y="261000"/>
            <a:ext cx="3127320" cy="82116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400" spc="-1" strike="noStrike">
                <a:solidFill>
                  <a:srgbClr val="000000"/>
                </a:solidFill>
                <a:latin typeface="Aptos"/>
              </a:rPr>
              <a:t>Experimental Design</a:t>
            </a:r>
            <a:endParaRPr b="0" lang="es-ES" sz="2400" spc="-1" strike="noStrike">
              <a:latin typeface="Arial"/>
            </a:endParaRPr>
          </a:p>
        </p:txBody>
      </p:sp>
      <p:sp>
        <p:nvSpPr>
          <p:cNvPr id="435" name="CustomShape 3"/>
          <p:cNvSpPr/>
          <p:nvPr/>
        </p:nvSpPr>
        <p:spPr>
          <a:xfrm>
            <a:off x="516960" y="928800"/>
            <a:ext cx="1091268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Aptos"/>
              </a:rPr>
              <a:t>Hypothesis: </a:t>
            </a:r>
            <a:r>
              <a:rPr b="0" lang="en-US" sz="1800" spc="-1" strike="noStrike">
                <a:solidFill>
                  <a:srgbClr val="000000"/>
                </a:solidFill>
                <a:latin typeface="Aptos"/>
              </a:rPr>
              <a:t>There are genes with similar expression profiles involved in the response to water stress.</a:t>
            </a:r>
            <a:endParaRPr b="0" lang="es-ES" sz="1800" spc="-1" strike="noStrike">
              <a:latin typeface="Arial"/>
            </a:endParaRPr>
          </a:p>
        </p:txBody>
      </p:sp>
      <p:sp>
        <p:nvSpPr>
          <p:cNvPr id="436" name="CustomShape 4"/>
          <p:cNvSpPr/>
          <p:nvPr/>
        </p:nvSpPr>
        <p:spPr>
          <a:xfrm>
            <a:off x="516960" y="1298160"/>
            <a:ext cx="11358360" cy="63900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Aptos"/>
              </a:rPr>
              <a:t>Objective: </a:t>
            </a:r>
            <a:r>
              <a:rPr b="0" lang="en-US" sz="1800" spc="-1" strike="noStrike">
                <a:solidFill>
                  <a:srgbClr val="000000"/>
                </a:solidFill>
                <a:latin typeface="Aptos"/>
              </a:rPr>
              <a:t>To detect a set of co-expressed genes involved in the response to water stress and the hub genes with a key role in the regulation of the module.</a:t>
            </a:r>
            <a:endParaRPr b="0" lang="es-ES" sz="1800" spc="-1" strike="noStrike">
              <a:latin typeface="Arial"/>
            </a:endParaRPr>
          </a:p>
        </p:txBody>
      </p:sp>
      <p:pic>
        <p:nvPicPr>
          <p:cNvPr id="437" name="Gráfico 1" descr="Burbuja de chat con relleno sólido"/>
          <p:cNvPicPr/>
          <p:nvPr/>
        </p:nvPicPr>
        <p:blipFill>
          <a:blip r:embed="rId2"/>
          <a:stretch/>
        </p:blipFill>
        <p:spPr>
          <a:xfrm flipH="1">
            <a:off x="2328120" y="5951160"/>
            <a:ext cx="375480" cy="375480"/>
          </a:xfrm>
          <a:prstGeom prst="rect">
            <a:avLst/>
          </a:prstGeom>
          <a:ln>
            <a:noFill/>
          </a:ln>
        </p:spPr>
      </p:pic>
      <p:pic>
        <p:nvPicPr>
          <p:cNvPr id="438" name="Gráfico 2" descr="Burbuja de chat con relleno sólido"/>
          <p:cNvPicPr/>
          <p:nvPr/>
        </p:nvPicPr>
        <p:blipFill>
          <a:blip r:embed="rId3"/>
          <a:stretch/>
        </p:blipFill>
        <p:spPr>
          <a:xfrm flipH="1">
            <a:off x="2022120" y="6382440"/>
            <a:ext cx="375480" cy="375480"/>
          </a:xfrm>
          <a:prstGeom prst="rect">
            <a:avLst/>
          </a:prstGeom>
          <a:ln>
            <a:noFill/>
          </a:ln>
        </p:spPr>
      </p:pic>
      <p:sp>
        <p:nvSpPr>
          <p:cNvPr id="439" name="CustomShape 5"/>
          <p:cNvSpPr/>
          <p:nvPr/>
        </p:nvSpPr>
        <p:spPr>
          <a:xfrm>
            <a:off x="3049200" y="5188680"/>
            <a:ext cx="1888200" cy="42516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100" spc="-1" strike="noStrike">
                <a:solidFill>
                  <a:srgbClr val="000000"/>
                </a:solidFill>
                <a:latin typeface="Calibri"/>
                <a:ea typeface="Calibri"/>
              </a:rPr>
              <a:t>Two youngest fully-expanded leaves of the tallest tiller0</a:t>
            </a:r>
            <a:endParaRPr b="0" lang="es-ES" sz="1100" spc="-1" strike="noStrike">
              <a:latin typeface="Arial"/>
            </a:endParaRPr>
          </a:p>
        </p:txBody>
      </p:sp>
      <p:sp>
        <p:nvSpPr>
          <p:cNvPr id="440" name="CustomShape 6"/>
          <p:cNvSpPr/>
          <p:nvPr/>
        </p:nvSpPr>
        <p:spPr>
          <a:xfrm>
            <a:off x="5168880" y="5177880"/>
            <a:ext cx="1888200" cy="25776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100" spc="-1" strike="noStrike">
                <a:solidFill>
                  <a:srgbClr val="000000"/>
                </a:solidFill>
                <a:latin typeface="Calibri"/>
                <a:ea typeface="Calibri"/>
              </a:rPr>
              <a:t>3’ cDNA tag</a:t>
            </a:r>
            <a:endParaRPr b="0" lang="es-ES" sz="1100" spc="-1" strike="noStrike">
              <a:latin typeface="Arial"/>
            </a:endParaRPr>
          </a:p>
        </p:txBody>
      </p:sp>
      <p:sp>
        <p:nvSpPr>
          <p:cNvPr id="441" name="CustomShape 7"/>
          <p:cNvSpPr/>
          <p:nvPr/>
        </p:nvSpPr>
        <p:spPr>
          <a:xfrm>
            <a:off x="7288560" y="5187960"/>
            <a:ext cx="1888200" cy="25776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100" spc="-1" strike="noStrike">
                <a:solidFill>
                  <a:srgbClr val="000000"/>
                </a:solidFill>
                <a:latin typeface="Calibri"/>
                <a:ea typeface="Calibri"/>
              </a:rPr>
              <a:t>Illumina HiSeq system</a:t>
            </a:r>
            <a:endParaRPr b="0" lang="es-ES" sz="11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443" name="CustomShape 2"/>
          <p:cNvSpPr/>
          <p:nvPr/>
        </p:nvSpPr>
        <p:spPr>
          <a:xfrm>
            <a:off x="808920" y="859680"/>
            <a:ext cx="10573920" cy="615780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marL="285840" indent="-285480">
              <a:lnSpc>
                <a:spcPct val="100000"/>
              </a:lnSpc>
              <a:spcBef>
                <a:spcPts val="601"/>
              </a:spcBef>
              <a:spcAft>
                <a:spcPts val="601"/>
              </a:spcAft>
              <a:buClr>
                <a:srgbClr val="000000"/>
              </a:buClr>
              <a:buFont typeface="Wingdings" charset="2"/>
              <a:buChar char=""/>
            </a:pPr>
            <a:r>
              <a:rPr b="0" lang="es-ES" sz="1800" spc="-1" strike="noStrike">
                <a:solidFill>
                  <a:srgbClr val="000000"/>
                </a:solidFill>
                <a:latin typeface="Aptos"/>
              </a:rPr>
              <a:t>OPEN the “</a:t>
            </a:r>
            <a:r>
              <a:rPr b="1" lang="es-ES" sz="1800" spc="-1" strike="noStrike" u="sng">
                <a:solidFill>
                  <a:srgbClr val="000000"/>
                </a:solidFill>
                <a:uFillTx/>
                <a:latin typeface="Aptos"/>
              </a:rPr>
              <a:t>Readme_Docker_Transcriptomic_class.txt</a:t>
            </a:r>
            <a:r>
              <a:rPr b="0" lang="es-ES" sz="1800" spc="-1" strike="noStrike">
                <a:solidFill>
                  <a:srgbClr val="000000"/>
                </a:solidFill>
                <a:latin typeface="Aptos"/>
              </a:rPr>
              <a:t>” file</a:t>
            </a:r>
            <a:endParaRPr b="0" lang="es-ES" sz="1800" spc="-1" strike="noStrike">
              <a:latin typeface="Arial"/>
            </a:endParaRPr>
          </a:p>
          <a:p>
            <a:pPr lvl="1" marL="743040" indent="-285480">
              <a:lnSpc>
                <a:spcPct val="100000"/>
              </a:lnSpc>
              <a:spcBef>
                <a:spcPts val="601"/>
              </a:spcBef>
              <a:spcAft>
                <a:spcPts val="601"/>
              </a:spcAft>
              <a:buClr>
                <a:srgbClr val="000000"/>
              </a:buClr>
              <a:buFont typeface="Wingdings" charset="2"/>
              <a:buChar char=""/>
            </a:pPr>
            <a:r>
              <a:rPr b="0" lang="es-ES" sz="1800" spc="-1" strike="noStrike">
                <a:solidFill>
                  <a:srgbClr val="000000"/>
                </a:solidFill>
                <a:latin typeface="Aptos"/>
              </a:rPr>
              <a:t>OPEN Ubuntu (WSL)</a:t>
            </a:r>
            <a:endParaRPr b="0" lang="es-ES" sz="1800" spc="-1" strike="noStrike">
              <a:latin typeface="Arial"/>
            </a:endParaRPr>
          </a:p>
          <a:p>
            <a:pPr lvl="1" marL="743040" indent="-285480">
              <a:lnSpc>
                <a:spcPct val="100000"/>
              </a:lnSpc>
              <a:spcBef>
                <a:spcPts val="601"/>
              </a:spcBef>
              <a:spcAft>
                <a:spcPts val="601"/>
              </a:spcAft>
              <a:buClr>
                <a:srgbClr val="000000"/>
              </a:buClr>
              <a:buFont typeface="Wingdings" charset="2"/>
              <a:buChar char=""/>
            </a:pPr>
            <a:r>
              <a:rPr b="0" lang="en-US" sz="1800" spc="-1" strike="noStrike">
                <a:solidFill>
                  <a:srgbClr val="000000"/>
                </a:solidFill>
                <a:latin typeface="Aptos"/>
              </a:rPr>
              <a:t>In your </a:t>
            </a:r>
            <a:r>
              <a:rPr b="0" lang="en-US" sz="1800" spc="-1" strike="noStrike">
                <a:solidFill>
                  <a:srgbClr val="000000"/>
                </a:solidFill>
                <a:latin typeface="Consolas"/>
              </a:rPr>
              <a:t>home</a:t>
            </a:r>
            <a:r>
              <a:rPr b="0" lang="en-US" sz="1800" spc="-1" strike="noStrike">
                <a:solidFill>
                  <a:srgbClr val="000000"/>
                </a:solidFill>
                <a:latin typeface="Aptos"/>
              </a:rPr>
              <a:t>, create the folder "</a:t>
            </a:r>
            <a:r>
              <a:rPr b="0" lang="en-US" sz="1800" spc="-1" strike="noStrike">
                <a:solidFill>
                  <a:srgbClr val="000000"/>
                </a:solidFill>
                <a:latin typeface="Consolas"/>
              </a:rPr>
              <a:t>transcriptome_class</a:t>
            </a:r>
            <a:r>
              <a:rPr b="0" lang="en-US" sz="1800" spc="-1" strike="noStrike">
                <a:solidFill>
                  <a:srgbClr val="000000"/>
                </a:solidFill>
                <a:latin typeface="Aptos"/>
              </a:rPr>
              <a:t>" and extend permissions</a:t>
            </a:r>
            <a:endParaRPr b="0" lang="es-ES" sz="1800" spc="-1" strike="noStrike">
              <a:latin typeface="Arial"/>
            </a:endParaRPr>
          </a:p>
          <a:p>
            <a:pPr lvl="2" marL="1200240" indent="-285480">
              <a:lnSpc>
                <a:spcPct val="100000"/>
              </a:lnSpc>
              <a:spcBef>
                <a:spcPts val="601"/>
              </a:spcBef>
              <a:spcAft>
                <a:spcPts val="601"/>
              </a:spcAft>
              <a:buClr>
                <a:srgbClr val="000000"/>
              </a:buClr>
              <a:buFont typeface="Wingdings" charset="2"/>
              <a:buChar char=""/>
            </a:pPr>
            <a:r>
              <a:rPr b="0" lang="es-ES" sz="1800" spc="-1" strike="noStrike">
                <a:solidFill>
                  <a:srgbClr val="000000"/>
                </a:solidFill>
                <a:latin typeface="Consolas"/>
              </a:rPr>
              <a:t>mkdir </a:t>
            </a:r>
            <a:r>
              <a:rPr b="0" lang="en-US" sz="1800" spc="-1" strike="noStrike">
                <a:solidFill>
                  <a:srgbClr val="000000"/>
                </a:solidFill>
                <a:latin typeface="Consolas"/>
              </a:rPr>
              <a:t>transcriptome_class</a:t>
            </a:r>
            <a:endParaRPr b="0" lang="es-ES" sz="1800" spc="-1" strike="noStrike">
              <a:latin typeface="Arial"/>
            </a:endParaRPr>
          </a:p>
          <a:p>
            <a:pPr lvl="2" marL="1200240" indent="-285480">
              <a:lnSpc>
                <a:spcPct val="100000"/>
              </a:lnSpc>
              <a:spcBef>
                <a:spcPts val="601"/>
              </a:spcBef>
              <a:spcAft>
                <a:spcPts val="601"/>
              </a:spcAft>
              <a:buClr>
                <a:srgbClr val="000000"/>
              </a:buClr>
              <a:buFont typeface="Wingdings" charset="2"/>
              <a:buChar char=""/>
            </a:pPr>
            <a:r>
              <a:rPr b="0" lang="es-ES" sz="1800" spc="-1" strike="noStrike">
                <a:solidFill>
                  <a:srgbClr val="000000"/>
                </a:solidFill>
                <a:latin typeface="Consolas"/>
              </a:rPr>
              <a:t>chmod 777 transcriptome_class</a:t>
            </a:r>
            <a:endParaRPr b="0" lang="es-ES" sz="1800" spc="-1" strike="noStrike">
              <a:latin typeface="Arial"/>
            </a:endParaRPr>
          </a:p>
          <a:p>
            <a:pPr lvl="1" marL="743040" indent="-285480">
              <a:lnSpc>
                <a:spcPct val="100000"/>
              </a:lnSpc>
              <a:spcBef>
                <a:spcPts val="601"/>
              </a:spcBef>
              <a:spcAft>
                <a:spcPts val="601"/>
              </a:spcAft>
              <a:buClr>
                <a:srgbClr val="000000"/>
              </a:buClr>
              <a:buFont typeface="Wingdings" charset="2"/>
              <a:buChar char=""/>
            </a:pPr>
            <a:r>
              <a:rPr b="0" lang="es-ES" sz="1800" spc="-1" strike="noStrike">
                <a:solidFill>
                  <a:srgbClr val="000000"/>
                </a:solidFill>
                <a:latin typeface="Aptos"/>
              </a:rPr>
              <a:t>Docker environment: </a:t>
            </a:r>
            <a:r>
              <a:rPr b="0" lang="es-ES" sz="1800" spc="-1" strike="noStrike" u="sng">
                <a:solidFill>
                  <a:srgbClr val="467886"/>
                </a:solidFill>
                <a:uFillTx/>
                <a:latin typeface="Aptos"/>
                <a:hlinkClick r:id="rId1"/>
              </a:rPr>
              <a:t>https://github.com/eead-csic-compbio/bioinformatics/tree/main/docker</a:t>
            </a:r>
            <a:endParaRPr b="0" lang="es-ES" sz="1800" spc="-1" strike="noStrike">
              <a:latin typeface="Arial"/>
            </a:endParaRPr>
          </a:p>
          <a:p>
            <a:pPr lvl="2" marL="1200240" indent="-285480">
              <a:lnSpc>
                <a:spcPct val="100000"/>
              </a:lnSpc>
              <a:spcBef>
                <a:spcPts val="601"/>
              </a:spcBef>
              <a:spcAft>
                <a:spcPts val="601"/>
              </a:spcAft>
              <a:buClr>
                <a:srgbClr val="000000"/>
              </a:buClr>
              <a:buFont typeface="Wingdings" charset="2"/>
              <a:buChar char=""/>
            </a:pPr>
            <a:r>
              <a:rPr b="0" lang="es-ES" sz="1800" spc="-1" strike="noStrike">
                <a:solidFill>
                  <a:srgbClr val="000000"/>
                </a:solidFill>
                <a:latin typeface="Aptos"/>
              </a:rPr>
              <a:t>Run (in Ubuntu): </a:t>
            </a:r>
            <a:r>
              <a:rPr b="0" lang="es-ES" sz="1800" spc="-1" strike="noStrike">
                <a:solidFill>
                  <a:srgbClr val="000000"/>
                </a:solidFill>
                <a:latin typeface="Consolas"/>
              </a:rPr>
              <a:t>docker pull csicunam/bioinformatics_iamz:latest</a:t>
            </a:r>
            <a:endParaRPr b="0" lang="es-ES" sz="1800" spc="-1" strike="noStrike">
              <a:latin typeface="Arial"/>
            </a:endParaRPr>
          </a:p>
          <a:p>
            <a:pPr lvl="2" marL="1200240" indent="-285480">
              <a:lnSpc>
                <a:spcPct val="100000"/>
              </a:lnSpc>
              <a:spcBef>
                <a:spcPts val="601"/>
              </a:spcBef>
              <a:spcAft>
                <a:spcPts val="601"/>
              </a:spcAft>
              <a:buClr>
                <a:srgbClr val="000000"/>
              </a:buClr>
              <a:buFont typeface="Wingdings" charset="2"/>
              <a:buChar char=""/>
            </a:pPr>
            <a:r>
              <a:rPr b="0" lang="en-US" sz="1800" spc="-1" strike="noStrike">
                <a:solidFill>
                  <a:srgbClr val="000000"/>
                </a:solidFill>
                <a:latin typeface="Aptos"/>
              </a:rPr>
              <a:t>Bind local "</a:t>
            </a:r>
            <a:r>
              <a:rPr b="0" lang="en-US" sz="1800" spc="-1" strike="noStrike">
                <a:solidFill>
                  <a:srgbClr val="000000"/>
                </a:solidFill>
                <a:latin typeface="Consolas"/>
              </a:rPr>
              <a:t>transcriptome_class</a:t>
            </a:r>
            <a:r>
              <a:rPr b="0" lang="en-US" sz="1800" spc="-1" strike="noStrike">
                <a:solidFill>
                  <a:srgbClr val="000000"/>
                </a:solidFill>
                <a:latin typeface="Aptos"/>
              </a:rPr>
              <a:t>" folder to container folder "/data":</a:t>
            </a:r>
            <a:endParaRPr b="0" lang="es-ES" sz="1800" spc="-1" strike="noStrike">
              <a:latin typeface="Arial"/>
            </a:endParaRPr>
          </a:p>
          <a:p>
            <a:pPr marL="914400">
              <a:lnSpc>
                <a:spcPct val="100000"/>
              </a:lnSpc>
              <a:spcBef>
                <a:spcPts val="601"/>
              </a:spcBef>
              <a:spcAft>
                <a:spcPts val="601"/>
              </a:spcAft>
            </a:pPr>
            <a:r>
              <a:rPr b="0" lang="es-ES" sz="1800" spc="-1" strike="noStrike">
                <a:solidFill>
                  <a:srgbClr val="000000"/>
                </a:solidFill>
                <a:latin typeface="Consolas"/>
              </a:rPr>
              <a:t>docker run -it -v $HOME/transcriptome_class:/data -v /tmp/.X11-unix:/tmp/.X11-unix -e DISPLAY=$DISPLAY csicunam/bioinformatics_iamz:latest</a:t>
            </a:r>
            <a:endParaRPr b="0" lang="es-ES" sz="1800" spc="-1" strike="noStrike">
              <a:latin typeface="Arial"/>
            </a:endParaRPr>
          </a:p>
          <a:p>
            <a:pPr lvl="1" marL="743040" indent="-285480">
              <a:lnSpc>
                <a:spcPct val="100000"/>
              </a:lnSpc>
              <a:spcBef>
                <a:spcPts val="601"/>
              </a:spcBef>
              <a:spcAft>
                <a:spcPts val="601"/>
              </a:spcAft>
              <a:buClr>
                <a:srgbClr val="000000"/>
              </a:buClr>
              <a:buFont typeface="Wingdings" charset="2"/>
              <a:buChar char=""/>
            </a:pPr>
            <a:r>
              <a:rPr b="0" lang="en-US" sz="1800" spc="-1" strike="noStrike">
                <a:solidFill>
                  <a:srgbClr val="000000"/>
                </a:solidFill>
                <a:latin typeface="Aptos"/>
              </a:rPr>
              <a:t>From </a:t>
            </a:r>
            <a:r>
              <a:rPr b="1" lang="en-US" sz="1800" spc="-1" strike="noStrike">
                <a:solidFill>
                  <a:srgbClr val="000000"/>
                </a:solidFill>
                <a:latin typeface="Aptos"/>
              </a:rPr>
              <a:t>Windows</a:t>
            </a:r>
            <a:r>
              <a:rPr b="0" lang="en-US" sz="1800" spc="-1" strike="noStrike">
                <a:solidFill>
                  <a:srgbClr val="000000"/>
                </a:solidFill>
                <a:latin typeface="Aptos"/>
              </a:rPr>
              <a:t>, the "</a:t>
            </a:r>
            <a:r>
              <a:rPr b="1" lang="en-US" sz="1800" spc="-1" strike="noStrike">
                <a:solidFill>
                  <a:srgbClr val="000000"/>
                </a:solidFill>
                <a:latin typeface="Aptos"/>
              </a:rPr>
              <a:t>transcriptome_class" </a:t>
            </a:r>
            <a:r>
              <a:rPr b="0" lang="en-US" sz="1800" spc="-1" strike="noStrike">
                <a:solidFill>
                  <a:srgbClr val="000000"/>
                </a:solidFill>
                <a:latin typeface="Aptos"/>
              </a:rPr>
              <a:t>folder is located in:</a:t>
            </a:r>
            <a:endParaRPr b="0" lang="es-ES" sz="1800" spc="-1" strike="noStrike">
              <a:latin typeface="Arial"/>
            </a:endParaRPr>
          </a:p>
          <a:p>
            <a:pPr marL="457200">
              <a:lnSpc>
                <a:spcPct val="100000"/>
              </a:lnSpc>
              <a:spcBef>
                <a:spcPts val="601"/>
              </a:spcBef>
              <a:spcAft>
                <a:spcPts val="601"/>
              </a:spcAft>
            </a:pPr>
            <a:r>
              <a:rPr b="0" lang="en-US" sz="1800" spc="-1" strike="noStrike" u="sng">
                <a:solidFill>
                  <a:srgbClr val="467886"/>
                </a:solidFill>
                <a:uFillTx/>
                <a:latin typeface="Aptos"/>
                <a:hlinkClick r:id="rId2"/>
              </a:rPr>
              <a:t>\\wsl.localhost\Ubuntu-22.04\home\iamz\transcriptome_class</a:t>
            </a:r>
            <a:endParaRPr b="0" lang="es-ES" sz="1800" spc="-1" strike="noStrike">
              <a:latin typeface="Arial"/>
            </a:endParaRPr>
          </a:p>
          <a:p>
            <a:pPr marL="457200">
              <a:lnSpc>
                <a:spcPct val="100000"/>
              </a:lnSpc>
              <a:spcBef>
                <a:spcPts val="601"/>
              </a:spcBef>
              <a:spcAft>
                <a:spcPts val="601"/>
              </a:spcAft>
            </a:pPr>
            <a:r>
              <a:rPr b="0" lang="en-US" sz="1800" spc="-1" strike="noStrike" u="sng">
                <a:solidFill>
                  <a:srgbClr val="467886"/>
                </a:solidFill>
                <a:uFillTx/>
                <a:latin typeface="Aptos"/>
                <a:hlinkClick r:id="rId3"/>
              </a:rPr>
              <a:t>\\wsl.localhost\Ubuntu-22.04\home\rsancho\transcriptome_class</a:t>
            </a:r>
            <a:r>
              <a:rPr b="0" lang="en-US" sz="1800" spc="-1" strike="noStrike">
                <a:solidFill>
                  <a:srgbClr val="000000"/>
                </a:solidFill>
                <a:latin typeface="Aptos"/>
              </a:rPr>
              <a:t> (Rubén Sancho laptop)</a:t>
            </a:r>
            <a:endParaRPr b="0" lang="es-ES" sz="1800" spc="-1" strike="noStrike">
              <a:latin typeface="Arial"/>
            </a:endParaRPr>
          </a:p>
        </p:txBody>
      </p:sp>
      <p:sp>
        <p:nvSpPr>
          <p:cNvPr id="444" name="CustomShape 3"/>
          <p:cNvSpPr/>
          <p:nvPr/>
        </p:nvSpPr>
        <p:spPr>
          <a:xfrm>
            <a:off x="4270680" y="247320"/>
            <a:ext cx="3650040" cy="3952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Readme (Step-by-step)</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446" name="CustomShape 2"/>
          <p:cNvSpPr/>
          <p:nvPr/>
        </p:nvSpPr>
        <p:spPr>
          <a:xfrm>
            <a:off x="808920" y="859680"/>
            <a:ext cx="10573920" cy="207252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marL="285840" indent="-285480">
              <a:lnSpc>
                <a:spcPct val="100000"/>
              </a:lnSpc>
              <a:spcBef>
                <a:spcPts val="601"/>
              </a:spcBef>
              <a:spcAft>
                <a:spcPts val="601"/>
              </a:spcAft>
              <a:buClr>
                <a:srgbClr val="000000"/>
              </a:buClr>
              <a:buFont typeface="Wingdings" charset="2"/>
              <a:buChar char=""/>
            </a:pPr>
            <a:r>
              <a:rPr b="0" lang="es-ES" sz="1800" spc="-1" strike="noStrike">
                <a:solidFill>
                  <a:srgbClr val="000000"/>
                </a:solidFill>
                <a:latin typeface="Aptos"/>
              </a:rPr>
              <a:t>Move into /data:  </a:t>
            </a:r>
            <a:r>
              <a:rPr b="0" lang="es-ES" sz="1800" spc="-1" strike="noStrike">
                <a:solidFill>
                  <a:srgbClr val="000000"/>
                </a:solidFill>
                <a:latin typeface="Consolas"/>
              </a:rPr>
              <a:t>cd /data</a:t>
            </a:r>
            <a:endParaRPr b="0" lang="es-ES" sz="1800" spc="-1" strike="noStrike">
              <a:latin typeface="Arial"/>
            </a:endParaRPr>
          </a:p>
          <a:p>
            <a:pPr lvl="1" marL="743040" indent="-285480">
              <a:lnSpc>
                <a:spcPct val="100000"/>
              </a:lnSpc>
              <a:spcBef>
                <a:spcPts val="601"/>
              </a:spcBef>
              <a:spcAft>
                <a:spcPts val="601"/>
              </a:spcAft>
              <a:buClr>
                <a:srgbClr val="000000"/>
              </a:buClr>
              <a:buFont typeface="Wingdings" charset="2"/>
              <a:buChar char=""/>
            </a:pPr>
            <a:r>
              <a:rPr b="0" lang="en-US" sz="1800" spc="-1" strike="noStrike">
                <a:solidFill>
                  <a:srgbClr val="000000"/>
                </a:solidFill>
                <a:latin typeface="Aptos"/>
              </a:rPr>
              <a:t>Create symbolic link:</a:t>
            </a:r>
            <a:endParaRPr b="0" lang="es-ES" sz="1800" spc="-1" strike="noStrike">
              <a:latin typeface="Arial"/>
            </a:endParaRPr>
          </a:p>
          <a:p>
            <a:pPr marL="457200">
              <a:lnSpc>
                <a:spcPct val="100000"/>
              </a:lnSpc>
              <a:spcBef>
                <a:spcPts val="601"/>
              </a:spcBef>
              <a:spcAft>
                <a:spcPts val="601"/>
              </a:spcAft>
            </a:pPr>
            <a:r>
              <a:rPr b="0" lang="en-US" sz="1800" spc="-1" strike="noStrike">
                <a:solidFill>
                  <a:srgbClr val="000000"/>
                </a:solidFill>
                <a:latin typeface="Consolas"/>
              </a:rPr>
              <a:t>ln -s /home/vep/test_data/transcripts/brachy/ brachy</a:t>
            </a:r>
            <a:endParaRPr b="0" lang="es-ES" sz="1800" spc="-1" strike="noStrike">
              <a:latin typeface="Arial"/>
            </a:endParaRPr>
          </a:p>
          <a:p>
            <a:pPr lvl="1" marL="743040" indent="-285480">
              <a:lnSpc>
                <a:spcPct val="100000"/>
              </a:lnSpc>
              <a:spcBef>
                <a:spcPts val="601"/>
              </a:spcBef>
              <a:spcAft>
                <a:spcPts val="601"/>
              </a:spcAft>
              <a:buClr>
                <a:srgbClr val="000000"/>
              </a:buClr>
              <a:buFont typeface="Wingdings" charset="2"/>
              <a:buChar char=""/>
            </a:pPr>
            <a:r>
              <a:rPr b="0" lang="en-US" sz="1800" spc="-1" strike="noStrike">
                <a:solidFill>
                  <a:srgbClr val="000000"/>
                </a:solidFill>
                <a:latin typeface="Aptos"/>
              </a:rPr>
              <a:t>Create report folders:</a:t>
            </a:r>
            <a:endParaRPr b="0" lang="es-ES" sz="1800" spc="-1" strike="noStrike">
              <a:latin typeface="Arial"/>
            </a:endParaRPr>
          </a:p>
          <a:p>
            <a:pPr marL="457200">
              <a:lnSpc>
                <a:spcPct val="100000"/>
              </a:lnSpc>
              <a:spcBef>
                <a:spcPts val="601"/>
              </a:spcBef>
              <a:spcAft>
                <a:spcPts val="601"/>
              </a:spcAft>
            </a:pPr>
            <a:r>
              <a:rPr b="0" lang="en-US" sz="1800" spc="-1" strike="noStrike">
                <a:solidFill>
                  <a:srgbClr val="000000"/>
                </a:solidFill>
                <a:latin typeface="Consolas"/>
              </a:rPr>
              <a:t>mkdir report report_filtered</a:t>
            </a:r>
            <a:endParaRPr b="0" lang="es-ES" sz="1800" spc="-1" strike="noStrike">
              <a:latin typeface="Arial"/>
            </a:endParaRPr>
          </a:p>
        </p:txBody>
      </p:sp>
      <p:sp>
        <p:nvSpPr>
          <p:cNvPr id="447" name="CustomShape 3"/>
          <p:cNvSpPr/>
          <p:nvPr/>
        </p:nvSpPr>
        <p:spPr>
          <a:xfrm>
            <a:off x="4270680" y="247320"/>
            <a:ext cx="3650040" cy="3952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Readme (Step-by-step)</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CustomShape 1"/>
          <p:cNvSpPr/>
          <p:nvPr/>
        </p:nvSpPr>
        <p:spPr>
          <a:xfrm>
            <a:off x="795600" y="825480"/>
            <a:ext cx="11091240" cy="5841360"/>
          </a:xfrm>
          <a:prstGeom prst="rect">
            <a:avLst/>
          </a:prstGeom>
          <a:noFill/>
          <a:ln w="12600">
            <a:solidFill>
              <a:schemeClr val="tx1"/>
            </a:solidFill>
          </a:ln>
        </p:spPr>
        <p:style>
          <a:lnRef idx="2">
            <a:schemeClr val="accent1">
              <a:shade val="15000"/>
            </a:schemeClr>
          </a:lnRef>
          <a:fillRef idx="1">
            <a:schemeClr val="accent1"/>
          </a:fillRef>
          <a:effectRef idx="0">
            <a:schemeClr val="accent1"/>
          </a:effectRef>
          <a:fontRef idx="minor"/>
        </p:style>
      </p:sp>
      <p:sp>
        <p:nvSpPr>
          <p:cNvPr id="449" name="CustomShape 2"/>
          <p:cNvSpPr/>
          <p:nvPr/>
        </p:nvSpPr>
        <p:spPr>
          <a:xfrm>
            <a:off x="4736880" y="190800"/>
            <a:ext cx="2717640" cy="82116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400" spc="-1" strike="noStrike">
                <a:solidFill>
                  <a:srgbClr val="000000"/>
                </a:solidFill>
                <a:latin typeface="Aptos"/>
              </a:rPr>
              <a:t>Folders structure</a:t>
            </a:r>
            <a:endParaRPr b="0" lang="es-ES" sz="2400" spc="-1" strike="noStrike">
              <a:latin typeface="Arial"/>
            </a:endParaRPr>
          </a:p>
        </p:txBody>
      </p:sp>
      <p:sp>
        <p:nvSpPr>
          <p:cNvPr id="450" name="CustomShape 3"/>
          <p:cNvSpPr/>
          <p:nvPr/>
        </p:nvSpPr>
        <p:spPr>
          <a:xfrm>
            <a:off x="3678480" y="5122440"/>
            <a:ext cx="1206360" cy="6382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03_quant</a:t>
            </a:r>
            <a:endParaRPr b="0" lang="es-ES" sz="1800" spc="-1" strike="noStrike">
              <a:latin typeface="Arial"/>
            </a:endParaRPr>
          </a:p>
        </p:txBody>
      </p:sp>
      <p:sp>
        <p:nvSpPr>
          <p:cNvPr id="451" name="CustomShape 4"/>
          <p:cNvSpPr/>
          <p:nvPr/>
        </p:nvSpPr>
        <p:spPr>
          <a:xfrm rot="16200000">
            <a:off x="-305280" y="3355920"/>
            <a:ext cx="2466360" cy="6382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Transcriptome Class</a:t>
            </a:r>
            <a:endParaRPr b="0" lang="es-ES" sz="1800" spc="-1" strike="noStrike">
              <a:latin typeface="Arial"/>
            </a:endParaRPr>
          </a:p>
        </p:txBody>
      </p:sp>
      <p:sp>
        <p:nvSpPr>
          <p:cNvPr id="452" name="CustomShape 5"/>
          <p:cNvSpPr/>
          <p:nvPr/>
        </p:nvSpPr>
        <p:spPr>
          <a:xfrm>
            <a:off x="2713680" y="953640"/>
            <a:ext cx="3136320" cy="6382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00_Reference_transcriptome</a:t>
            </a:r>
            <a:endParaRPr b="0" lang="es-ES" sz="1800" spc="-1" strike="noStrike">
              <a:latin typeface="Arial"/>
            </a:endParaRPr>
          </a:p>
        </p:txBody>
      </p:sp>
      <p:sp>
        <p:nvSpPr>
          <p:cNvPr id="453" name="CustomShape 6"/>
          <p:cNvSpPr/>
          <p:nvPr/>
        </p:nvSpPr>
        <p:spPr>
          <a:xfrm>
            <a:off x="3326040" y="1778040"/>
            <a:ext cx="1911600" cy="91260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01_RNAseq_raw</a:t>
            </a:r>
            <a:endParaRPr b="0" lang="es-ES" sz="1800" spc="-1" strike="noStrike">
              <a:latin typeface="Arial"/>
            </a:endParaRPr>
          </a:p>
          <a:p>
            <a:pPr>
              <a:lnSpc>
                <a:spcPct val="100000"/>
              </a:lnSpc>
            </a:pPr>
            <a:r>
              <a:rPr b="0" lang="en-US" sz="1800" spc="-1" strike="noStrike">
                <a:solidFill>
                  <a:srgbClr val="000000"/>
                </a:solidFill>
                <a:latin typeface="Aptos"/>
              </a:rPr>
              <a:t>(QC report)</a:t>
            </a:r>
            <a:endParaRPr b="0" lang="es-ES" sz="1800" spc="-1" strike="noStrike">
              <a:latin typeface="Arial"/>
            </a:endParaRPr>
          </a:p>
        </p:txBody>
      </p:sp>
      <p:sp>
        <p:nvSpPr>
          <p:cNvPr id="454" name="CustomShape 7"/>
          <p:cNvSpPr/>
          <p:nvPr/>
        </p:nvSpPr>
        <p:spPr>
          <a:xfrm>
            <a:off x="3182400" y="3544560"/>
            <a:ext cx="2198160" cy="91260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02_RNAseq_filtered</a:t>
            </a:r>
            <a:endParaRPr b="0" lang="es-ES" sz="1800" spc="-1" strike="noStrike">
              <a:latin typeface="Arial"/>
            </a:endParaRPr>
          </a:p>
          <a:p>
            <a:pPr>
              <a:lnSpc>
                <a:spcPct val="100000"/>
              </a:lnSpc>
            </a:pPr>
            <a:r>
              <a:rPr b="0" lang="en-US" sz="1800" spc="-1" strike="noStrike">
                <a:solidFill>
                  <a:srgbClr val="000000"/>
                </a:solidFill>
                <a:latin typeface="Aptos"/>
              </a:rPr>
              <a:t>(QC report)</a:t>
            </a:r>
            <a:endParaRPr b="0" lang="es-ES" sz="1800" spc="-1" strike="noStrike">
              <a:latin typeface="Arial"/>
            </a:endParaRPr>
          </a:p>
        </p:txBody>
      </p:sp>
      <p:sp>
        <p:nvSpPr>
          <p:cNvPr id="455" name="CustomShape 8"/>
          <p:cNvSpPr/>
          <p:nvPr/>
        </p:nvSpPr>
        <p:spPr>
          <a:xfrm>
            <a:off x="2818800" y="6032520"/>
            <a:ext cx="1206360" cy="6382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04_sleuth</a:t>
            </a:r>
            <a:endParaRPr b="0" lang="es-ES" sz="1800" spc="-1" strike="noStrike">
              <a:latin typeface="Arial"/>
            </a:endParaRPr>
          </a:p>
        </p:txBody>
      </p:sp>
      <p:sp>
        <p:nvSpPr>
          <p:cNvPr id="456" name="CustomShape 9"/>
          <p:cNvSpPr/>
          <p:nvPr/>
        </p:nvSpPr>
        <p:spPr>
          <a:xfrm>
            <a:off x="4563360" y="6032520"/>
            <a:ext cx="1404000" cy="6382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05_WGCNA</a:t>
            </a:r>
            <a:endParaRPr b="0" lang="es-ES" sz="1800" spc="-1" strike="noStrike">
              <a:latin typeface="Arial"/>
            </a:endParaRPr>
          </a:p>
        </p:txBody>
      </p:sp>
      <p:sp>
        <p:nvSpPr>
          <p:cNvPr id="457" name="CustomShape 10"/>
          <p:cNvSpPr/>
          <p:nvPr/>
        </p:nvSpPr>
        <p:spPr>
          <a:xfrm>
            <a:off x="5850000" y="1917000"/>
            <a:ext cx="1235880" cy="364680"/>
          </a:xfrm>
          <a:prstGeom prst="rect">
            <a:avLst/>
          </a:prstGeom>
          <a:noFill/>
          <a:ln>
            <a:solidFill>
              <a:schemeClr val="tx1"/>
            </a:solidFill>
            <a:prstDash val="dash"/>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FastQC</a:t>
            </a:r>
            <a:endParaRPr b="0" lang="es-ES" sz="1800" spc="-1" strike="noStrike">
              <a:latin typeface="Arial"/>
            </a:endParaRPr>
          </a:p>
        </p:txBody>
      </p:sp>
      <p:sp>
        <p:nvSpPr>
          <p:cNvPr id="458" name="CustomShape 11"/>
          <p:cNvSpPr/>
          <p:nvPr/>
        </p:nvSpPr>
        <p:spPr>
          <a:xfrm>
            <a:off x="7698600" y="1917000"/>
            <a:ext cx="1235880" cy="6382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QC report</a:t>
            </a:r>
            <a:endParaRPr b="0" lang="es-ES" sz="1800" spc="-1" strike="noStrike">
              <a:latin typeface="Arial"/>
            </a:endParaRPr>
          </a:p>
        </p:txBody>
      </p:sp>
      <p:sp>
        <p:nvSpPr>
          <p:cNvPr id="459" name="CustomShape 12"/>
          <p:cNvSpPr/>
          <p:nvPr/>
        </p:nvSpPr>
        <p:spPr>
          <a:xfrm>
            <a:off x="5850000" y="3688920"/>
            <a:ext cx="1235880" cy="364680"/>
          </a:xfrm>
          <a:prstGeom prst="rect">
            <a:avLst/>
          </a:prstGeom>
          <a:noFill/>
          <a:ln>
            <a:solidFill>
              <a:schemeClr val="tx1"/>
            </a:solidFill>
            <a:prstDash val="dash"/>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FastQC</a:t>
            </a:r>
            <a:endParaRPr b="0" lang="es-ES" sz="1800" spc="-1" strike="noStrike">
              <a:latin typeface="Arial"/>
            </a:endParaRPr>
          </a:p>
        </p:txBody>
      </p:sp>
      <p:sp>
        <p:nvSpPr>
          <p:cNvPr id="460" name="CustomShape 13"/>
          <p:cNvSpPr/>
          <p:nvPr/>
        </p:nvSpPr>
        <p:spPr>
          <a:xfrm>
            <a:off x="7698600" y="3688920"/>
            <a:ext cx="1235880" cy="6382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QC report</a:t>
            </a:r>
            <a:endParaRPr b="0" lang="es-ES" sz="1800" spc="-1" strike="noStrike">
              <a:latin typeface="Arial"/>
            </a:endParaRPr>
          </a:p>
        </p:txBody>
      </p:sp>
      <p:sp>
        <p:nvSpPr>
          <p:cNvPr id="461" name="CustomShape 14"/>
          <p:cNvSpPr/>
          <p:nvPr/>
        </p:nvSpPr>
        <p:spPr>
          <a:xfrm>
            <a:off x="3502080" y="2814840"/>
            <a:ext cx="1559160" cy="638280"/>
          </a:xfrm>
          <a:prstGeom prst="rect">
            <a:avLst/>
          </a:prstGeom>
          <a:noFill/>
          <a:ln>
            <a:solidFill>
              <a:schemeClr val="tx1"/>
            </a:solidFill>
            <a:prstDash val="dash"/>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Trimmomatic</a:t>
            </a:r>
            <a:endParaRPr b="0" lang="es-ES" sz="1800" spc="-1" strike="noStrike">
              <a:latin typeface="Arial"/>
            </a:endParaRPr>
          </a:p>
        </p:txBody>
      </p:sp>
      <p:sp>
        <p:nvSpPr>
          <p:cNvPr id="462" name="CustomShape 15"/>
          <p:cNvSpPr/>
          <p:nvPr/>
        </p:nvSpPr>
        <p:spPr>
          <a:xfrm>
            <a:off x="3502080" y="4471560"/>
            <a:ext cx="1559160" cy="364680"/>
          </a:xfrm>
          <a:prstGeom prst="rect">
            <a:avLst/>
          </a:prstGeom>
          <a:noFill/>
          <a:ln>
            <a:solidFill>
              <a:schemeClr val="tx1"/>
            </a:solidFill>
            <a:prstDash val="dash"/>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Kallisto</a:t>
            </a:r>
            <a:endParaRPr b="0" lang="es-ES" sz="1800" spc="-1" strike="noStrike">
              <a:latin typeface="Arial"/>
            </a:endParaRPr>
          </a:p>
        </p:txBody>
      </p:sp>
      <p:sp>
        <p:nvSpPr>
          <p:cNvPr id="463" name="CustomShape 16"/>
          <p:cNvSpPr/>
          <p:nvPr/>
        </p:nvSpPr>
        <p:spPr>
          <a:xfrm flipH="1" flipV="1" rot="10800000">
            <a:off x="2713680" y="1137960"/>
            <a:ext cx="788400" cy="3517560"/>
          </a:xfrm>
          <a:prstGeom prst="bentConnector3">
            <a:avLst>
              <a:gd name="adj1" fmla="val -28988"/>
            </a:avLst>
          </a:prstGeom>
          <a:noFill/>
          <a:ln>
            <a:tailEnd len="med" type="triangle" w="med"/>
          </a:ln>
        </p:spPr>
        <p:style>
          <a:lnRef idx="2">
            <a:schemeClr val="dk1"/>
          </a:lnRef>
          <a:fillRef idx="0">
            <a:schemeClr val="dk1"/>
          </a:fillRef>
          <a:effectRef idx="1">
            <a:schemeClr val="dk1"/>
          </a:effectRef>
          <a:fontRef idx="minor"/>
        </p:style>
      </p:sp>
      <p:sp>
        <p:nvSpPr>
          <p:cNvPr id="464" name="CustomShape 17"/>
          <p:cNvSpPr/>
          <p:nvPr/>
        </p:nvSpPr>
        <p:spPr>
          <a:xfrm>
            <a:off x="4281840" y="2424600"/>
            <a:ext cx="360" cy="390240"/>
          </a:xfrm>
          <a:custGeom>
            <a:avLst/>
            <a:gdLst/>
            <a:ahLst/>
            <a:rect l="l" t="t" r="r" b="b"/>
            <a:pathLst>
              <a:path w="21600" h="21600">
                <a:moveTo>
                  <a:pt x="0" y="0"/>
                </a:moveTo>
                <a:lnTo>
                  <a:pt x="21600" y="21600"/>
                </a:lnTo>
              </a:path>
            </a:pathLst>
          </a:custGeom>
          <a:noFill/>
          <a:ln>
            <a:tailEnd len="med" type="triangle" w="med"/>
          </a:ln>
        </p:spPr>
        <p:style>
          <a:lnRef idx="2">
            <a:schemeClr val="dk1"/>
          </a:lnRef>
          <a:fillRef idx="0">
            <a:schemeClr val="dk1"/>
          </a:fillRef>
          <a:effectRef idx="1">
            <a:schemeClr val="dk1"/>
          </a:effectRef>
          <a:fontRef idx="minor"/>
        </p:style>
      </p:sp>
      <p:sp>
        <p:nvSpPr>
          <p:cNvPr id="465" name="CustomShape 18"/>
          <p:cNvSpPr/>
          <p:nvPr/>
        </p:nvSpPr>
        <p:spPr>
          <a:xfrm>
            <a:off x="4281840" y="3184200"/>
            <a:ext cx="360" cy="359640"/>
          </a:xfrm>
          <a:custGeom>
            <a:avLst/>
            <a:gdLst/>
            <a:ahLst/>
            <a:rect l="l" t="t" r="r" b="b"/>
            <a:pathLst>
              <a:path w="21600" h="21600">
                <a:moveTo>
                  <a:pt x="0" y="0"/>
                </a:moveTo>
                <a:lnTo>
                  <a:pt x="21600" y="21600"/>
                </a:lnTo>
              </a:path>
            </a:pathLst>
          </a:custGeom>
          <a:noFill/>
          <a:ln>
            <a:tailEnd len="med" type="triangle" w="med"/>
          </a:ln>
        </p:spPr>
        <p:style>
          <a:lnRef idx="2">
            <a:schemeClr val="dk1"/>
          </a:lnRef>
          <a:fillRef idx="0">
            <a:schemeClr val="dk1"/>
          </a:fillRef>
          <a:effectRef idx="1">
            <a:schemeClr val="dk1"/>
          </a:effectRef>
          <a:fontRef idx="minor"/>
        </p:style>
      </p:sp>
      <p:sp>
        <p:nvSpPr>
          <p:cNvPr id="466" name="CustomShape 19"/>
          <p:cNvSpPr/>
          <p:nvPr/>
        </p:nvSpPr>
        <p:spPr>
          <a:xfrm>
            <a:off x="4281840" y="4190760"/>
            <a:ext cx="360" cy="280440"/>
          </a:xfrm>
          <a:custGeom>
            <a:avLst/>
            <a:gdLst/>
            <a:ahLst/>
            <a:rect l="l" t="t" r="r" b="b"/>
            <a:pathLst>
              <a:path w="21600" h="21600">
                <a:moveTo>
                  <a:pt x="0" y="0"/>
                </a:moveTo>
                <a:lnTo>
                  <a:pt x="21600" y="21600"/>
                </a:lnTo>
              </a:path>
            </a:pathLst>
          </a:custGeom>
          <a:noFill/>
          <a:ln>
            <a:tailEnd len="med" type="triangle" w="med"/>
          </a:ln>
        </p:spPr>
        <p:style>
          <a:lnRef idx="2">
            <a:schemeClr val="dk1"/>
          </a:lnRef>
          <a:fillRef idx="0">
            <a:schemeClr val="dk1"/>
          </a:fillRef>
          <a:effectRef idx="1">
            <a:schemeClr val="dk1"/>
          </a:effectRef>
          <a:fontRef idx="minor"/>
        </p:style>
      </p:sp>
      <p:sp>
        <p:nvSpPr>
          <p:cNvPr id="467" name="CustomShape 20"/>
          <p:cNvSpPr/>
          <p:nvPr/>
        </p:nvSpPr>
        <p:spPr>
          <a:xfrm>
            <a:off x="4281840" y="4840920"/>
            <a:ext cx="360" cy="281520"/>
          </a:xfrm>
          <a:custGeom>
            <a:avLst/>
            <a:gdLst/>
            <a:ahLst/>
            <a:rect l="l" t="t" r="r" b="b"/>
            <a:pathLst>
              <a:path w="21600" h="21600">
                <a:moveTo>
                  <a:pt x="0" y="0"/>
                </a:moveTo>
                <a:lnTo>
                  <a:pt x="21600" y="21600"/>
                </a:lnTo>
              </a:path>
            </a:pathLst>
          </a:custGeom>
          <a:noFill/>
          <a:ln>
            <a:tailEnd len="med" type="triangle" w="med"/>
          </a:ln>
        </p:spPr>
        <p:style>
          <a:lnRef idx="2">
            <a:schemeClr val="dk1"/>
          </a:lnRef>
          <a:fillRef idx="0">
            <a:schemeClr val="dk1"/>
          </a:fillRef>
          <a:effectRef idx="1">
            <a:schemeClr val="dk1"/>
          </a:effectRef>
          <a:fontRef idx="minor"/>
        </p:style>
      </p:sp>
      <p:sp>
        <p:nvSpPr>
          <p:cNvPr id="468" name="CustomShape 21"/>
          <p:cNvSpPr/>
          <p:nvPr/>
        </p:nvSpPr>
        <p:spPr>
          <a:xfrm>
            <a:off x="5237640" y="2101320"/>
            <a:ext cx="612000" cy="360"/>
          </a:xfrm>
          <a:custGeom>
            <a:avLst/>
            <a:gdLst/>
            <a:ahLst/>
            <a:rect l="l" t="t" r="r" b="b"/>
            <a:pathLst>
              <a:path w="21600" h="21600">
                <a:moveTo>
                  <a:pt x="0" y="0"/>
                </a:moveTo>
                <a:lnTo>
                  <a:pt x="21600" y="21600"/>
                </a:lnTo>
              </a:path>
            </a:pathLst>
          </a:custGeom>
          <a:noFill/>
          <a:ln>
            <a:tailEnd len="med" type="triangle" w="med"/>
          </a:ln>
        </p:spPr>
        <p:style>
          <a:lnRef idx="2">
            <a:schemeClr val="dk1"/>
          </a:lnRef>
          <a:fillRef idx="0">
            <a:schemeClr val="dk1"/>
          </a:fillRef>
          <a:effectRef idx="1">
            <a:schemeClr val="dk1"/>
          </a:effectRef>
          <a:fontRef idx="minor"/>
        </p:style>
      </p:sp>
      <p:sp>
        <p:nvSpPr>
          <p:cNvPr id="469" name="CustomShape 22"/>
          <p:cNvSpPr/>
          <p:nvPr/>
        </p:nvSpPr>
        <p:spPr>
          <a:xfrm>
            <a:off x="7086240" y="2101680"/>
            <a:ext cx="612000" cy="360"/>
          </a:xfrm>
          <a:custGeom>
            <a:avLst/>
            <a:gdLst/>
            <a:ahLst/>
            <a:rect l="l" t="t" r="r" b="b"/>
            <a:pathLst>
              <a:path w="21600" h="21600">
                <a:moveTo>
                  <a:pt x="0" y="0"/>
                </a:moveTo>
                <a:lnTo>
                  <a:pt x="21600" y="21600"/>
                </a:lnTo>
              </a:path>
            </a:pathLst>
          </a:custGeom>
          <a:noFill/>
          <a:ln>
            <a:tailEnd len="med" type="triangle" w="med"/>
          </a:ln>
        </p:spPr>
        <p:style>
          <a:lnRef idx="2">
            <a:schemeClr val="dk1"/>
          </a:lnRef>
          <a:fillRef idx="0">
            <a:schemeClr val="dk1"/>
          </a:fillRef>
          <a:effectRef idx="1">
            <a:schemeClr val="dk1"/>
          </a:effectRef>
          <a:fontRef idx="minor"/>
        </p:style>
      </p:sp>
      <p:sp>
        <p:nvSpPr>
          <p:cNvPr id="470" name="CustomShape 23"/>
          <p:cNvSpPr/>
          <p:nvPr/>
        </p:nvSpPr>
        <p:spPr>
          <a:xfrm>
            <a:off x="5381280" y="3867480"/>
            <a:ext cx="468720" cy="5760"/>
          </a:xfrm>
          <a:custGeom>
            <a:avLst/>
            <a:gdLst/>
            <a:ahLst/>
            <a:rect l="l" t="t" r="r" b="b"/>
            <a:pathLst>
              <a:path w="21600" h="21600">
                <a:moveTo>
                  <a:pt x="0" y="0"/>
                </a:moveTo>
                <a:lnTo>
                  <a:pt x="21600" y="21600"/>
                </a:lnTo>
              </a:path>
            </a:pathLst>
          </a:custGeom>
          <a:noFill/>
          <a:ln>
            <a:tailEnd len="med" type="triangle" w="med"/>
          </a:ln>
        </p:spPr>
        <p:style>
          <a:lnRef idx="2">
            <a:schemeClr val="dk1"/>
          </a:lnRef>
          <a:fillRef idx="0">
            <a:schemeClr val="dk1"/>
          </a:fillRef>
          <a:effectRef idx="1">
            <a:schemeClr val="dk1"/>
          </a:effectRef>
          <a:fontRef idx="minor"/>
        </p:style>
      </p:sp>
      <p:sp>
        <p:nvSpPr>
          <p:cNvPr id="471" name="CustomShape 24"/>
          <p:cNvSpPr/>
          <p:nvPr/>
        </p:nvSpPr>
        <p:spPr>
          <a:xfrm>
            <a:off x="7086240" y="3873600"/>
            <a:ext cx="612000" cy="360"/>
          </a:xfrm>
          <a:custGeom>
            <a:avLst/>
            <a:gdLst/>
            <a:ahLst/>
            <a:rect l="l" t="t" r="r" b="b"/>
            <a:pathLst>
              <a:path w="21600" h="21600">
                <a:moveTo>
                  <a:pt x="0" y="0"/>
                </a:moveTo>
                <a:lnTo>
                  <a:pt x="21600" y="21600"/>
                </a:lnTo>
              </a:path>
            </a:pathLst>
          </a:custGeom>
          <a:noFill/>
          <a:ln>
            <a:tailEnd len="med" type="triangle" w="med"/>
          </a:ln>
        </p:spPr>
        <p:style>
          <a:lnRef idx="2">
            <a:schemeClr val="dk1"/>
          </a:lnRef>
          <a:fillRef idx="0">
            <a:schemeClr val="dk1"/>
          </a:fillRef>
          <a:effectRef idx="1">
            <a:schemeClr val="dk1"/>
          </a:effectRef>
          <a:fontRef idx="minor"/>
        </p:style>
      </p:sp>
      <p:sp>
        <p:nvSpPr>
          <p:cNvPr id="472" name="CustomShape 25"/>
          <p:cNvSpPr/>
          <p:nvPr/>
        </p:nvSpPr>
        <p:spPr>
          <a:xfrm flipH="1">
            <a:off x="3422520" y="5491800"/>
            <a:ext cx="858960" cy="540360"/>
          </a:xfrm>
          <a:custGeom>
            <a:avLst/>
            <a:gdLst/>
            <a:ahLst/>
            <a:rect l="l" t="t" r="r" b="b"/>
            <a:pathLst>
              <a:path w="21600" h="21600">
                <a:moveTo>
                  <a:pt x="0" y="0"/>
                </a:moveTo>
                <a:lnTo>
                  <a:pt x="21600" y="21600"/>
                </a:lnTo>
              </a:path>
            </a:pathLst>
          </a:custGeom>
          <a:noFill/>
          <a:ln>
            <a:tailEnd len="med" type="triangle" w="med"/>
          </a:ln>
        </p:spPr>
        <p:style>
          <a:lnRef idx="2">
            <a:schemeClr val="dk1"/>
          </a:lnRef>
          <a:fillRef idx="0">
            <a:schemeClr val="dk1"/>
          </a:fillRef>
          <a:effectRef idx="1">
            <a:schemeClr val="dk1"/>
          </a:effectRef>
          <a:fontRef idx="minor"/>
        </p:style>
      </p:sp>
      <p:sp>
        <p:nvSpPr>
          <p:cNvPr id="473" name="CustomShape 26"/>
          <p:cNvSpPr/>
          <p:nvPr/>
        </p:nvSpPr>
        <p:spPr>
          <a:xfrm>
            <a:off x="4281840" y="5491800"/>
            <a:ext cx="983160" cy="540360"/>
          </a:xfrm>
          <a:custGeom>
            <a:avLst/>
            <a:gdLst/>
            <a:ahLst/>
            <a:rect l="l" t="t" r="r" b="b"/>
            <a:pathLst>
              <a:path w="21600" h="21600">
                <a:moveTo>
                  <a:pt x="0" y="0"/>
                </a:moveTo>
                <a:lnTo>
                  <a:pt x="21600" y="21600"/>
                </a:lnTo>
              </a:path>
            </a:pathLst>
          </a:custGeom>
          <a:noFill/>
          <a:ln>
            <a:tailEnd len="med" type="triangle" w="med"/>
          </a:ln>
        </p:spPr>
        <p:style>
          <a:lnRef idx="2">
            <a:schemeClr val="dk1"/>
          </a:lnRef>
          <a:fillRef idx="0">
            <a:schemeClr val="dk1"/>
          </a:fillRef>
          <a:effectRef idx="1">
            <a:schemeClr val="dk1"/>
          </a:effectRef>
          <a:fontRef idx="minor"/>
        </p:style>
      </p:sp>
      <p:sp>
        <p:nvSpPr>
          <p:cNvPr id="474" name="CustomShape 27"/>
          <p:cNvSpPr/>
          <p:nvPr/>
        </p:nvSpPr>
        <p:spPr>
          <a:xfrm>
            <a:off x="1663920" y="6032520"/>
            <a:ext cx="996480" cy="364680"/>
          </a:xfrm>
          <a:prstGeom prst="rect">
            <a:avLst/>
          </a:prstGeom>
          <a:noFill/>
          <a:ln>
            <a:solidFill>
              <a:schemeClr val="tx1"/>
            </a:solidFill>
            <a:prstDash val="dash"/>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Sleuth</a:t>
            </a:r>
            <a:endParaRPr b="0" lang="es-ES" sz="1800" spc="-1" strike="noStrike">
              <a:latin typeface="Arial"/>
            </a:endParaRPr>
          </a:p>
        </p:txBody>
      </p:sp>
      <p:sp>
        <p:nvSpPr>
          <p:cNvPr id="475" name="CustomShape 28"/>
          <p:cNvSpPr/>
          <p:nvPr/>
        </p:nvSpPr>
        <p:spPr>
          <a:xfrm>
            <a:off x="6131520" y="6032520"/>
            <a:ext cx="1235880" cy="364680"/>
          </a:xfrm>
          <a:prstGeom prst="rect">
            <a:avLst/>
          </a:prstGeom>
          <a:noFill/>
          <a:ln>
            <a:solidFill>
              <a:schemeClr val="tx1"/>
            </a:solidFill>
            <a:prstDash val="dash"/>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WGCNA</a:t>
            </a:r>
            <a:endParaRPr b="0" lang="es-ES" sz="1800" spc="-1" strike="noStrike">
              <a:latin typeface="Arial"/>
            </a:endParaRPr>
          </a:p>
        </p:txBody>
      </p:sp>
      <p:sp>
        <p:nvSpPr>
          <p:cNvPr id="476" name="CustomShape 29"/>
          <p:cNvSpPr/>
          <p:nvPr/>
        </p:nvSpPr>
        <p:spPr>
          <a:xfrm>
            <a:off x="8775360" y="953640"/>
            <a:ext cx="788400" cy="4571640"/>
          </a:xfrm>
          <a:prstGeom prst="rightBrace">
            <a:avLst>
              <a:gd name="adj1" fmla="val 8333"/>
              <a:gd name="adj2" fmla="val 50000"/>
            </a:avLst>
          </a:prstGeom>
          <a:noFill/>
          <a:ln/>
        </p:spPr>
        <p:style>
          <a:lnRef idx="2">
            <a:schemeClr val="dk1"/>
          </a:lnRef>
          <a:fillRef idx="0">
            <a:schemeClr val="dk1"/>
          </a:fillRef>
          <a:effectRef idx="1">
            <a:schemeClr val="dk1"/>
          </a:effectRef>
          <a:fontRef idx="minor"/>
        </p:style>
      </p:sp>
      <p:sp>
        <p:nvSpPr>
          <p:cNvPr id="477" name="CustomShape 30"/>
          <p:cNvSpPr/>
          <p:nvPr/>
        </p:nvSpPr>
        <p:spPr>
          <a:xfrm>
            <a:off x="8761320" y="5856120"/>
            <a:ext cx="788400" cy="683640"/>
          </a:xfrm>
          <a:prstGeom prst="rightBrace">
            <a:avLst>
              <a:gd name="adj1" fmla="val 8333"/>
              <a:gd name="adj2" fmla="val 50000"/>
            </a:avLst>
          </a:prstGeom>
          <a:noFill/>
          <a:ln/>
        </p:spPr>
        <p:style>
          <a:lnRef idx="2">
            <a:schemeClr val="dk1"/>
          </a:lnRef>
          <a:fillRef idx="0">
            <a:schemeClr val="dk1"/>
          </a:fillRef>
          <a:effectRef idx="1">
            <a:schemeClr val="dk1"/>
          </a:effectRef>
          <a:fontRef idx="minor"/>
        </p:style>
      </p:sp>
      <p:sp>
        <p:nvSpPr>
          <p:cNvPr id="478" name="CustomShape 31"/>
          <p:cNvSpPr/>
          <p:nvPr/>
        </p:nvSpPr>
        <p:spPr>
          <a:xfrm>
            <a:off x="9437760" y="2916360"/>
            <a:ext cx="1704960" cy="91332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i="1" lang="en-US" sz="1800" spc="-1" strike="noStrike">
                <a:solidFill>
                  <a:srgbClr val="000000"/>
                </a:solidFill>
                <a:latin typeface="Aptos"/>
              </a:rPr>
              <a:t>Run in WSL terminal (Ubuntu)</a:t>
            </a:r>
            <a:endParaRPr b="0" lang="es-ES" sz="1800" spc="-1" strike="noStrike">
              <a:latin typeface="Arial"/>
            </a:endParaRPr>
          </a:p>
        </p:txBody>
      </p:sp>
      <p:sp>
        <p:nvSpPr>
          <p:cNvPr id="479" name="CustomShape 32"/>
          <p:cNvSpPr/>
          <p:nvPr/>
        </p:nvSpPr>
        <p:spPr>
          <a:xfrm>
            <a:off x="9629280" y="5893920"/>
            <a:ext cx="2206800" cy="91260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i="1" lang="en-US" sz="1800" spc="-1" strike="noStrike">
                <a:solidFill>
                  <a:srgbClr val="000000"/>
                </a:solidFill>
                <a:latin typeface="Aptos"/>
              </a:rPr>
              <a:t>Run in Rstudio (Windows/Ubuntu)</a:t>
            </a:r>
            <a:endParaRPr b="0" lang="es-ES" sz="1800" spc="-1" strike="noStrike">
              <a:latin typeface="Arial"/>
            </a:endParaRPr>
          </a:p>
        </p:txBody>
      </p:sp>
      <p:sp>
        <p:nvSpPr>
          <p:cNvPr id="480" name="CustomShape 33"/>
          <p:cNvSpPr/>
          <p:nvPr/>
        </p:nvSpPr>
        <p:spPr>
          <a:xfrm>
            <a:off x="726840" y="511560"/>
            <a:ext cx="3836160" cy="57636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Aptos"/>
              </a:rPr>
              <a:t>/home/vep/test_data/transcripts/brachy/</a:t>
            </a:r>
            <a:endParaRPr b="0" lang="es-ES" sz="16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CustomShape 1"/>
          <p:cNvSpPr/>
          <p:nvPr/>
        </p:nvSpPr>
        <p:spPr>
          <a:xfrm>
            <a:off x="5318640" y="585000"/>
            <a:ext cx="1554120" cy="82116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400" spc="-1" strike="noStrike">
                <a:solidFill>
                  <a:srgbClr val="000000"/>
                </a:solidFill>
                <a:latin typeface="Aptos"/>
              </a:rPr>
              <a:t>RNA-seq</a:t>
            </a:r>
            <a:endParaRPr b="0" lang="es-ES" sz="2400" spc="-1" strike="noStrike">
              <a:latin typeface="Arial"/>
            </a:endParaRPr>
          </a:p>
        </p:txBody>
      </p:sp>
      <p:sp>
        <p:nvSpPr>
          <p:cNvPr id="482" name="CustomShape 2"/>
          <p:cNvSpPr/>
          <p:nvPr/>
        </p:nvSpPr>
        <p:spPr>
          <a:xfrm>
            <a:off x="448920" y="1958760"/>
            <a:ext cx="11341080" cy="765000"/>
          </a:xfrm>
          <a:prstGeom prst="rect">
            <a:avLst/>
          </a:prstGeom>
          <a:noFill/>
          <a:ln>
            <a:solidFill>
              <a:schemeClr val="tx1"/>
            </a:solidFill>
          </a:ln>
        </p:spPr>
        <p:style>
          <a:lnRef idx="0"/>
          <a:fillRef idx="0"/>
          <a:effectRef idx="0"/>
          <a:fontRef idx="minor"/>
        </p:style>
        <p:txBody>
          <a:bodyPr lIns="90000" rIns="90000" tIns="108000" bIns="108000">
            <a:spAutoFit/>
          </a:bodyPr>
          <a:p>
            <a:pPr>
              <a:lnSpc>
                <a:spcPct val="100000"/>
              </a:lnSpc>
            </a:pPr>
            <a:r>
              <a:rPr b="0" lang="en-US" sz="1800" spc="-1" strike="noStrike">
                <a:solidFill>
                  <a:srgbClr val="000000"/>
                </a:solidFill>
                <a:latin typeface="Aptos"/>
              </a:rPr>
              <a:t>RNA-Seq library protocol is the </a:t>
            </a:r>
            <a:r>
              <a:rPr b="1" lang="en-US" sz="1800" spc="-1" strike="noStrike">
                <a:solidFill>
                  <a:srgbClr val="000000"/>
                </a:solidFill>
                <a:latin typeface="Aptos"/>
              </a:rPr>
              <a:t>3′ cDNA tag library prep</a:t>
            </a:r>
            <a:r>
              <a:rPr b="0" lang="en-US" sz="1800" spc="-1" strike="noStrike">
                <a:solidFill>
                  <a:srgbClr val="000000"/>
                </a:solidFill>
                <a:latin typeface="Aptos"/>
              </a:rPr>
              <a:t> for sequencing on the Illumina HiSeq platform adapted from Meyer et al. (2011).</a:t>
            </a:r>
            <a:endParaRPr b="0" lang="es-ES" sz="1800" spc="-1" strike="noStrike">
              <a:latin typeface="Arial"/>
            </a:endParaRPr>
          </a:p>
        </p:txBody>
      </p:sp>
      <p:sp>
        <p:nvSpPr>
          <p:cNvPr id="483" name="CustomShape 3"/>
          <p:cNvSpPr/>
          <p:nvPr/>
        </p:nvSpPr>
        <p:spPr>
          <a:xfrm>
            <a:off x="448920" y="3105720"/>
            <a:ext cx="11341080" cy="764280"/>
          </a:xfrm>
          <a:prstGeom prst="rect">
            <a:avLst/>
          </a:prstGeom>
          <a:noFill/>
          <a:ln>
            <a:solidFill>
              <a:schemeClr val="tx1"/>
            </a:solidFill>
          </a:ln>
        </p:spPr>
        <p:style>
          <a:lnRef idx="0"/>
          <a:fillRef idx="0"/>
          <a:effectRef idx="0"/>
          <a:fontRef idx="minor"/>
        </p:style>
        <p:txBody>
          <a:bodyPr lIns="90000" rIns="90000" tIns="108000" bIns="108000">
            <a:spAutoFit/>
          </a:bodyPr>
          <a:p>
            <a:pPr>
              <a:lnSpc>
                <a:spcPct val="100000"/>
              </a:lnSpc>
            </a:pPr>
            <a:r>
              <a:rPr b="0" lang="en-US" sz="1800" spc="-1" strike="noStrike">
                <a:solidFill>
                  <a:srgbClr val="000000"/>
                </a:solidFill>
                <a:latin typeface="Aptos"/>
              </a:rPr>
              <a:t>Sequencing was carried out using an Illumina HiSeq2500 platform (100 bp Single-End, SE, sequencing).</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CustomShape 1"/>
          <p:cNvSpPr/>
          <p:nvPr/>
        </p:nvSpPr>
        <p:spPr>
          <a:xfrm>
            <a:off x="4609440" y="381960"/>
            <a:ext cx="3000600" cy="82116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400" spc="-1" strike="noStrike">
                <a:solidFill>
                  <a:srgbClr val="000000"/>
                </a:solidFill>
                <a:latin typeface="Aptos"/>
              </a:rPr>
              <a:t>Quality Check (QC)</a:t>
            </a:r>
            <a:endParaRPr b="0" lang="es-ES" sz="2400" spc="-1" strike="noStrike">
              <a:latin typeface="Arial"/>
            </a:endParaRPr>
          </a:p>
        </p:txBody>
      </p:sp>
      <p:sp>
        <p:nvSpPr>
          <p:cNvPr id="485" name="CustomShape 2"/>
          <p:cNvSpPr/>
          <p:nvPr/>
        </p:nvSpPr>
        <p:spPr>
          <a:xfrm>
            <a:off x="1108440" y="1395360"/>
            <a:ext cx="10002600" cy="8218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Task 01: Generate QC report of ABR3_W_03 sample.</a:t>
            </a:r>
            <a:endParaRPr b="0" lang="es-ES" sz="2400" spc="-1" strike="noStrike">
              <a:latin typeface="Arial"/>
            </a:endParaRPr>
          </a:p>
          <a:p>
            <a:pPr>
              <a:lnSpc>
                <a:spcPct val="100000"/>
              </a:lnSpc>
            </a:pPr>
            <a:r>
              <a:rPr b="1" i="1" lang="en-US" sz="2400" spc="-1" strike="noStrike">
                <a:solidFill>
                  <a:srgbClr val="000000"/>
                </a:solidFill>
                <a:latin typeface="Aptos"/>
              </a:rPr>
              <a:t>Review and interpret the results obtained </a:t>
            </a:r>
            <a:endParaRPr b="0" lang="es-ES" sz="2400" spc="-1" strike="noStrike">
              <a:latin typeface="Arial"/>
            </a:endParaRPr>
          </a:p>
        </p:txBody>
      </p:sp>
      <p:sp>
        <p:nvSpPr>
          <p:cNvPr id="486" name="CustomShape 3"/>
          <p:cNvSpPr/>
          <p:nvPr/>
        </p:nvSpPr>
        <p:spPr>
          <a:xfrm>
            <a:off x="1108440" y="2667960"/>
            <a:ext cx="10002600" cy="4561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Software: </a:t>
            </a:r>
            <a:r>
              <a:rPr b="0" lang="en-US" sz="2400" spc="-1" strike="noStrike">
                <a:solidFill>
                  <a:srgbClr val="000000"/>
                </a:solidFill>
                <a:latin typeface="Aptos"/>
              </a:rPr>
              <a:t>FastQC v0.12.1.</a:t>
            </a:r>
            <a:endParaRPr b="0" lang="es-ES" sz="2400" spc="-1" strike="noStrike">
              <a:latin typeface="Arial"/>
            </a:endParaRPr>
          </a:p>
        </p:txBody>
      </p:sp>
      <p:sp>
        <p:nvSpPr>
          <p:cNvPr id="487" name="CustomShape 4"/>
          <p:cNvSpPr/>
          <p:nvPr/>
        </p:nvSpPr>
        <p:spPr>
          <a:xfrm>
            <a:off x="1108440" y="3570840"/>
            <a:ext cx="10002600" cy="5169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Command: </a:t>
            </a:r>
            <a:r>
              <a:rPr b="1" lang="en-US" sz="2800" spc="-1" strike="noStrike">
                <a:solidFill>
                  <a:srgbClr val="000000"/>
                </a:solidFill>
                <a:latin typeface="Consolas"/>
              </a:rPr>
              <a:t>fastqc</a:t>
            </a:r>
            <a:r>
              <a:rPr b="0" lang="en-US" sz="2800" spc="-1" strike="noStrike">
                <a:solidFill>
                  <a:srgbClr val="000000"/>
                </a:solidFill>
                <a:latin typeface="Consolas"/>
              </a:rPr>
              <a:t> input_fastqc </a:t>
            </a:r>
            <a:r>
              <a:rPr b="1" lang="en-US" sz="2800" spc="-1" strike="noStrike">
                <a:solidFill>
                  <a:srgbClr val="000000"/>
                </a:solidFill>
                <a:latin typeface="Consolas"/>
              </a:rPr>
              <a:t>-o</a:t>
            </a:r>
            <a:r>
              <a:rPr b="0" lang="en-US" sz="2800" spc="-1" strike="noStrike">
                <a:solidFill>
                  <a:srgbClr val="000000"/>
                </a:solidFill>
                <a:latin typeface="Consolas"/>
              </a:rPr>
              <a:t> output_folder</a:t>
            </a:r>
            <a:endParaRPr b="0" lang="es-ES" sz="2800" spc="-1" strike="noStrike">
              <a:latin typeface="Arial"/>
            </a:endParaRPr>
          </a:p>
        </p:txBody>
      </p:sp>
      <p:sp>
        <p:nvSpPr>
          <p:cNvPr id="488" name="CustomShape 5"/>
          <p:cNvSpPr/>
          <p:nvPr/>
        </p:nvSpPr>
        <p:spPr>
          <a:xfrm>
            <a:off x="1108440" y="4535640"/>
            <a:ext cx="10002600" cy="13701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Tips:</a:t>
            </a:r>
            <a:endParaRPr b="0" lang="es-ES" sz="2400" spc="-1" strike="noStrike">
              <a:latin typeface="Arial"/>
            </a:endParaRPr>
          </a:p>
          <a:p>
            <a:pPr lvl="2" marL="1257480" indent="-342720">
              <a:lnSpc>
                <a:spcPct val="100000"/>
              </a:lnSpc>
              <a:buClr>
                <a:srgbClr val="000000"/>
              </a:buClr>
              <a:buFont typeface="Wingdings" charset="2"/>
              <a:buChar char=""/>
            </a:pPr>
            <a:r>
              <a:rPr b="0" lang="en-US" sz="2000" spc="-1" strike="noStrike">
                <a:solidFill>
                  <a:srgbClr val="000000"/>
                </a:solidFill>
                <a:latin typeface="Aptos"/>
              </a:rPr>
              <a:t>Remember to create the output folder.</a:t>
            </a:r>
            <a:endParaRPr b="0" lang="es-ES" sz="2000" spc="-1" strike="noStrike">
              <a:latin typeface="Arial"/>
            </a:endParaRPr>
          </a:p>
          <a:p>
            <a:pPr lvl="2" marL="1257480" indent="-342720">
              <a:lnSpc>
                <a:spcPct val="100000"/>
              </a:lnSpc>
              <a:buClr>
                <a:srgbClr val="000000"/>
              </a:buClr>
              <a:buFont typeface="Wingdings" charset="2"/>
              <a:buChar char=""/>
            </a:pPr>
            <a:r>
              <a:rPr b="0" lang="en-US" sz="2000" spc="-1" strike="noStrike">
                <a:solidFill>
                  <a:srgbClr val="000000"/>
                </a:solidFill>
                <a:latin typeface="Aptos"/>
              </a:rPr>
              <a:t>Check that the paths of the software, input files, and output folder are correct.</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490" name="CustomShape 2"/>
          <p:cNvSpPr/>
          <p:nvPr/>
        </p:nvSpPr>
        <p:spPr>
          <a:xfrm>
            <a:off x="699480" y="2076120"/>
            <a:ext cx="10792440" cy="173556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1" lang="en-US" sz="3600" spc="-1" strike="noStrike">
                <a:solidFill>
                  <a:srgbClr val="000000"/>
                </a:solidFill>
                <a:latin typeface="Consolas"/>
              </a:rPr>
              <a:t>fastqc </a:t>
            </a:r>
            <a:r>
              <a:rPr b="0" lang="en-US" sz="3600" spc="-1" strike="noStrike">
                <a:solidFill>
                  <a:srgbClr val="000000"/>
                </a:solidFill>
                <a:latin typeface="Consolas"/>
              </a:rPr>
              <a:t>01_RNAseq_raw/ABR3_W_03.fastq.gz \</a:t>
            </a:r>
            <a:endParaRPr b="0" lang="es-ES" sz="3600" spc="-1" strike="noStrike">
              <a:latin typeface="Arial"/>
            </a:endParaRPr>
          </a:p>
          <a:p>
            <a:pPr>
              <a:lnSpc>
                <a:spcPct val="100000"/>
              </a:lnSpc>
            </a:pPr>
            <a:r>
              <a:rPr b="1" lang="en-US" sz="3600" spc="-1" strike="noStrike">
                <a:solidFill>
                  <a:srgbClr val="000000"/>
                </a:solidFill>
                <a:latin typeface="Consolas"/>
              </a:rPr>
              <a:t>-o </a:t>
            </a:r>
            <a:r>
              <a:rPr b="0" lang="en-US" sz="3600" spc="-1" strike="noStrike">
                <a:solidFill>
                  <a:srgbClr val="000000"/>
                </a:solidFill>
                <a:latin typeface="Consolas"/>
              </a:rPr>
              <a:t>01_RNAseq_raw/reports/</a:t>
            </a:r>
            <a:endParaRPr b="0" lang="es-ES" sz="3600" spc="-1" strike="noStrike">
              <a:latin typeface="Arial"/>
            </a:endParaRPr>
          </a:p>
        </p:txBody>
      </p:sp>
      <p:sp>
        <p:nvSpPr>
          <p:cNvPr id="491" name="CustomShape 3"/>
          <p:cNvSpPr/>
          <p:nvPr/>
        </p:nvSpPr>
        <p:spPr>
          <a:xfrm>
            <a:off x="4574520" y="482040"/>
            <a:ext cx="3042360" cy="82116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400" spc="-1" strike="noStrike">
                <a:solidFill>
                  <a:srgbClr val="000000"/>
                </a:solidFill>
                <a:latin typeface="Aptos"/>
              </a:rPr>
              <a:t>Quality Check (QC)</a:t>
            </a:r>
            <a:endParaRPr b="0" lang="es-ES" sz="2400" spc="-1" strike="noStrike">
              <a:latin typeface="Arial"/>
            </a:endParaRPr>
          </a:p>
        </p:txBody>
      </p:sp>
      <p:sp>
        <p:nvSpPr>
          <p:cNvPr id="492" name="CustomShape 4"/>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sp>
        <p:nvSpPr>
          <p:cNvPr id="493" name="CustomShape 5"/>
          <p:cNvSpPr/>
          <p:nvPr/>
        </p:nvSpPr>
        <p:spPr>
          <a:xfrm>
            <a:off x="234360" y="5014440"/>
            <a:ext cx="11957040" cy="33372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Aptos Display"/>
              </a:rPr>
              <a:t>Open the report: </a:t>
            </a:r>
            <a:r>
              <a:rPr b="0" lang="en-US" sz="1600" spc="-1" strike="noStrike" u="sng">
                <a:solidFill>
                  <a:srgbClr val="467886"/>
                </a:solidFill>
                <a:uFillTx/>
                <a:latin typeface="Aptos Display"/>
                <a:hlinkClick r:id="rId1"/>
              </a:rPr>
              <a:t>\\wsl.localhost\Ubuntu-22.04\home\iamz\transcriptome_class\report\ABR3_D_03_fastqc.html</a:t>
            </a:r>
            <a:endParaRPr b="0" lang="es-ES" sz="16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495" name="CustomShape 2"/>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pic>
        <p:nvPicPr>
          <p:cNvPr id="496" name="Imagen 2" descr=""/>
          <p:cNvPicPr/>
          <p:nvPr/>
        </p:nvPicPr>
        <p:blipFill>
          <a:blip r:embed="rId1"/>
          <a:srcRect l="0" t="0" r="74918" b="49812"/>
          <a:stretch/>
        </p:blipFill>
        <p:spPr>
          <a:xfrm>
            <a:off x="203040" y="1063440"/>
            <a:ext cx="2025720" cy="3709440"/>
          </a:xfrm>
          <a:prstGeom prst="rect">
            <a:avLst/>
          </a:prstGeom>
          <a:ln>
            <a:noFill/>
          </a:ln>
        </p:spPr>
      </p:pic>
      <p:sp>
        <p:nvSpPr>
          <p:cNvPr id="497" name="CustomShape 3"/>
          <p:cNvSpPr/>
          <p:nvPr/>
        </p:nvSpPr>
        <p:spPr>
          <a:xfrm>
            <a:off x="3798720" y="261720"/>
            <a:ext cx="459396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Quality Check (QC) with </a:t>
            </a:r>
            <a:r>
              <a:rPr b="1" lang="en-US" sz="2000" spc="-1" strike="noStrike">
                <a:solidFill>
                  <a:srgbClr val="000000"/>
                </a:solidFill>
                <a:latin typeface="Consolas"/>
              </a:rPr>
              <a:t>FastQC</a:t>
            </a:r>
            <a:r>
              <a:rPr b="1" lang="en-US" sz="2000" spc="-1" strike="noStrike">
                <a:solidFill>
                  <a:srgbClr val="000000"/>
                </a:solidFill>
                <a:latin typeface="Aptos"/>
              </a:rPr>
              <a:t> </a:t>
            </a:r>
            <a:endParaRPr b="0" lang="es-ES" sz="2000" spc="-1" strike="noStrike">
              <a:latin typeface="Arial"/>
            </a:endParaRPr>
          </a:p>
        </p:txBody>
      </p:sp>
      <p:grpSp>
        <p:nvGrpSpPr>
          <p:cNvPr id="498" name="Group 4"/>
          <p:cNvGrpSpPr/>
          <p:nvPr/>
        </p:nvGrpSpPr>
        <p:grpSpPr>
          <a:xfrm>
            <a:off x="6095880" y="1063440"/>
            <a:ext cx="5898240" cy="4595400"/>
            <a:chOff x="6095880" y="1063440"/>
            <a:chExt cx="5898240" cy="4595400"/>
          </a:xfrm>
        </p:grpSpPr>
        <p:sp>
          <p:nvSpPr>
            <p:cNvPr id="499" name="CustomShape 5"/>
            <p:cNvSpPr/>
            <p:nvPr/>
          </p:nvSpPr>
          <p:spPr>
            <a:xfrm>
              <a:off x="6095880" y="1063440"/>
              <a:ext cx="5892480" cy="4595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p:style>
        </p:sp>
        <p:pic>
          <p:nvPicPr>
            <p:cNvPr id="500" name="Imagen 6" descr=""/>
            <p:cNvPicPr/>
            <p:nvPr/>
          </p:nvPicPr>
          <p:blipFill>
            <a:blip r:embed="rId2"/>
            <a:srcRect l="26133" t="40759" r="0" b="0"/>
            <a:stretch/>
          </p:blipFill>
          <p:spPr>
            <a:xfrm>
              <a:off x="6095880" y="1063440"/>
              <a:ext cx="5898240" cy="4329360"/>
            </a:xfrm>
            <a:prstGeom prst="rect">
              <a:avLst/>
            </a:prstGeom>
            <a:ln>
              <a:noFill/>
            </a:ln>
          </p:spPr>
        </p:pic>
      </p:grpSp>
      <p:pic>
        <p:nvPicPr>
          <p:cNvPr id="501" name="Imagen 7" descr=""/>
          <p:cNvPicPr/>
          <p:nvPr/>
        </p:nvPicPr>
        <p:blipFill>
          <a:blip r:embed="rId3"/>
          <a:srcRect l="25993" t="7776" r="31433" b="63566"/>
          <a:stretch/>
        </p:blipFill>
        <p:spPr>
          <a:xfrm>
            <a:off x="2433240" y="1063440"/>
            <a:ext cx="3438360" cy="2117880"/>
          </a:xfrm>
          <a:prstGeom prst="rect">
            <a:avLst/>
          </a:prstGeom>
          <a:ln>
            <a:noFill/>
          </a:ln>
        </p:spPr>
      </p:pic>
      <p:sp>
        <p:nvSpPr>
          <p:cNvPr id="502" name="CustomShape 6"/>
          <p:cNvSpPr/>
          <p:nvPr/>
        </p:nvSpPr>
        <p:spPr>
          <a:xfrm>
            <a:off x="6095880" y="5726880"/>
            <a:ext cx="5898240" cy="63900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The range of quality scores across all bases at each position in the Fastq file</a:t>
            </a:r>
            <a:endParaRPr b="0" lang="es-ES" sz="1800" spc="-1" strike="noStrike">
              <a:latin typeface="Arial"/>
            </a:endParaRPr>
          </a:p>
        </p:txBody>
      </p:sp>
      <p:sp>
        <p:nvSpPr>
          <p:cNvPr id="503" name="CustomShape 7"/>
          <p:cNvSpPr/>
          <p:nvPr/>
        </p:nvSpPr>
        <p:spPr>
          <a:xfrm rot="16200000">
            <a:off x="5425560" y="3213000"/>
            <a:ext cx="1644840" cy="3034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400" spc="-1" strike="noStrike">
                <a:solidFill>
                  <a:srgbClr val="000000"/>
                </a:solidFill>
                <a:latin typeface="Aptos"/>
              </a:rPr>
              <a:t>quality scores</a:t>
            </a:r>
            <a:endParaRPr b="0" lang="es-ES" sz="1400" spc="-1" strike="noStrike">
              <a:latin typeface="Arial"/>
            </a:endParaRPr>
          </a:p>
        </p:txBody>
      </p:sp>
      <p:sp>
        <p:nvSpPr>
          <p:cNvPr id="504" name="CustomShape 8"/>
          <p:cNvSpPr/>
          <p:nvPr/>
        </p:nvSpPr>
        <p:spPr>
          <a:xfrm>
            <a:off x="7910280" y="5378760"/>
            <a:ext cx="2788560" cy="3034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400" spc="-1" strike="noStrike">
                <a:solidFill>
                  <a:srgbClr val="000000"/>
                </a:solidFill>
                <a:latin typeface="Aptos"/>
              </a:rPr>
              <a:t>Position in the read (bp)</a:t>
            </a:r>
            <a:endParaRPr b="0" lang="es-ES" sz="1400" spc="-1" strike="noStrike">
              <a:latin typeface="Arial"/>
            </a:endParaRPr>
          </a:p>
        </p:txBody>
      </p:sp>
      <p:pic>
        <p:nvPicPr>
          <p:cNvPr id="505" name="Gráfico 1" descr="Burbuja de chat con relleno sólido"/>
          <p:cNvPicPr/>
          <p:nvPr/>
        </p:nvPicPr>
        <p:blipFill>
          <a:blip r:embed="rId4"/>
          <a:stretch/>
        </p:blipFill>
        <p:spPr>
          <a:xfrm flipH="1">
            <a:off x="8420400" y="1082880"/>
            <a:ext cx="375480" cy="375480"/>
          </a:xfrm>
          <a:prstGeom prst="rect">
            <a:avLst/>
          </a:prstGeom>
          <a:ln>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507" name="CustomShape 2"/>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pic>
        <p:nvPicPr>
          <p:cNvPr id="508" name="Imagen 2" descr=""/>
          <p:cNvPicPr/>
          <p:nvPr/>
        </p:nvPicPr>
        <p:blipFill>
          <a:blip r:embed="rId1"/>
          <a:srcRect l="0" t="0" r="5187" b="0"/>
          <a:stretch/>
        </p:blipFill>
        <p:spPr>
          <a:xfrm>
            <a:off x="149760" y="831240"/>
            <a:ext cx="5771880" cy="4629960"/>
          </a:xfrm>
          <a:prstGeom prst="rect">
            <a:avLst/>
          </a:prstGeom>
          <a:ln>
            <a:noFill/>
          </a:ln>
        </p:spPr>
      </p:pic>
      <p:pic>
        <p:nvPicPr>
          <p:cNvPr id="509" name="Imagen 4" descr=""/>
          <p:cNvPicPr/>
          <p:nvPr/>
        </p:nvPicPr>
        <p:blipFill>
          <a:blip r:embed="rId2"/>
          <a:stretch/>
        </p:blipFill>
        <p:spPr>
          <a:xfrm>
            <a:off x="6027120" y="822600"/>
            <a:ext cx="6036120" cy="4638600"/>
          </a:xfrm>
          <a:prstGeom prst="rect">
            <a:avLst/>
          </a:prstGeom>
          <a:ln>
            <a:noFill/>
          </a:ln>
        </p:spPr>
      </p:pic>
      <p:sp>
        <p:nvSpPr>
          <p:cNvPr id="510" name="CustomShape 3"/>
          <p:cNvSpPr/>
          <p:nvPr/>
        </p:nvSpPr>
        <p:spPr>
          <a:xfrm>
            <a:off x="149760" y="5492160"/>
            <a:ext cx="5771880" cy="106380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Aptos"/>
              </a:rPr>
              <a:t>The plot shows the deviation from the average quality for each flowcell tile. Hotter colours indicate that a tile had worse qualities than other tiles for that base. Bubbles, smudges or debris in the flowcell lane.</a:t>
            </a:r>
            <a:endParaRPr b="0" lang="es-ES" sz="1600" spc="-1" strike="noStrike">
              <a:latin typeface="Arial"/>
            </a:endParaRPr>
          </a:p>
        </p:txBody>
      </p:sp>
      <p:sp>
        <p:nvSpPr>
          <p:cNvPr id="511" name="CustomShape 4"/>
          <p:cNvSpPr/>
          <p:nvPr/>
        </p:nvSpPr>
        <p:spPr>
          <a:xfrm rot="16200000">
            <a:off x="-319320" y="3308760"/>
            <a:ext cx="1380960" cy="3034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400" spc="-1" strike="noStrike">
                <a:solidFill>
                  <a:srgbClr val="000000"/>
                </a:solidFill>
                <a:latin typeface="Aptos"/>
              </a:rPr>
              <a:t>flowcell tile</a:t>
            </a:r>
            <a:endParaRPr b="0" lang="es-ES" sz="1400" spc="-1" strike="noStrike">
              <a:latin typeface="Arial"/>
            </a:endParaRPr>
          </a:p>
        </p:txBody>
      </p:sp>
      <p:sp>
        <p:nvSpPr>
          <p:cNvPr id="512" name="CustomShape 5"/>
          <p:cNvSpPr/>
          <p:nvPr/>
        </p:nvSpPr>
        <p:spPr>
          <a:xfrm>
            <a:off x="6012720" y="5506200"/>
            <a:ext cx="6050160" cy="57708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Aptos"/>
              </a:rPr>
              <a:t>It allows you to see if a subset of your sequences have universally low-quality values.</a:t>
            </a:r>
            <a:endParaRPr b="0" lang="es-ES" sz="1600" spc="-1" strike="noStrike">
              <a:latin typeface="Arial"/>
            </a:endParaRPr>
          </a:p>
        </p:txBody>
      </p:sp>
      <p:sp>
        <p:nvSpPr>
          <p:cNvPr id="513" name="CustomShape 6"/>
          <p:cNvSpPr/>
          <p:nvPr/>
        </p:nvSpPr>
        <p:spPr>
          <a:xfrm rot="16200000">
            <a:off x="5261760" y="3202560"/>
            <a:ext cx="2137320" cy="515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400" spc="-1" strike="noStrike">
                <a:solidFill>
                  <a:srgbClr val="000000"/>
                </a:solidFill>
                <a:latin typeface="Aptos"/>
              </a:rPr>
              <a:t>Number of sequences</a:t>
            </a:r>
            <a:endParaRPr b="0" lang="es-ES" sz="1400" spc="-1" strike="noStrike">
              <a:latin typeface="Arial"/>
            </a:endParaRPr>
          </a:p>
        </p:txBody>
      </p:sp>
      <p:pic>
        <p:nvPicPr>
          <p:cNvPr id="514" name="Gráfico 1" descr="Burbuja de chat con relleno sólido"/>
          <p:cNvPicPr/>
          <p:nvPr/>
        </p:nvPicPr>
        <p:blipFill>
          <a:blip r:embed="rId3"/>
          <a:stretch/>
        </p:blipFill>
        <p:spPr>
          <a:xfrm flipH="1">
            <a:off x="2383560" y="831240"/>
            <a:ext cx="375480" cy="375480"/>
          </a:xfrm>
          <a:prstGeom prst="rect">
            <a:avLst/>
          </a:prstGeom>
          <a:ln>
            <a:noFill/>
          </a:ln>
        </p:spPr>
      </p:pic>
      <p:pic>
        <p:nvPicPr>
          <p:cNvPr id="515" name="Gráfico 3" descr="Burbuja de chat con relleno sólido"/>
          <p:cNvPicPr/>
          <p:nvPr/>
        </p:nvPicPr>
        <p:blipFill>
          <a:blip r:embed="rId4"/>
          <a:stretch/>
        </p:blipFill>
        <p:spPr>
          <a:xfrm flipH="1">
            <a:off x="8598240" y="847800"/>
            <a:ext cx="375480" cy="375480"/>
          </a:xfrm>
          <a:prstGeom prst="rect">
            <a:avLst/>
          </a:prstGeom>
          <a:ln>
            <a:noFill/>
          </a:ln>
        </p:spPr>
      </p:pic>
      <p:sp>
        <p:nvSpPr>
          <p:cNvPr id="516" name="CustomShape 7"/>
          <p:cNvSpPr/>
          <p:nvPr/>
        </p:nvSpPr>
        <p:spPr>
          <a:xfrm>
            <a:off x="3798720" y="261720"/>
            <a:ext cx="459396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Quality Check (QC) with </a:t>
            </a:r>
            <a:r>
              <a:rPr b="1" lang="en-US" sz="2000" spc="-1" strike="noStrike">
                <a:solidFill>
                  <a:srgbClr val="000000"/>
                </a:solidFill>
                <a:latin typeface="Consolas"/>
              </a:rPr>
              <a:t>FastQC</a:t>
            </a:r>
            <a:r>
              <a:rPr b="1" lang="en-US" sz="2000" spc="-1" strike="noStrike">
                <a:solidFill>
                  <a:srgbClr val="000000"/>
                </a:solidFill>
                <a:latin typeface="Aptos"/>
              </a:rPr>
              <a:t> </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518" name="CustomShape 2"/>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pic>
        <p:nvPicPr>
          <p:cNvPr id="519" name="Imagen 7" descr=""/>
          <p:cNvPicPr/>
          <p:nvPr/>
        </p:nvPicPr>
        <p:blipFill>
          <a:blip r:embed="rId1"/>
          <a:stretch/>
        </p:blipFill>
        <p:spPr>
          <a:xfrm>
            <a:off x="355680" y="761400"/>
            <a:ext cx="5740200" cy="4332960"/>
          </a:xfrm>
          <a:prstGeom prst="rect">
            <a:avLst/>
          </a:prstGeom>
          <a:ln>
            <a:noFill/>
          </a:ln>
        </p:spPr>
      </p:pic>
      <p:pic>
        <p:nvPicPr>
          <p:cNvPr id="520" name="Imagen 8" descr=""/>
          <p:cNvPicPr/>
          <p:nvPr/>
        </p:nvPicPr>
        <p:blipFill>
          <a:blip r:embed="rId2"/>
          <a:stretch/>
        </p:blipFill>
        <p:spPr>
          <a:xfrm>
            <a:off x="6275880" y="761400"/>
            <a:ext cx="5515560" cy="4217760"/>
          </a:xfrm>
          <a:prstGeom prst="rect">
            <a:avLst/>
          </a:prstGeom>
          <a:ln>
            <a:noFill/>
          </a:ln>
        </p:spPr>
      </p:pic>
      <p:sp>
        <p:nvSpPr>
          <p:cNvPr id="521" name="CustomShape 3"/>
          <p:cNvSpPr/>
          <p:nvPr/>
        </p:nvSpPr>
        <p:spPr>
          <a:xfrm>
            <a:off x="355680" y="5142240"/>
            <a:ext cx="5740200" cy="1914840"/>
          </a:xfrm>
          <a:prstGeom prst="rect">
            <a:avLst/>
          </a:prstGeom>
          <a:solidFill>
            <a:schemeClr val="bg1"/>
          </a:solidFill>
          <a:ln>
            <a:noFill/>
          </a:ln>
        </p:spPr>
        <p:style>
          <a:lnRef idx="0"/>
          <a:fillRef idx="0"/>
          <a:effectRef idx="0"/>
          <a:fontRef idx="minor"/>
        </p:style>
        <p:txBody>
          <a:bodyPr lIns="90000" rIns="90000" tIns="45000" bIns="45000">
            <a:spAutoFit/>
          </a:bodyPr>
          <a:p>
            <a:pPr algn="just">
              <a:lnSpc>
                <a:spcPct val="100000"/>
              </a:lnSpc>
            </a:pPr>
            <a:r>
              <a:rPr b="0" lang="en-US" sz="1200" spc="-1" strike="noStrike">
                <a:solidFill>
                  <a:srgbClr val="000000"/>
                </a:solidFill>
                <a:latin typeface="Aptos"/>
              </a:rPr>
              <a:t>The proportion of each base position in a file for which each of the four normal DNA bases has been called. </a:t>
            </a:r>
            <a:r>
              <a:rPr b="1" lang="en-US" sz="1200" spc="-1" strike="noStrike">
                <a:solidFill>
                  <a:srgbClr val="000000"/>
                </a:solidFill>
                <a:latin typeface="Aptos"/>
              </a:rPr>
              <a:t>In a random library </a:t>
            </a:r>
            <a:r>
              <a:rPr b="0" lang="en-US" sz="1200" spc="-1" strike="noStrike">
                <a:solidFill>
                  <a:srgbClr val="000000"/>
                </a:solidFill>
                <a:latin typeface="Aptos"/>
              </a:rPr>
              <a:t>you would expect that there would be little to no difference between the different bases (A-T and C-G) of a sequence run. </a:t>
            </a:r>
            <a:r>
              <a:rPr b="1" i="1" lang="en-US" sz="1200" spc="-1" strike="noStrike">
                <a:solidFill>
                  <a:srgbClr val="000000"/>
                </a:solidFill>
                <a:highlight>
                  <a:srgbClr val="ffff00"/>
                </a:highlight>
                <a:latin typeface="Aptos"/>
              </a:rPr>
              <a:t>IMPORTANT</a:t>
            </a:r>
            <a:r>
              <a:rPr b="0" i="1" lang="en-US" sz="1200" spc="-1" strike="noStrike">
                <a:solidFill>
                  <a:srgbClr val="000000"/>
                </a:solidFill>
                <a:highlight>
                  <a:srgbClr val="ffff00"/>
                </a:highlight>
                <a:latin typeface="Aptos"/>
              </a:rPr>
              <a:t>: Some types of library will always produce biased sequence composition, normally at the start of the read. Libraries produced by priming using random hexamers (including nearly all RNA-Seq libraries) inherits an intrinsic bias in the positions at which reads start. This is not a problem which can be fixed by processing, and it doesn't seem to adversely affect the ability to measure expression.</a:t>
            </a:r>
            <a:endParaRPr b="0" lang="es-ES" sz="1200" spc="-1" strike="noStrike">
              <a:latin typeface="Arial"/>
            </a:endParaRPr>
          </a:p>
        </p:txBody>
      </p:sp>
      <p:sp>
        <p:nvSpPr>
          <p:cNvPr id="522" name="CustomShape 4"/>
          <p:cNvSpPr/>
          <p:nvPr/>
        </p:nvSpPr>
        <p:spPr>
          <a:xfrm rot="16200000">
            <a:off x="-27360" y="2885040"/>
            <a:ext cx="1380960" cy="3034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400" spc="-1" strike="noStrike">
                <a:solidFill>
                  <a:srgbClr val="000000"/>
                </a:solidFill>
                <a:latin typeface="Aptos"/>
              </a:rPr>
              <a:t>%</a:t>
            </a:r>
            <a:endParaRPr b="0" lang="es-ES" sz="1400" spc="-1" strike="noStrike">
              <a:latin typeface="Arial"/>
            </a:endParaRPr>
          </a:p>
        </p:txBody>
      </p:sp>
      <p:sp>
        <p:nvSpPr>
          <p:cNvPr id="523" name="CustomShape 5"/>
          <p:cNvSpPr/>
          <p:nvPr/>
        </p:nvSpPr>
        <p:spPr>
          <a:xfrm>
            <a:off x="6286320" y="5030280"/>
            <a:ext cx="5505120" cy="136836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0" lang="en-US" sz="1400" spc="-1" strike="noStrike">
                <a:solidFill>
                  <a:srgbClr val="000000"/>
                </a:solidFill>
                <a:latin typeface="Aptos"/>
              </a:rPr>
              <a:t>The GC content across the whole length of each sequence in a file and compares it to a modelled normal distribution of GC content. In a </a:t>
            </a:r>
            <a:r>
              <a:rPr b="1" lang="en-US" sz="1400" spc="-1" strike="noStrike">
                <a:solidFill>
                  <a:srgbClr val="000000"/>
                </a:solidFill>
                <a:latin typeface="Aptos"/>
              </a:rPr>
              <a:t>normal random library, </a:t>
            </a:r>
            <a:r>
              <a:rPr b="0" lang="en-US" sz="1400" spc="-1" strike="noStrike">
                <a:solidFill>
                  <a:srgbClr val="000000"/>
                </a:solidFill>
                <a:latin typeface="Aptos"/>
              </a:rPr>
              <a:t>you would expect to see a roughly normal distribution of GC content where the central peak corresponds to the overall GC content of the underlying genome.</a:t>
            </a:r>
            <a:endParaRPr b="0" lang="es-ES" sz="1400" spc="-1" strike="noStrike">
              <a:latin typeface="Arial"/>
            </a:endParaRPr>
          </a:p>
        </p:txBody>
      </p:sp>
      <p:sp>
        <p:nvSpPr>
          <p:cNvPr id="524" name="CustomShape 6"/>
          <p:cNvSpPr/>
          <p:nvPr/>
        </p:nvSpPr>
        <p:spPr>
          <a:xfrm rot="16200000">
            <a:off x="5526360" y="2778840"/>
            <a:ext cx="2137320" cy="515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400" spc="-1" strike="noStrike">
                <a:solidFill>
                  <a:srgbClr val="000000"/>
                </a:solidFill>
                <a:latin typeface="Aptos"/>
              </a:rPr>
              <a:t>Number of sequences</a:t>
            </a:r>
            <a:endParaRPr b="0" lang="es-ES" sz="1400" spc="-1" strike="noStrike">
              <a:latin typeface="Arial"/>
            </a:endParaRPr>
          </a:p>
        </p:txBody>
      </p:sp>
      <p:pic>
        <p:nvPicPr>
          <p:cNvPr id="525" name="Gráfico 1" descr="Burbuja de chat con relleno sólido"/>
          <p:cNvPicPr/>
          <p:nvPr/>
        </p:nvPicPr>
        <p:blipFill>
          <a:blip r:embed="rId3"/>
          <a:stretch/>
        </p:blipFill>
        <p:spPr>
          <a:xfrm flipH="1">
            <a:off x="2686320" y="735840"/>
            <a:ext cx="375480" cy="375480"/>
          </a:xfrm>
          <a:prstGeom prst="rect">
            <a:avLst/>
          </a:prstGeom>
          <a:ln>
            <a:noFill/>
          </a:ln>
        </p:spPr>
      </p:pic>
      <p:pic>
        <p:nvPicPr>
          <p:cNvPr id="526" name="Gráfico 2" descr="Burbuja de chat con relleno sólido"/>
          <p:cNvPicPr/>
          <p:nvPr/>
        </p:nvPicPr>
        <p:blipFill>
          <a:blip r:embed="rId4"/>
          <a:stretch/>
        </p:blipFill>
        <p:spPr>
          <a:xfrm flipH="1">
            <a:off x="8426880" y="761400"/>
            <a:ext cx="375480" cy="375480"/>
          </a:xfrm>
          <a:prstGeom prst="rect">
            <a:avLst/>
          </a:prstGeom>
          <a:ln>
            <a:noFill/>
          </a:ln>
        </p:spPr>
      </p:pic>
      <p:sp>
        <p:nvSpPr>
          <p:cNvPr id="527" name="CustomShape 7"/>
          <p:cNvSpPr/>
          <p:nvPr/>
        </p:nvSpPr>
        <p:spPr>
          <a:xfrm>
            <a:off x="3798720" y="261720"/>
            <a:ext cx="459396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Quality Check (QC) with </a:t>
            </a:r>
            <a:r>
              <a:rPr b="1" lang="en-US" sz="2000" spc="-1" strike="noStrike">
                <a:solidFill>
                  <a:srgbClr val="000000"/>
                </a:solidFill>
                <a:latin typeface="Consolas"/>
              </a:rPr>
              <a:t>FastQC</a:t>
            </a:r>
            <a:r>
              <a:rPr b="1" lang="en-US" sz="2000" spc="-1" strike="noStrike">
                <a:solidFill>
                  <a:srgbClr val="000000"/>
                </a:solidFill>
                <a:latin typeface="Aptos"/>
              </a:rPr>
              <a:t> </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529" name="CustomShape 2"/>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pic>
        <p:nvPicPr>
          <p:cNvPr id="530" name="Imagen 2" descr=""/>
          <p:cNvPicPr/>
          <p:nvPr/>
        </p:nvPicPr>
        <p:blipFill>
          <a:blip r:embed="rId1"/>
          <a:stretch/>
        </p:blipFill>
        <p:spPr>
          <a:xfrm>
            <a:off x="193680" y="971640"/>
            <a:ext cx="5805000" cy="4375800"/>
          </a:xfrm>
          <a:prstGeom prst="rect">
            <a:avLst/>
          </a:prstGeom>
          <a:ln>
            <a:noFill/>
          </a:ln>
        </p:spPr>
      </p:pic>
      <p:pic>
        <p:nvPicPr>
          <p:cNvPr id="531" name="Imagen 4" descr=""/>
          <p:cNvPicPr/>
          <p:nvPr/>
        </p:nvPicPr>
        <p:blipFill>
          <a:blip r:embed="rId2"/>
          <a:stretch/>
        </p:blipFill>
        <p:spPr>
          <a:xfrm>
            <a:off x="6267240" y="970920"/>
            <a:ext cx="5813280" cy="4343760"/>
          </a:xfrm>
          <a:prstGeom prst="rect">
            <a:avLst/>
          </a:prstGeom>
          <a:ln>
            <a:noFill/>
          </a:ln>
        </p:spPr>
      </p:pic>
      <p:sp>
        <p:nvSpPr>
          <p:cNvPr id="532" name="CustomShape 3"/>
          <p:cNvSpPr/>
          <p:nvPr/>
        </p:nvSpPr>
        <p:spPr>
          <a:xfrm rot="16200000">
            <a:off x="5478840" y="2708280"/>
            <a:ext cx="2137320" cy="515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400" spc="-1" strike="noStrike">
                <a:solidFill>
                  <a:srgbClr val="000000"/>
                </a:solidFill>
                <a:latin typeface="Aptos"/>
              </a:rPr>
              <a:t>Number of sequences</a:t>
            </a:r>
            <a:endParaRPr b="0" lang="es-ES" sz="1400" spc="-1" strike="noStrike">
              <a:latin typeface="Arial"/>
            </a:endParaRPr>
          </a:p>
        </p:txBody>
      </p:sp>
      <p:sp>
        <p:nvSpPr>
          <p:cNvPr id="533" name="CustomShape 4"/>
          <p:cNvSpPr/>
          <p:nvPr/>
        </p:nvSpPr>
        <p:spPr>
          <a:xfrm rot="16200000">
            <a:off x="-194040" y="2990880"/>
            <a:ext cx="1380960" cy="3034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400" spc="-1" strike="noStrike">
                <a:solidFill>
                  <a:srgbClr val="000000"/>
                </a:solidFill>
                <a:latin typeface="Aptos"/>
              </a:rPr>
              <a:t>%</a:t>
            </a:r>
            <a:endParaRPr b="0" lang="es-ES" sz="1400" spc="-1" strike="noStrike">
              <a:latin typeface="Arial"/>
            </a:endParaRPr>
          </a:p>
        </p:txBody>
      </p:sp>
      <p:sp>
        <p:nvSpPr>
          <p:cNvPr id="534" name="CustomShape 5"/>
          <p:cNvSpPr/>
          <p:nvPr/>
        </p:nvSpPr>
        <p:spPr>
          <a:xfrm>
            <a:off x="193680" y="5525640"/>
            <a:ext cx="5805000" cy="51660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0" lang="en-US" sz="1400" spc="-1" strike="noStrike">
                <a:solidFill>
                  <a:srgbClr val="000000"/>
                </a:solidFill>
                <a:latin typeface="Arial"/>
              </a:rPr>
              <a:t>This module plots out the percentage of base calls at each position for which an N was called.</a:t>
            </a:r>
            <a:endParaRPr b="0" lang="es-ES" sz="1400" spc="-1" strike="noStrike">
              <a:latin typeface="Arial"/>
            </a:endParaRPr>
          </a:p>
        </p:txBody>
      </p:sp>
      <p:sp>
        <p:nvSpPr>
          <p:cNvPr id="535" name="CustomShape 6"/>
          <p:cNvSpPr/>
          <p:nvPr/>
        </p:nvSpPr>
        <p:spPr>
          <a:xfrm>
            <a:off x="6263280" y="5525640"/>
            <a:ext cx="5805000" cy="51660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0" lang="en-US" sz="1400" spc="-1" strike="noStrike">
                <a:solidFill>
                  <a:srgbClr val="000000"/>
                </a:solidFill>
                <a:latin typeface="Aptos"/>
              </a:rPr>
              <a:t>This module generates a graph showing the distribution of fragment sizes in the file which was analysed.</a:t>
            </a:r>
            <a:endParaRPr b="0" lang="es-ES" sz="1400" spc="-1" strike="noStrike">
              <a:latin typeface="Arial"/>
            </a:endParaRPr>
          </a:p>
        </p:txBody>
      </p:sp>
      <p:pic>
        <p:nvPicPr>
          <p:cNvPr id="536" name="Gráfico 1" descr="Burbuja de chat con relleno sólido"/>
          <p:cNvPicPr/>
          <p:nvPr/>
        </p:nvPicPr>
        <p:blipFill>
          <a:blip r:embed="rId3"/>
          <a:stretch/>
        </p:blipFill>
        <p:spPr>
          <a:xfrm flipH="1">
            <a:off x="1915560" y="916200"/>
            <a:ext cx="375480" cy="375480"/>
          </a:xfrm>
          <a:prstGeom prst="rect">
            <a:avLst/>
          </a:prstGeom>
          <a:ln>
            <a:noFill/>
          </a:ln>
        </p:spPr>
      </p:pic>
      <p:pic>
        <p:nvPicPr>
          <p:cNvPr id="537" name="Gráfico 3" descr="Burbuja de chat con relleno sólido"/>
          <p:cNvPicPr/>
          <p:nvPr/>
        </p:nvPicPr>
        <p:blipFill>
          <a:blip r:embed="rId4"/>
          <a:stretch/>
        </p:blipFill>
        <p:spPr>
          <a:xfrm flipH="1">
            <a:off x="8825400" y="916200"/>
            <a:ext cx="375480" cy="375480"/>
          </a:xfrm>
          <a:prstGeom prst="rect">
            <a:avLst/>
          </a:prstGeom>
          <a:ln>
            <a:noFill/>
          </a:ln>
        </p:spPr>
      </p:pic>
      <p:sp>
        <p:nvSpPr>
          <p:cNvPr id="538" name="CustomShape 7"/>
          <p:cNvSpPr/>
          <p:nvPr/>
        </p:nvSpPr>
        <p:spPr>
          <a:xfrm>
            <a:off x="3798720" y="261720"/>
            <a:ext cx="459396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Quality Check (QC) with </a:t>
            </a:r>
            <a:r>
              <a:rPr b="1" lang="en-US" sz="2000" spc="-1" strike="noStrike">
                <a:solidFill>
                  <a:srgbClr val="000000"/>
                </a:solidFill>
                <a:latin typeface="Consolas"/>
              </a:rPr>
              <a:t>FastQC</a:t>
            </a:r>
            <a:r>
              <a:rPr b="1" lang="en-US" sz="2000" spc="-1" strike="noStrike">
                <a:solidFill>
                  <a:srgbClr val="000000"/>
                </a:solidFill>
                <a:latin typeface="Aptos"/>
              </a:rPr>
              <a:t> </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540" name="CustomShape 2"/>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pic>
        <p:nvPicPr>
          <p:cNvPr id="541" name="Imagen 2" descr=""/>
          <p:cNvPicPr/>
          <p:nvPr/>
        </p:nvPicPr>
        <p:blipFill>
          <a:blip r:embed="rId1"/>
          <a:stretch/>
        </p:blipFill>
        <p:spPr>
          <a:xfrm>
            <a:off x="286200" y="775440"/>
            <a:ext cx="5948640" cy="4492800"/>
          </a:xfrm>
          <a:prstGeom prst="rect">
            <a:avLst/>
          </a:prstGeom>
          <a:ln>
            <a:noFill/>
          </a:ln>
        </p:spPr>
      </p:pic>
      <p:pic>
        <p:nvPicPr>
          <p:cNvPr id="542" name="Imagen 4" descr=""/>
          <p:cNvPicPr/>
          <p:nvPr/>
        </p:nvPicPr>
        <p:blipFill>
          <a:blip r:embed="rId2"/>
          <a:srcRect l="0" t="0" r="6142" b="0"/>
          <a:stretch/>
        </p:blipFill>
        <p:spPr>
          <a:xfrm>
            <a:off x="6506280" y="775440"/>
            <a:ext cx="5621760" cy="3866400"/>
          </a:xfrm>
          <a:prstGeom prst="rect">
            <a:avLst/>
          </a:prstGeom>
          <a:ln>
            <a:noFill/>
          </a:ln>
        </p:spPr>
      </p:pic>
      <p:sp>
        <p:nvSpPr>
          <p:cNvPr id="543" name="CustomShape 3"/>
          <p:cNvSpPr/>
          <p:nvPr/>
        </p:nvSpPr>
        <p:spPr>
          <a:xfrm>
            <a:off x="286200" y="5262840"/>
            <a:ext cx="6014520" cy="1549800"/>
          </a:xfrm>
          <a:prstGeom prst="rect">
            <a:avLst/>
          </a:prstGeom>
          <a:solidFill>
            <a:schemeClr val="bg1"/>
          </a:solidFill>
          <a:ln>
            <a:noFill/>
          </a:ln>
        </p:spPr>
        <p:style>
          <a:lnRef idx="0"/>
          <a:fillRef idx="0"/>
          <a:effectRef idx="0"/>
          <a:fontRef idx="minor"/>
        </p:style>
        <p:txBody>
          <a:bodyPr lIns="90000" rIns="90000" tIns="45000" bIns="45000">
            <a:spAutoFit/>
          </a:bodyPr>
          <a:p>
            <a:pPr algn="just">
              <a:lnSpc>
                <a:spcPct val="100000"/>
              </a:lnSpc>
            </a:pPr>
            <a:r>
              <a:rPr b="0" lang="en-US" sz="1200" spc="-1" strike="noStrike">
                <a:solidFill>
                  <a:srgbClr val="000000"/>
                </a:solidFill>
                <a:latin typeface="Aptos"/>
              </a:rPr>
              <a:t>This module counts the degree of duplication for every sequence in a library and creates a plot showing the relative number of sequences with different degrees of duplication. A high level of duplication is more likely to indicate some kind of enrichment bias. </a:t>
            </a:r>
            <a:r>
              <a:rPr b="1" lang="en-US" sz="1200" spc="-1" strike="noStrike">
                <a:solidFill>
                  <a:srgbClr val="000000"/>
                </a:solidFill>
                <a:highlight>
                  <a:srgbClr val="ffff00"/>
                </a:highlight>
                <a:latin typeface="Aptos"/>
              </a:rPr>
              <a:t>IMPORTANT</a:t>
            </a:r>
            <a:r>
              <a:rPr b="0" lang="en-US" sz="1200" spc="-1" strike="noStrike">
                <a:solidFill>
                  <a:srgbClr val="000000"/>
                </a:solidFill>
                <a:highlight>
                  <a:srgbClr val="ffff00"/>
                </a:highlight>
                <a:latin typeface="Aptos"/>
              </a:rPr>
              <a:t>: In RNA-Seq libraries, sequences from different transcripts will be present at wildly different levels in the starting population. In order to be able to observe lowly expressed transcripts it is therefore common to greatly over-sequence high expressed transcripts, and this will potentially create large set of duplicates.</a:t>
            </a:r>
            <a:endParaRPr b="0" lang="es-ES" sz="1200" spc="-1" strike="noStrike">
              <a:latin typeface="Arial"/>
            </a:endParaRPr>
          </a:p>
        </p:txBody>
      </p:sp>
      <p:sp>
        <p:nvSpPr>
          <p:cNvPr id="544" name="CustomShape 4"/>
          <p:cNvSpPr/>
          <p:nvPr/>
        </p:nvSpPr>
        <p:spPr>
          <a:xfrm rot="16200000">
            <a:off x="-228600" y="2765880"/>
            <a:ext cx="1680840" cy="515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400" spc="-1" strike="noStrike">
                <a:solidFill>
                  <a:srgbClr val="000000"/>
                </a:solidFill>
                <a:latin typeface="Aptos"/>
              </a:rPr>
              <a:t>% of sequences</a:t>
            </a:r>
            <a:endParaRPr b="0" lang="es-ES" sz="1400" spc="-1" strike="noStrike">
              <a:latin typeface="Arial"/>
            </a:endParaRPr>
          </a:p>
        </p:txBody>
      </p:sp>
      <p:sp>
        <p:nvSpPr>
          <p:cNvPr id="545" name="CustomShape 5"/>
          <p:cNvSpPr/>
          <p:nvPr/>
        </p:nvSpPr>
        <p:spPr>
          <a:xfrm>
            <a:off x="6500520" y="4700520"/>
            <a:ext cx="5621760" cy="1794600"/>
          </a:xfrm>
          <a:prstGeom prst="rect">
            <a:avLst/>
          </a:prstGeom>
          <a:solidFill>
            <a:schemeClr val="bg1"/>
          </a:solidFill>
          <a:ln>
            <a:noFill/>
          </a:ln>
        </p:spPr>
        <p:style>
          <a:lnRef idx="0"/>
          <a:fillRef idx="0"/>
          <a:effectRef idx="0"/>
          <a:fontRef idx="minor"/>
        </p:style>
        <p:txBody>
          <a:bodyPr lIns="90000" rIns="90000" tIns="45000" bIns="45000">
            <a:spAutoFit/>
          </a:bodyPr>
          <a:p>
            <a:pPr algn="just">
              <a:lnSpc>
                <a:spcPct val="100000"/>
              </a:lnSpc>
            </a:pPr>
            <a:r>
              <a:rPr b="0" lang="en-US" sz="1400" spc="-1" strike="noStrike">
                <a:solidFill>
                  <a:srgbClr val="000000"/>
                </a:solidFill>
                <a:latin typeface="Aptos"/>
              </a:rPr>
              <a:t>This module lists all of the sequence which make up more than 0.1% of the total. For each overrepresented sequence the program will look for matches in a database of common contaminants and will report the best hit it finds. This module will often be triggered when used to analyse small RNA libraries where sequences are not subjected to random fragmentation, and the same sequence may naturally be present in a significant proportion of the library.</a:t>
            </a:r>
            <a:endParaRPr b="0" lang="es-ES" sz="1400" spc="-1" strike="noStrike">
              <a:latin typeface="Arial"/>
            </a:endParaRPr>
          </a:p>
        </p:txBody>
      </p:sp>
      <p:pic>
        <p:nvPicPr>
          <p:cNvPr id="546" name="Gráfico 1" descr="Burbuja de chat con relleno sólido"/>
          <p:cNvPicPr/>
          <p:nvPr/>
        </p:nvPicPr>
        <p:blipFill>
          <a:blip r:embed="rId3"/>
          <a:stretch/>
        </p:blipFill>
        <p:spPr>
          <a:xfrm flipH="1">
            <a:off x="2883240" y="752400"/>
            <a:ext cx="375480" cy="375480"/>
          </a:xfrm>
          <a:prstGeom prst="rect">
            <a:avLst/>
          </a:prstGeom>
          <a:ln>
            <a:noFill/>
          </a:ln>
        </p:spPr>
      </p:pic>
      <p:pic>
        <p:nvPicPr>
          <p:cNvPr id="547" name="Gráfico 3" descr="Burbuja de chat con relleno sólido"/>
          <p:cNvPicPr/>
          <p:nvPr/>
        </p:nvPicPr>
        <p:blipFill>
          <a:blip r:embed="rId4"/>
          <a:stretch/>
        </p:blipFill>
        <p:spPr>
          <a:xfrm flipH="1">
            <a:off x="9129960" y="775440"/>
            <a:ext cx="375480" cy="375480"/>
          </a:xfrm>
          <a:prstGeom prst="rect">
            <a:avLst/>
          </a:prstGeom>
          <a:ln>
            <a:noFill/>
          </a:ln>
        </p:spPr>
      </p:pic>
      <p:sp>
        <p:nvSpPr>
          <p:cNvPr id="548" name="CustomShape 6"/>
          <p:cNvSpPr/>
          <p:nvPr/>
        </p:nvSpPr>
        <p:spPr>
          <a:xfrm>
            <a:off x="3798720" y="261720"/>
            <a:ext cx="459396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Quality Check (QC) with </a:t>
            </a:r>
            <a:r>
              <a:rPr b="1" lang="en-US" sz="2000" spc="-1" strike="noStrike">
                <a:solidFill>
                  <a:srgbClr val="000000"/>
                </a:solidFill>
                <a:latin typeface="Consolas"/>
              </a:rPr>
              <a:t>FastQC</a:t>
            </a:r>
            <a:r>
              <a:rPr b="1" lang="en-US" sz="2000" spc="-1" strike="noStrike">
                <a:solidFill>
                  <a:srgbClr val="000000"/>
                </a:solidFill>
                <a:latin typeface="Aptos"/>
              </a:rPr>
              <a:t> </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550" name="CustomShape 2"/>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pic>
        <p:nvPicPr>
          <p:cNvPr id="551" name="Imagen 2" descr=""/>
          <p:cNvPicPr/>
          <p:nvPr/>
        </p:nvPicPr>
        <p:blipFill>
          <a:blip r:embed="rId1"/>
          <a:stretch/>
        </p:blipFill>
        <p:spPr>
          <a:xfrm>
            <a:off x="2905920" y="769680"/>
            <a:ext cx="6372000" cy="4776840"/>
          </a:xfrm>
          <a:prstGeom prst="rect">
            <a:avLst/>
          </a:prstGeom>
          <a:ln>
            <a:noFill/>
          </a:ln>
        </p:spPr>
      </p:pic>
      <p:sp>
        <p:nvSpPr>
          <p:cNvPr id="552" name="CustomShape 3"/>
          <p:cNvSpPr/>
          <p:nvPr/>
        </p:nvSpPr>
        <p:spPr>
          <a:xfrm>
            <a:off x="2905920" y="5574600"/>
            <a:ext cx="6380280" cy="1155240"/>
          </a:xfrm>
          <a:prstGeom prst="rect">
            <a:avLst/>
          </a:prstGeom>
          <a:solidFill>
            <a:schemeClr val="bg1"/>
          </a:solidFill>
          <a:ln>
            <a:noFill/>
          </a:ln>
        </p:spPr>
        <p:style>
          <a:lnRef idx="0"/>
          <a:fillRef idx="0"/>
          <a:effectRef idx="0"/>
          <a:fontRef idx="minor"/>
        </p:style>
        <p:txBody>
          <a:bodyPr lIns="90000" rIns="90000" tIns="45000" bIns="45000">
            <a:spAutoFit/>
          </a:bodyPr>
          <a:p>
            <a:pPr algn="just">
              <a:lnSpc>
                <a:spcPct val="100000"/>
              </a:lnSpc>
            </a:pPr>
            <a:r>
              <a:rPr b="0" lang="en-US" sz="1400" spc="-1" strike="noStrike">
                <a:solidFill>
                  <a:srgbClr val="000000"/>
                </a:solidFill>
                <a:latin typeface="Aptos"/>
              </a:rPr>
              <a:t>It checks if your library contains a significant amount of adapters in order to be able to assess whether you need to adapter trim or not. The plot itself shows a cumulative percentage count of the proportion of your library which has seen each of the adapter sequences at each position</a:t>
            </a:r>
            <a:endParaRPr b="0" lang="es-ES" sz="1400" spc="-1" strike="noStrike">
              <a:latin typeface="Arial"/>
            </a:endParaRPr>
          </a:p>
        </p:txBody>
      </p:sp>
      <p:pic>
        <p:nvPicPr>
          <p:cNvPr id="553" name="Gráfico 1" descr="Burbuja de chat con relleno sólido"/>
          <p:cNvPicPr/>
          <p:nvPr/>
        </p:nvPicPr>
        <p:blipFill>
          <a:blip r:embed="rId2"/>
          <a:stretch/>
        </p:blipFill>
        <p:spPr>
          <a:xfrm flipH="1">
            <a:off x="4605120" y="767880"/>
            <a:ext cx="375480" cy="375480"/>
          </a:xfrm>
          <a:prstGeom prst="rect">
            <a:avLst/>
          </a:prstGeom>
          <a:ln>
            <a:noFill/>
          </a:ln>
        </p:spPr>
      </p:pic>
      <p:sp>
        <p:nvSpPr>
          <p:cNvPr id="554" name="CustomShape 4"/>
          <p:cNvSpPr/>
          <p:nvPr/>
        </p:nvSpPr>
        <p:spPr>
          <a:xfrm>
            <a:off x="3798720" y="261720"/>
            <a:ext cx="459396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Quality Check (QC) with </a:t>
            </a:r>
            <a:r>
              <a:rPr b="1" lang="en-US" sz="2000" spc="-1" strike="noStrike">
                <a:solidFill>
                  <a:srgbClr val="000000"/>
                </a:solidFill>
                <a:latin typeface="Consolas"/>
              </a:rPr>
              <a:t>FastQC</a:t>
            </a:r>
            <a:r>
              <a:rPr b="1" lang="en-US" sz="2000" spc="-1" strike="noStrike">
                <a:solidFill>
                  <a:srgbClr val="000000"/>
                </a:solidFill>
                <a:latin typeface="Aptos"/>
              </a:rPr>
              <a:t> </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5" name="CustomShape 1"/>
          <p:cNvSpPr/>
          <p:nvPr/>
        </p:nvSpPr>
        <p:spPr>
          <a:xfrm>
            <a:off x="4097160" y="311760"/>
            <a:ext cx="3997440" cy="3952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Filtering with </a:t>
            </a:r>
            <a:r>
              <a:rPr b="1" lang="en-US" sz="2000" spc="-1" strike="noStrike">
                <a:solidFill>
                  <a:srgbClr val="000000"/>
                </a:solidFill>
                <a:latin typeface="Consolas"/>
              </a:rPr>
              <a:t>Trimmomatic</a:t>
            </a:r>
            <a:endParaRPr b="0" lang="es-ES" sz="2000" spc="-1" strike="noStrike">
              <a:latin typeface="Arial"/>
            </a:endParaRPr>
          </a:p>
        </p:txBody>
      </p:sp>
      <p:sp>
        <p:nvSpPr>
          <p:cNvPr id="556" name="CustomShape 2"/>
          <p:cNvSpPr/>
          <p:nvPr/>
        </p:nvSpPr>
        <p:spPr>
          <a:xfrm>
            <a:off x="737640" y="1035000"/>
            <a:ext cx="10716120" cy="11869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Task 02: Filter the sequences of ABR3_W_03 sample. Select the most appropriate parameters based on the QC report to improve their quality.</a:t>
            </a:r>
            <a:endParaRPr b="0" lang="es-ES" sz="2400" spc="-1" strike="noStrike">
              <a:latin typeface="Arial"/>
            </a:endParaRPr>
          </a:p>
        </p:txBody>
      </p:sp>
      <p:sp>
        <p:nvSpPr>
          <p:cNvPr id="557" name="CustomShape 3"/>
          <p:cNvSpPr/>
          <p:nvPr/>
        </p:nvSpPr>
        <p:spPr>
          <a:xfrm>
            <a:off x="737640" y="1984680"/>
            <a:ext cx="10716120" cy="395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000" spc="-1" strike="noStrike">
                <a:solidFill>
                  <a:srgbClr val="000000"/>
                </a:solidFill>
                <a:latin typeface="Aptos"/>
              </a:rPr>
              <a:t>Software: </a:t>
            </a:r>
            <a:r>
              <a:rPr b="0" lang="en-US" sz="2000" spc="-1" strike="noStrike">
                <a:solidFill>
                  <a:srgbClr val="000000"/>
                </a:solidFill>
                <a:latin typeface="Aptos"/>
              </a:rPr>
              <a:t>Trimmomatic v.0.39</a:t>
            </a:r>
            <a:endParaRPr b="0" lang="es-ES" sz="2000" spc="-1" strike="noStrike">
              <a:latin typeface="Arial"/>
            </a:endParaRPr>
          </a:p>
        </p:txBody>
      </p:sp>
      <p:sp>
        <p:nvSpPr>
          <p:cNvPr id="558" name="CustomShape 4"/>
          <p:cNvSpPr/>
          <p:nvPr/>
        </p:nvSpPr>
        <p:spPr>
          <a:xfrm>
            <a:off x="737640" y="2463840"/>
            <a:ext cx="10716120" cy="19198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000" spc="-1" strike="noStrike">
                <a:solidFill>
                  <a:srgbClr val="000000"/>
                </a:solidFill>
                <a:latin typeface="Aptos"/>
              </a:rPr>
              <a:t>Command: </a:t>
            </a:r>
            <a:r>
              <a:rPr b="0" lang="en-US" sz="2000" spc="-1" strike="noStrike">
                <a:solidFill>
                  <a:srgbClr val="000000"/>
                </a:solidFill>
                <a:latin typeface="Consolas"/>
              </a:rPr>
              <a:t>java -jar </a:t>
            </a:r>
            <a:r>
              <a:rPr b="1" lang="en-US" sz="2000" spc="-1" strike="noStrike">
                <a:solidFill>
                  <a:srgbClr val="000000"/>
                </a:solidFill>
                <a:latin typeface="Consolas"/>
              </a:rPr>
              <a:t>trimmomatic-0.39.jar </a:t>
            </a:r>
            <a:r>
              <a:rPr b="0" lang="en-US" sz="2000" spc="-1" strike="noStrike">
                <a:solidFill>
                  <a:srgbClr val="000000"/>
                </a:solidFill>
                <a:latin typeface="Consolas"/>
              </a:rPr>
              <a:t>SE -threads 4 -phred33 \</a:t>
            </a:r>
            <a:endParaRPr b="0" lang="es-ES" sz="2000" spc="-1" strike="noStrike">
              <a:latin typeface="Arial"/>
            </a:endParaRPr>
          </a:p>
          <a:p>
            <a:pPr>
              <a:lnSpc>
                <a:spcPct val="100000"/>
              </a:lnSpc>
            </a:pPr>
            <a:r>
              <a:rPr b="0" lang="en-US" sz="2000" spc="-1" strike="noStrike">
                <a:solidFill>
                  <a:srgbClr val="000000"/>
                </a:solidFill>
                <a:latin typeface="Consolas"/>
              </a:rPr>
              <a:t>Input_file Output_file\</a:t>
            </a:r>
            <a:endParaRPr b="0" lang="es-ES" sz="2000" spc="-1" strike="noStrike">
              <a:latin typeface="Arial"/>
            </a:endParaRPr>
          </a:p>
          <a:p>
            <a:pPr>
              <a:lnSpc>
                <a:spcPct val="100000"/>
              </a:lnSpc>
            </a:pPr>
            <a:r>
              <a:rPr b="0" lang="en-US" sz="2000" spc="-1" strike="noStrike">
                <a:solidFill>
                  <a:srgbClr val="000000"/>
                </a:solidFill>
                <a:latin typeface="Consolas"/>
              </a:rPr>
              <a:t>ILLUMINACLIP:path/adapter_file:x:xx:xx \</a:t>
            </a:r>
            <a:endParaRPr b="0" lang="es-ES" sz="2000" spc="-1" strike="noStrike">
              <a:latin typeface="Arial"/>
            </a:endParaRPr>
          </a:p>
          <a:p>
            <a:pPr>
              <a:lnSpc>
                <a:spcPct val="100000"/>
              </a:lnSpc>
            </a:pPr>
            <a:r>
              <a:rPr b="0" lang="en-US" sz="2000" spc="-1" strike="noStrike">
                <a:solidFill>
                  <a:srgbClr val="000000"/>
                </a:solidFill>
                <a:latin typeface="Consolas"/>
              </a:rPr>
              <a:t>LEADING:xx TRAILING:xx \</a:t>
            </a:r>
            <a:endParaRPr b="0" lang="es-ES" sz="2000" spc="-1" strike="noStrike">
              <a:latin typeface="Arial"/>
            </a:endParaRPr>
          </a:p>
          <a:p>
            <a:pPr>
              <a:lnSpc>
                <a:spcPct val="100000"/>
              </a:lnSpc>
            </a:pPr>
            <a:r>
              <a:rPr b="0" lang="en-US" sz="2000" spc="-1" strike="noStrike">
                <a:solidFill>
                  <a:srgbClr val="000000"/>
                </a:solidFill>
                <a:latin typeface="Consolas"/>
              </a:rPr>
              <a:t>SLIDINGWINDOW:xx:xx \</a:t>
            </a:r>
            <a:endParaRPr b="0" lang="es-ES" sz="2000" spc="-1" strike="noStrike">
              <a:latin typeface="Arial"/>
            </a:endParaRPr>
          </a:p>
          <a:p>
            <a:pPr>
              <a:lnSpc>
                <a:spcPct val="100000"/>
              </a:lnSpc>
            </a:pPr>
            <a:r>
              <a:rPr b="0" lang="en-US" sz="2000" spc="-1" strike="noStrike">
                <a:solidFill>
                  <a:srgbClr val="000000"/>
                </a:solidFill>
                <a:latin typeface="Consolas"/>
              </a:rPr>
              <a:t>MINLEN:xx</a:t>
            </a:r>
            <a:endParaRPr b="0" lang="es-ES" sz="2000" spc="-1" strike="noStrike">
              <a:latin typeface="Arial"/>
            </a:endParaRPr>
          </a:p>
        </p:txBody>
      </p:sp>
      <p:sp>
        <p:nvSpPr>
          <p:cNvPr id="559" name="CustomShape 5"/>
          <p:cNvSpPr/>
          <p:nvPr/>
        </p:nvSpPr>
        <p:spPr>
          <a:xfrm>
            <a:off x="737640" y="4563360"/>
            <a:ext cx="10716120" cy="22849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Tips:</a:t>
            </a:r>
            <a:endParaRPr b="0" lang="es-ES" sz="2400" spc="-1" strike="noStrike">
              <a:latin typeface="Arial"/>
            </a:endParaRPr>
          </a:p>
          <a:p>
            <a:pPr lvl="2" marL="1257480" indent="-342720">
              <a:lnSpc>
                <a:spcPct val="100000"/>
              </a:lnSpc>
              <a:buClr>
                <a:srgbClr val="000000"/>
              </a:buClr>
              <a:buFont typeface="Wingdings" charset="2"/>
              <a:buChar char=""/>
            </a:pPr>
            <a:r>
              <a:rPr b="0" lang="en-US" sz="2000" spc="-1" strike="noStrike">
                <a:solidFill>
                  <a:srgbClr val="000000"/>
                </a:solidFill>
                <a:latin typeface="Aptos"/>
              </a:rPr>
              <a:t>Check that the paths of the software, input files, and output folder are correct.</a:t>
            </a:r>
            <a:endParaRPr b="0" lang="es-ES" sz="2000" spc="-1" strike="noStrike">
              <a:latin typeface="Arial"/>
            </a:endParaRPr>
          </a:p>
          <a:p>
            <a:pPr lvl="2" marL="1257480" indent="-342720">
              <a:lnSpc>
                <a:spcPct val="100000"/>
              </a:lnSpc>
              <a:buClr>
                <a:srgbClr val="000000"/>
              </a:buClr>
              <a:buFont typeface="Wingdings" charset="2"/>
              <a:buChar char=""/>
            </a:pPr>
            <a:r>
              <a:rPr b="0" i="1" lang="en-US" sz="2000" spc="-1" strike="noStrike">
                <a:solidFill>
                  <a:srgbClr val="000000"/>
                </a:solidFill>
                <a:latin typeface="Aptos"/>
              </a:rPr>
              <a:t>Phred+33 is listed as Illumina 1.9/Sanger (see QC report)</a:t>
            </a:r>
            <a:endParaRPr b="0" lang="es-ES" sz="2000" spc="-1" strike="noStrike">
              <a:latin typeface="Arial"/>
            </a:endParaRPr>
          </a:p>
          <a:p>
            <a:pPr lvl="2" marL="1257480" indent="-342720">
              <a:lnSpc>
                <a:spcPct val="100000"/>
              </a:lnSpc>
              <a:buClr>
                <a:srgbClr val="000000"/>
              </a:buClr>
              <a:buFont typeface="Wingdings" charset="2"/>
              <a:buChar char=""/>
            </a:pPr>
            <a:r>
              <a:rPr b="0" i="1" lang="en-US" sz="2000" spc="-1" strike="noStrike">
                <a:solidFill>
                  <a:srgbClr val="000000"/>
                </a:solidFill>
                <a:latin typeface="Aptos"/>
              </a:rPr>
              <a:t>Adapter file TruSeq3-SE.fa for Illumina HiSeq2500</a:t>
            </a:r>
            <a:endParaRPr b="0" lang="es-ES" sz="2000" spc="-1" strike="noStrike">
              <a:latin typeface="Arial"/>
            </a:endParaRPr>
          </a:p>
          <a:p>
            <a:pPr lvl="2" marL="1257480" indent="-342720">
              <a:lnSpc>
                <a:spcPct val="100000"/>
              </a:lnSpc>
              <a:buClr>
                <a:srgbClr val="000000"/>
              </a:buClr>
              <a:buFont typeface="Wingdings" charset="2"/>
              <a:buChar char=""/>
            </a:pPr>
            <a:r>
              <a:rPr b="0" lang="en-US" sz="2000" spc="-1" strike="noStrike">
                <a:solidFill>
                  <a:srgbClr val="000000"/>
                </a:solidFill>
                <a:latin typeface="Aptos"/>
              </a:rPr>
              <a:t>Check Trimmomatic website: </a:t>
            </a:r>
            <a:r>
              <a:rPr b="0" lang="en-US" sz="2000" spc="-1" strike="noStrike" u="sng">
                <a:solidFill>
                  <a:srgbClr val="467886"/>
                </a:solidFill>
                <a:uFillTx/>
                <a:latin typeface="Aptos"/>
                <a:hlinkClick r:id="rId1"/>
              </a:rPr>
              <a:t>http://www.usadellab.org/cms/?page=trimmomatic</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561" name="CustomShape 2"/>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sp>
        <p:nvSpPr>
          <p:cNvPr id="562" name="CustomShape 3"/>
          <p:cNvSpPr/>
          <p:nvPr/>
        </p:nvSpPr>
        <p:spPr>
          <a:xfrm>
            <a:off x="993960" y="1139400"/>
            <a:ext cx="10203840" cy="557604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50000"/>
              </a:lnSpc>
            </a:pPr>
            <a:r>
              <a:rPr b="0" lang="en-US" sz="2000" spc="-1" strike="noStrike">
                <a:solidFill>
                  <a:srgbClr val="000000"/>
                </a:solidFill>
                <a:latin typeface="Consolas"/>
              </a:rPr>
              <a:t>java -jar trimmomatic-0.39.jar \</a:t>
            </a:r>
            <a:endParaRPr b="0" lang="es-ES" sz="2000" spc="-1" strike="noStrike">
              <a:latin typeface="Arial"/>
            </a:endParaRPr>
          </a:p>
          <a:p>
            <a:pPr>
              <a:lnSpc>
                <a:spcPct val="150000"/>
              </a:lnSpc>
            </a:pPr>
            <a:r>
              <a:rPr b="0" lang="en-US" sz="2000" spc="-1" strike="noStrike">
                <a:solidFill>
                  <a:srgbClr val="000000"/>
                </a:solidFill>
                <a:latin typeface="Consolas"/>
              </a:rPr>
              <a:t>SE \</a:t>
            </a:r>
            <a:endParaRPr b="0" lang="es-ES" sz="2000" spc="-1" strike="noStrike">
              <a:latin typeface="Arial"/>
            </a:endParaRPr>
          </a:p>
          <a:p>
            <a:pPr>
              <a:lnSpc>
                <a:spcPct val="150000"/>
              </a:lnSpc>
            </a:pPr>
            <a:r>
              <a:rPr b="0" lang="en-US" sz="2000" spc="-1" strike="noStrike">
                <a:solidFill>
                  <a:srgbClr val="000000"/>
                </a:solidFill>
                <a:latin typeface="Consolas"/>
              </a:rPr>
              <a:t>-threads 4 \</a:t>
            </a:r>
            <a:endParaRPr b="0" lang="es-ES" sz="2000" spc="-1" strike="noStrike">
              <a:latin typeface="Arial"/>
            </a:endParaRPr>
          </a:p>
          <a:p>
            <a:pPr>
              <a:lnSpc>
                <a:spcPct val="150000"/>
              </a:lnSpc>
            </a:pPr>
            <a:r>
              <a:rPr b="0" lang="en-US" sz="2000" spc="-1" strike="noStrike">
                <a:solidFill>
                  <a:srgbClr val="000000"/>
                </a:solidFill>
                <a:latin typeface="Consolas"/>
              </a:rPr>
              <a:t>-phred33 \</a:t>
            </a:r>
            <a:endParaRPr b="0" lang="es-ES" sz="2000" spc="-1" strike="noStrike">
              <a:latin typeface="Arial"/>
            </a:endParaRPr>
          </a:p>
          <a:p>
            <a:pPr>
              <a:lnSpc>
                <a:spcPct val="150000"/>
              </a:lnSpc>
            </a:pPr>
            <a:r>
              <a:rPr b="0" lang="en-US" sz="2000" spc="-1" strike="noStrike">
                <a:solidFill>
                  <a:srgbClr val="000000"/>
                </a:solidFill>
                <a:latin typeface="Consolas"/>
              </a:rPr>
              <a:t>01_RNAseq_raw/ABR3_W_03.fastq.gz \</a:t>
            </a:r>
            <a:endParaRPr b="0" lang="es-ES" sz="2000" spc="-1" strike="noStrike">
              <a:latin typeface="Arial"/>
            </a:endParaRPr>
          </a:p>
          <a:p>
            <a:pPr>
              <a:lnSpc>
                <a:spcPct val="150000"/>
              </a:lnSpc>
            </a:pPr>
            <a:r>
              <a:rPr b="0" lang="en-US" sz="2000" spc="-1" strike="noStrike">
                <a:solidFill>
                  <a:srgbClr val="000000"/>
                </a:solidFill>
                <a:latin typeface="Consolas"/>
              </a:rPr>
              <a:t>02_RNAseq_filtered/ABR3_W_03_trimmed.fastq.gz \</a:t>
            </a:r>
            <a:endParaRPr b="0" lang="es-ES" sz="2000" spc="-1" strike="noStrike">
              <a:latin typeface="Arial"/>
            </a:endParaRPr>
          </a:p>
          <a:p>
            <a:pPr>
              <a:lnSpc>
                <a:spcPct val="150000"/>
              </a:lnSpc>
            </a:pPr>
            <a:r>
              <a:rPr b="0" lang="en-US" sz="2000" spc="-1" strike="noStrike">
                <a:solidFill>
                  <a:srgbClr val="000000"/>
                </a:solidFill>
                <a:latin typeface="Consolas"/>
              </a:rPr>
              <a:t>ILLUMINACLIP:software/Trimmomatic-0.39/adapters/TruSeq3-SE.fa:2:30:10 \</a:t>
            </a:r>
            <a:endParaRPr b="0" lang="es-ES" sz="2000" spc="-1" strike="noStrike">
              <a:latin typeface="Arial"/>
            </a:endParaRPr>
          </a:p>
          <a:p>
            <a:pPr>
              <a:lnSpc>
                <a:spcPct val="150000"/>
              </a:lnSpc>
            </a:pPr>
            <a:r>
              <a:rPr b="0" lang="en-US" sz="2000" spc="-1" strike="noStrike">
                <a:solidFill>
                  <a:srgbClr val="000000"/>
                </a:solidFill>
                <a:latin typeface="Consolas"/>
              </a:rPr>
              <a:t>LEADING:3 \</a:t>
            </a:r>
            <a:endParaRPr b="0" lang="es-ES" sz="2000" spc="-1" strike="noStrike">
              <a:latin typeface="Arial"/>
            </a:endParaRPr>
          </a:p>
          <a:p>
            <a:pPr>
              <a:lnSpc>
                <a:spcPct val="150000"/>
              </a:lnSpc>
            </a:pPr>
            <a:r>
              <a:rPr b="0" lang="en-US" sz="2000" spc="-1" strike="noStrike">
                <a:solidFill>
                  <a:srgbClr val="000000"/>
                </a:solidFill>
                <a:latin typeface="Consolas"/>
              </a:rPr>
              <a:t>TRAILING:3 \</a:t>
            </a:r>
            <a:endParaRPr b="0" lang="es-ES" sz="2000" spc="-1" strike="noStrike">
              <a:latin typeface="Arial"/>
            </a:endParaRPr>
          </a:p>
          <a:p>
            <a:pPr>
              <a:lnSpc>
                <a:spcPct val="150000"/>
              </a:lnSpc>
            </a:pPr>
            <a:r>
              <a:rPr b="0" lang="en-US" sz="2000" spc="-1" strike="noStrike">
                <a:solidFill>
                  <a:srgbClr val="000000"/>
                </a:solidFill>
                <a:latin typeface="Consolas"/>
              </a:rPr>
              <a:t>SLIDINGWINDOW:4:15 \</a:t>
            </a:r>
            <a:endParaRPr b="0" lang="es-ES" sz="2000" spc="-1" strike="noStrike">
              <a:latin typeface="Arial"/>
            </a:endParaRPr>
          </a:p>
          <a:p>
            <a:pPr>
              <a:lnSpc>
                <a:spcPct val="150000"/>
              </a:lnSpc>
            </a:pPr>
            <a:r>
              <a:rPr b="0" lang="en-US" sz="2000" spc="-1" strike="noStrike">
                <a:solidFill>
                  <a:srgbClr val="000000"/>
                </a:solidFill>
                <a:latin typeface="Consolas"/>
              </a:rPr>
              <a:t>MINLEN:36</a:t>
            </a:r>
            <a:endParaRPr b="0" lang="es-ES" sz="2000" spc="-1" strike="noStrike">
              <a:latin typeface="Arial"/>
            </a:endParaRPr>
          </a:p>
        </p:txBody>
      </p:sp>
      <p:sp>
        <p:nvSpPr>
          <p:cNvPr id="563" name="CustomShape 4"/>
          <p:cNvSpPr/>
          <p:nvPr/>
        </p:nvSpPr>
        <p:spPr>
          <a:xfrm>
            <a:off x="4097160" y="311760"/>
            <a:ext cx="3997440" cy="3952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Filtering with </a:t>
            </a:r>
            <a:r>
              <a:rPr b="1" lang="en-US" sz="2000" spc="-1" strike="noStrike">
                <a:solidFill>
                  <a:srgbClr val="000000"/>
                </a:solidFill>
                <a:latin typeface="Consolas"/>
              </a:rPr>
              <a:t>Trimmomatic</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4" name="CustomShape 1"/>
          <p:cNvSpPr/>
          <p:nvPr/>
        </p:nvSpPr>
        <p:spPr>
          <a:xfrm>
            <a:off x="4828320" y="332280"/>
            <a:ext cx="2535480" cy="100440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Quality Check (QC) after filtering step</a:t>
            </a:r>
            <a:endParaRPr b="0" lang="es-ES" sz="2000" spc="-1" strike="noStrike">
              <a:latin typeface="Arial"/>
            </a:endParaRPr>
          </a:p>
        </p:txBody>
      </p:sp>
      <p:sp>
        <p:nvSpPr>
          <p:cNvPr id="565" name="CustomShape 2"/>
          <p:cNvSpPr/>
          <p:nvPr/>
        </p:nvSpPr>
        <p:spPr>
          <a:xfrm>
            <a:off x="484920" y="1464840"/>
            <a:ext cx="10716120" cy="11869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Task 03: Generate a new QC report of the filtered sequences and compare the reports before and after filtering. What parameters have changed? </a:t>
            </a:r>
            <a:endParaRPr b="0" lang="es-ES" sz="2400" spc="-1" strike="noStrike">
              <a:latin typeface="Arial"/>
            </a:endParaRPr>
          </a:p>
        </p:txBody>
      </p:sp>
      <p:sp>
        <p:nvSpPr>
          <p:cNvPr id="566" name="CustomShape 3"/>
          <p:cNvSpPr/>
          <p:nvPr/>
        </p:nvSpPr>
        <p:spPr>
          <a:xfrm>
            <a:off x="484920" y="2762640"/>
            <a:ext cx="10716120" cy="4561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Software: </a:t>
            </a:r>
            <a:r>
              <a:rPr b="0" lang="en-US" sz="2400" spc="-1" strike="noStrike">
                <a:solidFill>
                  <a:srgbClr val="000000"/>
                </a:solidFill>
                <a:latin typeface="Aptos"/>
              </a:rPr>
              <a:t>FastQC v.0.12.1</a:t>
            </a:r>
            <a:endParaRPr b="0" lang="es-ES" sz="24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568" name="CustomShape 2"/>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sp>
        <p:nvSpPr>
          <p:cNvPr id="569" name="CustomShape 3"/>
          <p:cNvSpPr/>
          <p:nvPr/>
        </p:nvSpPr>
        <p:spPr>
          <a:xfrm>
            <a:off x="2674080" y="266760"/>
            <a:ext cx="684396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Comparing QC reports before and after filtering step</a:t>
            </a:r>
            <a:endParaRPr b="0" lang="es-ES" sz="2000" spc="-1" strike="noStrike">
              <a:latin typeface="Arial"/>
            </a:endParaRPr>
          </a:p>
        </p:txBody>
      </p:sp>
      <p:pic>
        <p:nvPicPr>
          <p:cNvPr id="570" name="Imagen 3" descr=""/>
          <p:cNvPicPr/>
          <p:nvPr/>
        </p:nvPicPr>
        <p:blipFill>
          <a:blip r:embed="rId1"/>
          <a:stretch/>
        </p:blipFill>
        <p:spPr>
          <a:xfrm>
            <a:off x="275760" y="2446920"/>
            <a:ext cx="5667840" cy="3514680"/>
          </a:xfrm>
          <a:prstGeom prst="rect">
            <a:avLst/>
          </a:prstGeom>
          <a:ln>
            <a:noFill/>
          </a:ln>
        </p:spPr>
      </p:pic>
      <p:pic>
        <p:nvPicPr>
          <p:cNvPr id="571" name="Imagen 5" descr=""/>
          <p:cNvPicPr/>
          <p:nvPr/>
        </p:nvPicPr>
        <p:blipFill>
          <a:blip r:embed="rId2"/>
          <a:stretch/>
        </p:blipFill>
        <p:spPr>
          <a:xfrm>
            <a:off x="6095880" y="2446920"/>
            <a:ext cx="5934600" cy="3524400"/>
          </a:xfrm>
          <a:prstGeom prst="rect">
            <a:avLst/>
          </a:prstGeom>
          <a:ln>
            <a:noFill/>
          </a:ln>
        </p:spPr>
      </p:pic>
      <p:sp>
        <p:nvSpPr>
          <p:cNvPr id="572" name="CustomShape 4"/>
          <p:cNvSpPr/>
          <p:nvPr/>
        </p:nvSpPr>
        <p:spPr>
          <a:xfrm>
            <a:off x="695160" y="1185120"/>
            <a:ext cx="10801080" cy="63828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Consolas"/>
              </a:rPr>
              <a:t>fastqc 02_RNAseq_filtered/ABR3_W_03_trimmed.fastq.gz  -o 02_RNAseq_filtered/reports/</a:t>
            </a:r>
            <a:endParaRPr b="0" lang="es-ES" sz="1800" spc="-1" strike="noStrike">
              <a:latin typeface="Arial"/>
            </a:endParaRPr>
          </a:p>
        </p:txBody>
      </p:sp>
      <p:sp>
        <p:nvSpPr>
          <p:cNvPr id="573" name="CustomShape 5"/>
          <p:cNvSpPr/>
          <p:nvPr/>
        </p:nvSpPr>
        <p:spPr>
          <a:xfrm>
            <a:off x="603000" y="2077560"/>
            <a:ext cx="112284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i="1" lang="en-US" sz="1800" spc="-1" strike="noStrike">
                <a:solidFill>
                  <a:srgbClr val="000000"/>
                </a:solidFill>
                <a:latin typeface="Aptos"/>
              </a:rPr>
              <a:t>Before …</a:t>
            </a:r>
            <a:endParaRPr b="0" lang="es-ES" sz="1800" spc="-1" strike="noStrike">
              <a:latin typeface="Arial"/>
            </a:endParaRPr>
          </a:p>
        </p:txBody>
      </p:sp>
      <p:sp>
        <p:nvSpPr>
          <p:cNvPr id="574" name="CustomShape 6"/>
          <p:cNvSpPr/>
          <p:nvPr/>
        </p:nvSpPr>
        <p:spPr>
          <a:xfrm>
            <a:off x="6530400" y="2082240"/>
            <a:ext cx="112284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i="1" lang="en-US" sz="1800" spc="-1" strike="noStrike">
                <a:solidFill>
                  <a:srgbClr val="000000"/>
                </a:solidFill>
                <a:latin typeface="Aptos"/>
              </a:rPr>
              <a:t>After …</a:t>
            </a:r>
            <a:endParaRPr b="0" lang="es-ES" sz="1800" spc="-1" strike="noStrike">
              <a:latin typeface="Arial"/>
            </a:endParaRPr>
          </a:p>
        </p:txBody>
      </p:sp>
      <p:sp>
        <p:nvSpPr>
          <p:cNvPr id="575" name="CustomShape 7"/>
          <p:cNvSpPr/>
          <p:nvPr/>
        </p:nvSpPr>
        <p:spPr>
          <a:xfrm>
            <a:off x="868680" y="4317480"/>
            <a:ext cx="11161800" cy="6354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p:style>
      </p:sp>
      <p:sp>
        <p:nvSpPr>
          <p:cNvPr id="576" name="CustomShape 8"/>
          <p:cNvSpPr/>
          <p:nvPr/>
        </p:nvSpPr>
        <p:spPr>
          <a:xfrm>
            <a:off x="868680" y="5280840"/>
            <a:ext cx="11161800" cy="28476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7"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578" name="CustomShape 2"/>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sp>
        <p:nvSpPr>
          <p:cNvPr id="579" name="CustomShape 3"/>
          <p:cNvSpPr/>
          <p:nvPr/>
        </p:nvSpPr>
        <p:spPr>
          <a:xfrm>
            <a:off x="2674080" y="266760"/>
            <a:ext cx="684396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Comparing QC reports before and after filtering step</a:t>
            </a:r>
            <a:endParaRPr b="0" lang="es-ES" sz="2000" spc="-1" strike="noStrike">
              <a:latin typeface="Arial"/>
            </a:endParaRPr>
          </a:p>
        </p:txBody>
      </p:sp>
      <p:pic>
        <p:nvPicPr>
          <p:cNvPr id="580" name="Imagen 5" descr=""/>
          <p:cNvPicPr/>
          <p:nvPr/>
        </p:nvPicPr>
        <p:blipFill>
          <a:blip r:embed="rId1"/>
          <a:stretch/>
        </p:blipFill>
        <p:spPr>
          <a:xfrm>
            <a:off x="190440" y="1317960"/>
            <a:ext cx="5775480" cy="4608720"/>
          </a:xfrm>
          <a:prstGeom prst="rect">
            <a:avLst/>
          </a:prstGeom>
          <a:ln>
            <a:noFill/>
          </a:ln>
        </p:spPr>
      </p:pic>
      <p:pic>
        <p:nvPicPr>
          <p:cNvPr id="581" name="Imagen 7" descr=""/>
          <p:cNvPicPr/>
          <p:nvPr/>
        </p:nvPicPr>
        <p:blipFill>
          <a:blip r:embed="rId2"/>
          <a:stretch/>
        </p:blipFill>
        <p:spPr>
          <a:xfrm>
            <a:off x="6213240" y="1317960"/>
            <a:ext cx="5762520" cy="4608720"/>
          </a:xfrm>
          <a:prstGeom prst="rect">
            <a:avLst/>
          </a:prstGeom>
          <a:ln>
            <a:noFill/>
          </a:ln>
        </p:spPr>
      </p:pic>
      <p:sp>
        <p:nvSpPr>
          <p:cNvPr id="582" name="CustomShape 4"/>
          <p:cNvSpPr/>
          <p:nvPr/>
        </p:nvSpPr>
        <p:spPr>
          <a:xfrm>
            <a:off x="206640" y="928080"/>
            <a:ext cx="112284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i="1" lang="en-US" sz="1800" spc="-1" strike="noStrike">
                <a:solidFill>
                  <a:srgbClr val="000000"/>
                </a:solidFill>
                <a:latin typeface="Aptos"/>
              </a:rPr>
              <a:t>Before …</a:t>
            </a:r>
            <a:endParaRPr b="0" lang="es-ES" sz="1800" spc="-1" strike="noStrike">
              <a:latin typeface="Arial"/>
            </a:endParaRPr>
          </a:p>
        </p:txBody>
      </p:sp>
      <p:sp>
        <p:nvSpPr>
          <p:cNvPr id="583" name="CustomShape 5"/>
          <p:cNvSpPr/>
          <p:nvPr/>
        </p:nvSpPr>
        <p:spPr>
          <a:xfrm>
            <a:off x="6134040" y="932760"/>
            <a:ext cx="112284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i="1" lang="en-US" sz="1800" spc="-1" strike="noStrike">
                <a:solidFill>
                  <a:srgbClr val="000000"/>
                </a:solidFill>
                <a:latin typeface="Aptos"/>
              </a:rPr>
              <a:t>After …</a:t>
            </a:r>
            <a:endParaRPr b="0" lang="es-ES" sz="1800" spc="-1" strike="noStrike">
              <a:latin typeface="Arial"/>
            </a:endParaRPr>
          </a:p>
        </p:txBody>
      </p:sp>
      <p:sp>
        <p:nvSpPr>
          <p:cNvPr id="584" name="CustomShape 6"/>
          <p:cNvSpPr/>
          <p:nvPr/>
        </p:nvSpPr>
        <p:spPr>
          <a:xfrm>
            <a:off x="3962520" y="2354760"/>
            <a:ext cx="2003400" cy="3996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p:style>
      </p:sp>
      <p:sp>
        <p:nvSpPr>
          <p:cNvPr id="585" name="CustomShape 7"/>
          <p:cNvSpPr/>
          <p:nvPr/>
        </p:nvSpPr>
        <p:spPr>
          <a:xfrm>
            <a:off x="9913320" y="2354760"/>
            <a:ext cx="2003400" cy="3996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p:style>
      </p:sp>
      <p:sp>
        <p:nvSpPr>
          <p:cNvPr id="586" name="CustomShape 8"/>
          <p:cNvSpPr/>
          <p:nvPr/>
        </p:nvSpPr>
        <p:spPr>
          <a:xfrm>
            <a:off x="4632840" y="4219920"/>
            <a:ext cx="1325160" cy="3996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p:style>
      </p:sp>
      <p:sp>
        <p:nvSpPr>
          <p:cNvPr id="587" name="CustomShape 9"/>
          <p:cNvSpPr/>
          <p:nvPr/>
        </p:nvSpPr>
        <p:spPr>
          <a:xfrm>
            <a:off x="10599120" y="4194720"/>
            <a:ext cx="1325160" cy="3996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CustomShape 1"/>
          <p:cNvSpPr/>
          <p:nvPr/>
        </p:nvSpPr>
        <p:spPr>
          <a:xfrm>
            <a:off x="4578120" y="472320"/>
            <a:ext cx="3035520" cy="6994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Mapping with </a:t>
            </a:r>
            <a:r>
              <a:rPr b="1" lang="en-US" sz="2000" spc="-1" strike="noStrike">
                <a:solidFill>
                  <a:srgbClr val="000000"/>
                </a:solidFill>
                <a:latin typeface="Consolas"/>
              </a:rPr>
              <a:t>kallisto</a:t>
            </a:r>
            <a:endParaRPr b="0" lang="es-ES" sz="2000" spc="-1" strike="noStrike">
              <a:latin typeface="Arial"/>
            </a:endParaRPr>
          </a:p>
        </p:txBody>
      </p:sp>
      <p:sp>
        <p:nvSpPr>
          <p:cNvPr id="589" name="CustomShape 2"/>
          <p:cNvSpPr/>
          <p:nvPr/>
        </p:nvSpPr>
        <p:spPr>
          <a:xfrm>
            <a:off x="484920" y="1177560"/>
            <a:ext cx="11295360" cy="13093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000" spc="-1" strike="noStrike">
                <a:solidFill>
                  <a:srgbClr val="000000"/>
                </a:solidFill>
                <a:latin typeface="Aptos"/>
              </a:rPr>
              <a:t>Task 04: Perform pseudo-alignments of the reads from sample ABR3_W_03 against the reference transcriptome (</a:t>
            </a:r>
            <a:r>
              <a:rPr b="1" lang="en-US" sz="2000" spc="-1" strike="noStrike">
                <a:solidFill>
                  <a:srgbClr val="000000"/>
                </a:solidFill>
                <a:latin typeface="Consolas"/>
              </a:rPr>
              <a:t>Bdistachyon_314_v3.1.transcript.TagSeq500b.fa.gz</a:t>
            </a:r>
            <a:r>
              <a:rPr b="1" lang="en-US" sz="2000" spc="-1" strike="noStrike">
                <a:solidFill>
                  <a:srgbClr val="000000"/>
                </a:solidFill>
                <a:latin typeface="Aptos"/>
              </a:rPr>
              <a:t>) and indicate the expression of the Bradi3g51200 gene in est_counts and TPM.</a:t>
            </a:r>
            <a:endParaRPr b="0" lang="es-ES" sz="2000" spc="-1" strike="noStrike">
              <a:latin typeface="Arial"/>
            </a:endParaRPr>
          </a:p>
        </p:txBody>
      </p:sp>
      <p:sp>
        <p:nvSpPr>
          <p:cNvPr id="590" name="CustomShape 3"/>
          <p:cNvSpPr/>
          <p:nvPr/>
        </p:nvSpPr>
        <p:spPr>
          <a:xfrm>
            <a:off x="484920" y="2315160"/>
            <a:ext cx="10716120" cy="395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000" spc="-1" strike="noStrike">
                <a:solidFill>
                  <a:srgbClr val="000000"/>
                </a:solidFill>
                <a:latin typeface="Aptos"/>
              </a:rPr>
              <a:t>Software: </a:t>
            </a:r>
            <a:r>
              <a:rPr b="0" lang="en-US" sz="2000" spc="-1" strike="noStrike">
                <a:solidFill>
                  <a:srgbClr val="000000"/>
                </a:solidFill>
                <a:latin typeface="Aptos"/>
              </a:rPr>
              <a:t>kallisto  0.48</a:t>
            </a:r>
            <a:endParaRPr b="0" lang="es-ES" sz="2000" spc="-1" strike="noStrike">
              <a:latin typeface="Arial"/>
            </a:endParaRPr>
          </a:p>
        </p:txBody>
      </p:sp>
      <p:sp>
        <p:nvSpPr>
          <p:cNvPr id="591" name="CustomShape 4"/>
          <p:cNvSpPr/>
          <p:nvPr/>
        </p:nvSpPr>
        <p:spPr>
          <a:xfrm>
            <a:off x="484920" y="2837160"/>
            <a:ext cx="11295360" cy="380916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nSpc>
                <a:spcPct val="100000"/>
              </a:lnSpc>
              <a:spcAft>
                <a:spcPts val="601"/>
              </a:spcAft>
            </a:pPr>
            <a:r>
              <a:rPr b="1" lang="en-US" sz="1800" spc="-1" strike="noStrike" u="sng">
                <a:solidFill>
                  <a:srgbClr val="000000"/>
                </a:solidFill>
                <a:uFillTx/>
                <a:latin typeface="Consolas"/>
              </a:rPr>
              <a:t># Index reference</a:t>
            </a:r>
            <a:endParaRPr b="0" lang="es-ES" sz="1800" spc="-1" strike="noStrike">
              <a:latin typeface="Arial"/>
            </a:endParaRPr>
          </a:p>
          <a:p>
            <a:pPr>
              <a:lnSpc>
                <a:spcPct val="100000"/>
              </a:lnSpc>
            </a:pPr>
            <a:r>
              <a:rPr b="1" lang="en-US" sz="1800" spc="-1" strike="noStrike">
                <a:solidFill>
                  <a:srgbClr val="000000"/>
                </a:solidFill>
                <a:latin typeface="Consolas"/>
              </a:rPr>
              <a:t>kallisto index</a:t>
            </a:r>
            <a:r>
              <a:rPr b="0" lang="en-US" sz="1800" spc="-1" strike="noStrike">
                <a:solidFill>
                  <a:srgbClr val="000000"/>
                </a:solidFill>
                <a:latin typeface="Consolas"/>
              </a:rPr>
              <a:t> </a:t>
            </a:r>
            <a:r>
              <a:rPr b="1" lang="en-US" sz="1800" spc="-1" strike="noStrike">
                <a:solidFill>
                  <a:srgbClr val="000000"/>
                </a:solidFill>
                <a:latin typeface="Consolas"/>
              </a:rPr>
              <a:t>\</a:t>
            </a:r>
            <a:endParaRPr b="0" lang="es-ES" sz="1800" spc="-1" strike="noStrike">
              <a:latin typeface="Arial"/>
            </a:endParaRPr>
          </a:p>
          <a:p>
            <a:pPr>
              <a:lnSpc>
                <a:spcPct val="100000"/>
              </a:lnSpc>
            </a:pPr>
            <a:r>
              <a:rPr b="0" lang="en-US" sz="1800" spc="-1" strike="noStrike">
                <a:solidFill>
                  <a:srgbClr val="000000"/>
                </a:solidFill>
                <a:latin typeface="Consolas"/>
              </a:rPr>
              <a:t>-i ref.output.idx ref.input.fa.gz</a:t>
            </a:r>
            <a:endParaRPr b="0" lang="es-ES" sz="1800" spc="-1" strike="noStrike">
              <a:latin typeface="Arial"/>
            </a:endParaRPr>
          </a:p>
          <a:p>
            <a:pPr>
              <a:lnSpc>
                <a:spcPct val="100000"/>
              </a:lnSpc>
            </a:pPr>
            <a:endParaRPr b="0" lang="es-ES" sz="1800" spc="-1" strike="noStrike">
              <a:latin typeface="Arial"/>
            </a:endParaRPr>
          </a:p>
          <a:p>
            <a:pPr>
              <a:lnSpc>
                <a:spcPct val="100000"/>
              </a:lnSpc>
              <a:spcAft>
                <a:spcPts val="601"/>
              </a:spcAft>
            </a:pPr>
            <a:r>
              <a:rPr b="1" lang="en-US" sz="1800" spc="-1" strike="noStrike" u="sng">
                <a:solidFill>
                  <a:srgbClr val="000000"/>
                </a:solidFill>
                <a:uFillTx/>
                <a:latin typeface="Consolas"/>
              </a:rPr>
              <a:t># Quantification</a:t>
            </a:r>
            <a:endParaRPr b="0" lang="es-ES" sz="1800" spc="-1" strike="noStrike">
              <a:latin typeface="Arial"/>
            </a:endParaRPr>
          </a:p>
          <a:p>
            <a:pPr>
              <a:lnSpc>
                <a:spcPct val="100000"/>
              </a:lnSpc>
            </a:pPr>
            <a:r>
              <a:rPr b="1" lang="en-US" sz="1800" spc="-1" strike="noStrike">
                <a:solidFill>
                  <a:srgbClr val="000000"/>
                </a:solidFill>
                <a:latin typeface="Consolas"/>
              </a:rPr>
              <a:t>kallisto quant </a:t>
            </a:r>
            <a:r>
              <a:rPr b="0" lang="en-US" sz="1800" spc="-1" strike="noStrike">
                <a:solidFill>
                  <a:srgbClr val="000000"/>
                </a:solidFill>
                <a:latin typeface="Consolas"/>
              </a:rPr>
              <a:t>\</a:t>
            </a:r>
            <a:endParaRPr b="0" lang="es-ES" sz="1800" spc="-1" strike="noStrike">
              <a:latin typeface="Arial"/>
            </a:endParaRPr>
          </a:p>
          <a:p>
            <a:pPr>
              <a:lnSpc>
                <a:spcPct val="100000"/>
              </a:lnSpc>
            </a:pPr>
            <a:r>
              <a:rPr b="0" lang="en-US" sz="1800" spc="-1" strike="noStrike">
                <a:solidFill>
                  <a:srgbClr val="000000"/>
                </a:solidFill>
                <a:latin typeface="Consolas"/>
              </a:rPr>
              <a:t>-i ref.output.idx \</a:t>
            </a:r>
            <a:endParaRPr b="0" lang="es-ES" sz="1800" spc="-1" strike="noStrike">
              <a:latin typeface="Arial"/>
            </a:endParaRPr>
          </a:p>
          <a:p>
            <a:pPr>
              <a:lnSpc>
                <a:spcPct val="100000"/>
              </a:lnSpc>
            </a:pPr>
            <a:r>
              <a:rPr b="0" lang="en-US" sz="1800" spc="-1" strike="noStrike">
                <a:solidFill>
                  <a:srgbClr val="000000"/>
                </a:solidFill>
                <a:latin typeface="Consolas"/>
              </a:rPr>
              <a:t>-o output_folder/output_subfolder_sample \</a:t>
            </a:r>
            <a:endParaRPr b="0" lang="es-ES" sz="1800" spc="-1" strike="noStrike">
              <a:latin typeface="Arial"/>
            </a:endParaRPr>
          </a:p>
          <a:p>
            <a:pPr>
              <a:lnSpc>
                <a:spcPct val="100000"/>
              </a:lnSpc>
            </a:pPr>
            <a:r>
              <a:rPr b="0" lang="en-US" sz="1800" spc="-1" strike="noStrike">
                <a:solidFill>
                  <a:srgbClr val="000000"/>
                </a:solidFill>
                <a:latin typeface="Consolas"/>
              </a:rPr>
              <a:t>-b 100 \           # Number of bootstrap samples*</a:t>
            </a:r>
            <a:endParaRPr b="0" lang="es-ES" sz="1800" spc="-1" strike="noStrike">
              <a:latin typeface="Arial"/>
            </a:endParaRPr>
          </a:p>
          <a:p>
            <a:pPr>
              <a:lnSpc>
                <a:spcPct val="100000"/>
              </a:lnSpc>
            </a:pPr>
            <a:r>
              <a:rPr b="0" lang="en-US" sz="1800" spc="-1" strike="noStrike">
                <a:solidFill>
                  <a:srgbClr val="000000"/>
                </a:solidFill>
                <a:latin typeface="Consolas"/>
              </a:rPr>
              <a:t>--single \         # Quantify single-end reads</a:t>
            </a:r>
            <a:endParaRPr b="0" lang="es-ES" sz="1800" spc="-1" strike="noStrike">
              <a:latin typeface="Arial"/>
            </a:endParaRPr>
          </a:p>
          <a:p>
            <a:pPr>
              <a:lnSpc>
                <a:spcPct val="100000"/>
              </a:lnSpc>
            </a:pPr>
            <a:r>
              <a:rPr b="0" lang="en-US" sz="1800" spc="-1" strike="noStrike">
                <a:solidFill>
                  <a:srgbClr val="000000"/>
                </a:solidFill>
                <a:latin typeface="Consolas"/>
              </a:rPr>
              <a:t>-l 100 \           # Estimated average fragment length**</a:t>
            </a:r>
            <a:endParaRPr b="0" lang="es-ES" sz="1800" spc="-1" strike="noStrike">
              <a:latin typeface="Arial"/>
            </a:endParaRPr>
          </a:p>
          <a:p>
            <a:pPr>
              <a:lnSpc>
                <a:spcPct val="100000"/>
              </a:lnSpc>
            </a:pPr>
            <a:r>
              <a:rPr b="0" lang="en-US" sz="1800" spc="-1" strike="noStrike">
                <a:solidFill>
                  <a:srgbClr val="000000"/>
                </a:solidFill>
                <a:latin typeface="Consolas"/>
              </a:rPr>
              <a:t>-s 20 \            # Estimated standard deviation of fragment length***</a:t>
            </a:r>
            <a:endParaRPr b="0" lang="es-ES" sz="1800" spc="-1" strike="noStrike">
              <a:latin typeface="Arial"/>
            </a:endParaRPr>
          </a:p>
          <a:p>
            <a:pPr>
              <a:lnSpc>
                <a:spcPct val="100000"/>
              </a:lnSpc>
            </a:pPr>
            <a:r>
              <a:rPr b="0" lang="en-US" sz="1800" spc="-1" strike="noStrike">
                <a:solidFill>
                  <a:srgbClr val="000000"/>
                </a:solidFill>
                <a:latin typeface="Consolas"/>
              </a:rPr>
              <a:t>&lt;(zcat input_compressed.fastq.gz)</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CustomShape 1"/>
          <p:cNvSpPr/>
          <p:nvPr/>
        </p:nvSpPr>
        <p:spPr>
          <a:xfrm>
            <a:off x="630000" y="883440"/>
            <a:ext cx="10972440" cy="91332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Consolas"/>
              </a:rPr>
              <a:t>* Number of bootstrap samples</a:t>
            </a:r>
            <a:endParaRPr b="0" lang="es-ES" sz="1800" spc="-1" strike="noStrike">
              <a:latin typeface="Arial"/>
            </a:endParaRPr>
          </a:p>
          <a:p>
            <a:pPr>
              <a:lnSpc>
                <a:spcPct val="100000"/>
              </a:lnSpc>
            </a:pPr>
            <a:r>
              <a:rPr b="0" lang="en-US" sz="1800" spc="-1" strike="noStrike">
                <a:solidFill>
                  <a:srgbClr val="000000"/>
                </a:solidFill>
                <a:latin typeface="Consolas"/>
              </a:rPr>
              <a:t>** Estimated average fragment length</a:t>
            </a:r>
            <a:endParaRPr b="0" lang="es-ES" sz="1800" spc="-1" strike="noStrike">
              <a:latin typeface="Arial"/>
            </a:endParaRPr>
          </a:p>
          <a:p>
            <a:pPr>
              <a:lnSpc>
                <a:spcPct val="100000"/>
              </a:lnSpc>
            </a:pPr>
            <a:r>
              <a:rPr b="0" lang="en-US" sz="1800" spc="-1" strike="noStrike">
                <a:solidFill>
                  <a:srgbClr val="000000"/>
                </a:solidFill>
                <a:latin typeface="Consolas"/>
              </a:rPr>
              <a:t>*** Estimated standard deviation of fragment length</a:t>
            </a:r>
            <a:endParaRPr b="0" lang="es-ES" sz="1800" spc="-1" strike="noStrike">
              <a:latin typeface="Arial"/>
            </a:endParaRPr>
          </a:p>
        </p:txBody>
      </p:sp>
      <p:sp>
        <p:nvSpPr>
          <p:cNvPr id="593" name="CustomShape 2"/>
          <p:cNvSpPr/>
          <p:nvPr/>
        </p:nvSpPr>
        <p:spPr>
          <a:xfrm>
            <a:off x="4578120" y="299880"/>
            <a:ext cx="3035520" cy="6994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Mapping with </a:t>
            </a:r>
            <a:r>
              <a:rPr b="1" lang="en-US" sz="2000" spc="-1" strike="noStrike">
                <a:solidFill>
                  <a:srgbClr val="000000"/>
                </a:solidFill>
                <a:latin typeface="Consolas"/>
              </a:rPr>
              <a:t>kallisto</a:t>
            </a:r>
            <a:endParaRPr b="0" lang="es-ES" sz="2000" spc="-1" strike="noStrike">
              <a:latin typeface="Arial"/>
            </a:endParaRPr>
          </a:p>
        </p:txBody>
      </p:sp>
      <p:sp>
        <p:nvSpPr>
          <p:cNvPr id="594" name="CustomShape 3"/>
          <p:cNvSpPr/>
          <p:nvPr/>
        </p:nvSpPr>
        <p:spPr>
          <a:xfrm>
            <a:off x="630000" y="1925640"/>
            <a:ext cx="10972440" cy="1187640"/>
          </a:xfrm>
          <a:prstGeom prst="rect">
            <a:avLst/>
          </a:prstGeom>
          <a:noFill/>
          <a:ln>
            <a:solidFill>
              <a:schemeClr val="tx1"/>
            </a:solidFill>
          </a:ln>
        </p:spPr>
        <p:style>
          <a:lnRef idx="0"/>
          <a:fillRef idx="0"/>
          <a:effectRef idx="0"/>
          <a:fontRef idx="minor"/>
        </p:style>
        <p:txBody>
          <a:bodyPr lIns="90000" rIns="90000" tIns="45000" bIns="45000">
            <a:spAutoFit/>
          </a:bodyPr>
          <a:p>
            <a:pPr algn="just">
              <a:lnSpc>
                <a:spcPct val="100000"/>
              </a:lnSpc>
            </a:pPr>
            <a:r>
              <a:rPr b="1" lang="en-US" sz="1800" spc="-1" strike="noStrike">
                <a:solidFill>
                  <a:srgbClr val="000000"/>
                </a:solidFill>
                <a:latin typeface="Aptos"/>
              </a:rPr>
              <a:t>Number of bootstrap samples (-b): </a:t>
            </a:r>
            <a:r>
              <a:rPr b="0" lang="en-US" sz="1800" spc="-1" strike="noStrike">
                <a:solidFill>
                  <a:srgbClr val="000000"/>
                </a:solidFill>
                <a:latin typeface="Aptos"/>
              </a:rPr>
              <a:t>Because many reads can map to multiple transcripts, kallisto uses a probabilistic model to assign them. To measure how uncertain these assignments are, kallisto performs bootstrap resampling — it repeatedly resamples reads (with replacement) and re-estimates transcript abundances. Typical bootstrapping value: 100</a:t>
            </a:r>
            <a:endParaRPr b="0" lang="es-ES" sz="1800" spc="-1" strike="noStrike">
              <a:latin typeface="Arial"/>
            </a:endParaRPr>
          </a:p>
        </p:txBody>
      </p:sp>
      <p:sp>
        <p:nvSpPr>
          <p:cNvPr id="595" name="CustomShape 4"/>
          <p:cNvSpPr/>
          <p:nvPr/>
        </p:nvSpPr>
        <p:spPr>
          <a:xfrm>
            <a:off x="630000" y="3359160"/>
            <a:ext cx="10972440" cy="1735560"/>
          </a:xfrm>
          <a:prstGeom prst="rect">
            <a:avLst/>
          </a:prstGeom>
          <a:noFill/>
          <a:ln>
            <a:solidFill>
              <a:schemeClr val="tx1"/>
            </a:solidFill>
          </a:ln>
        </p:spPr>
        <p:style>
          <a:lnRef idx="0"/>
          <a:fillRef idx="0"/>
          <a:effectRef idx="0"/>
          <a:fontRef idx="minor"/>
        </p:style>
        <p:txBody>
          <a:bodyPr lIns="90000" rIns="90000" tIns="45000" bIns="45000">
            <a:spAutoFit/>
          </a:bodyPr>
          <a:p>
            <a:pPr algn="just">
              <a:lnSpc>
                <a:spcPct val="100000"/>
              </a:lnSpc>
            </a:pPr>
            <a:r>
              <a:rPr b="1" lang="en-US" sz="1800" spc="-1" strike="noStrike">
                <a:solidFill>
                  <a:srgbClr val="000000"/>
                </a:solidFill>
                <a:latin typeface="Aptos"/>
              </a:rPr>
              <a:t>Estimated average fragment length (-l): </a:t>
            </a:r>
            <a:r>
              <a:rPr b="0" lang="en-US" sz="1800" spc="-1" strike="noStrike">
                <a:solidFill>
                  <a:srgbClr val="000000"/>
                </a:solidFill>
                <a:latin typeface="Aptos"/>
              </a:rPr>
              <a:t>In the case of single-end reads, the -l option must be used to specify the average fragment length. Typical Illumina libraries produce fragment lengths ranging from 180–200 bp but it’s best to determine this from a library quantification with an instrument such as an Agilent Bioanalyzer.</a:t>
            </a:r>
            <a:endParaRPr b="0" lang="es-ES" sz="1800" spc="-1" strike="noStrike">
              <a:latin typeface="Arial"/>
            </a:endParaRPr>
          </a:p>
          <a:p>
            <a:pPr algn="just">
              <a:lnSpc>
                <a:spcPct val="100000"/>
              </a:lnSpc>
            </a:pPr>
            <a:r>
              <a:rPr b="0" lang="en-US" sz="1800" spc="-1" strike="noStrike">
                <a:solidFill>
                  <a:srgbClr val="000000"/>
                </a:solidFill>
                <a:latin typeface="Aptos"/>
              </a:rPr>
              <a:t>For paired-end reads, the average fragment length can be directly estimated from the reads, and the program will do so if -l is not used (this is the preferred run mode).</a:t>
            </a:r>
            <a:endParaRPr b="0" lang="es-ES" sz="1800" spc="-1" strike="noStrike">
              <a:latin typeface="Arial"/>
            </a:endParaRPr>
          </a:p>
        </p:txBody>
      </p:sp>
      <p:sp>
        <p:nvSpPr>
          <p:cNvPr id="596" name="CustomShape 5"/>
          <p:cNvSpPr/>
          <p:nvPr/>
        </p:nvSpPr>
        <p:spPr>
          <a:xfrm>
            <a:off x="630000" y="5103720"/>
            <a:ext cx="10972440" cy="1186920"/>
          </a:xfrm>
          <a:prstGeom prst="rect">
            <a:avLst/>
          </a:prstGeom>
          <a:noFill/>
          <a:ln>
            <a:solidFill>
              <a:schemeClr val="tx1"/>
            </a:solid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Aptos"/>
              </a:rPr>
              <a:t>Estimated standard deviation of fragment length (-s):</a:t>
            </a:r>
            <a:r>
              <a:rPr b="0" lang="en-US" sz="1800" spc="-1" strike="noStrike">
                <a:solidFill>
                  <a:srgbClr val="000000"/>
                </a:solidFill>
                <a:latin typeface="Aptos"/>
              </a:rPr>
              <a:t> This value describes how much variation there is in the length of the sequenced cDNA fragments. Library kits or sequencing facilities often report the average fragment size and its variation, e.g. “200 ± 20 bp” → -l 200 -s 20. Typical ‘s’ value: 20</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7"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598" name="CustomShape 2"/>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sp>
        <p:nvSpPr>
          <p:cNvPr id="599" name="CustomShape 3"/>
          <p:cNvSpPr/>
          <p:nvPr/>
        </p:nvSpPr>
        <p:spPr>
          <a:xfrm>
            <a:off x="4578120" y="472320"/>
            <a:ext cx="303552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Mapping with </a:t>
            </a:r>
            <a:r>
              <a:rPr b="1" lang="en-US" sz="2000" spc="-1" strike="noStrike">
                <a:solidFill>
                  <a:srgbClr val="000000"/>
                </a:solidFill>
                <a:latin typeface="Consolas"/>
              </a:rPr>
              <a:t>kallisto</a:t>
            </a:r>
            <a:endParaRPr b="0" lang="es-ES" sz="2000" spc="-1" strike="noStrike">
              <a:latin typeface="Arial"/>
            </a:endParaRPr>
          </a:p>
        </p:txBody>
      </p:sp>
      <p:sp>
        <p:nvSpPr>
          <p:cNvPr id="600" name="CustomShape 4"/>
          <p:cNvSpPr/>
          <p:nvPr/>
        </p:nvSpPr>
        <p:spPr>
          <a:xfrm>
            <a:off x="789840" y="1049040"/>
            <a:ext cx="10759320" cy="173556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Aptos"/>
              </a:rPr>
              <a:t>Pseudoalignments</a:t>
            </a:r>
            <a:r>
              <a:rPr b="0" lang="en-US" sz="1800" spc="-1" strike="noStrike">
                <a:solidFill>
                  <a:srgbClr val="000000"/>
                </a:solidFill>
                <a:latin typeface="Aptos"/>
              </a:rPr>
              <a:t> of RNA-Seq data were carried out using as references 500 bp from the 3′ tails of the </a:t>
            </a:r>
            <a:r>
              <a:rPr b="0" i="1" lang="en-US" sz="1800" spc="-1" strike="noStrike">
                <a:solidFill>
                  <a:srgbClr val="000000"/>
                </a:solidFill>
                <a:latin typeface="Aptos"/>
              </a:rPr>
              <a:t>B. distachyon</a:t>
            </a:r>
            <a:r>
              <a:rPr b="0" lang="en-US" sz="1800" spc="-1" strike="noStrike">
                <a:solidFill>
                  <a:srgbClr val="000000"/>
                </a:solidFill>
                <a:latin typeface="Aptos"/>
              </a:rPr>
              <a:t>_314_version 3.1 </a:t>
            </a:r>
            <a:r>
              <a:rPr b="1" lang="en-US" sz="1800" spc="-1" strike="noStrike">
                <a:solidFill>
                  <a:srgbClr val="000000"/>
                </a:solidFill>
                <a:latin typeface="Aptos"/>
              </a:rPr>
              <a:t>transcriptome</a:t>
            </a:r>
            <a:r>
              <a:rPr b="0" lang="en-US" sz="1800" spc="-1" strike="noStrike">
                <a:solidFill>
                  <a:srgbClr val="000000"/>
                </a:solidFill>
                <a:latin typeface="Aptos"/>
              </a:rPr>
              <a:t> (IBI, 2010; </a:t>
            </a:r>
            <a:r>
              <a:rPr b="0" lang="en-US" sz="1800" spc="-1" strike="noStrike" u="sng">
                <a:solidFill>
                  <a:srgbClr val="467886"/>
                </a:solidFill>
                <a:uFillTx/>
                <a:latin typeface="Aptos"/>
                <a:hlinkClick r:id="rId1"/>
              </a:rPr>
              <a:t>https://phytozome.jgi.doe.gov/</a:t>
            </a:r>
            <a:r>
              <a:rPr b="0" lang="en-US" sz="1800" spc="-1" strike="noStrike">
                <a:solidFill>
                  <a:srgbClr val="000000"/>
                </a:solidFill>
                <a:latin typeface="Aptos"/>
              </a:rPr>
              <a:t>).</a:t>
            </a:r>
            <a:endParaRPr b="0" lang="es-ES" sz="1800" spc="-1" strike="noStrike">
              <a:latin typeface="Arial"/>
            </a:endParaRPr>
          </a:p>
          <a:p>
            <a:pPr>
              <a:lnSpc>
                <a:spcPct val="100000"/>
              </a:lnSpc>
            </a:pPr>
            <a:endParaRPr b="0" lang="es-ES" sz="1800" spc="-1" strike="noStrike">
              <a:latin typeface="Arial"/>
            </a:endParaRPr>
          </a:p>
          <a:p>
            <a:pPr>
              <a:lnSpc>
                <a:spcPct val="100000"/>
              </a:lnSpc>
            </a:pPr>
            <a:r>
              <a:rPr b="0" lang="en-US" sz="1800" spc="-1" strike="noStrike">
                <a:solidFill>
                  <a:srgbClr val="000000"/>
                </a:solidFill>
                <a:latin typeface="Aptos"/>
              </a:rPr>
              <a:t>We applied estimated average fragment lengths of 100 bp and standard deviations of fragment length of 20.</a:t>
            </a:r>
            <a:endParaRPr b="0" lang="es-ES" sz="1800" spc="-1" strike="noStrike">
              <a:latin typeface="Arial"/>
            </a:endParaRPr>
          </a:p>
        </p:txBody>
      </p:sp>
      <p:sp>
        <p:nvSpPr>
          <p:cNvPr id="601" name="CustomShape 5"/>
          <p:cNvSpPr/>
          <p:nvPr/>
        </p:nvSpPr>
        <p:spPr>
          <a:xfrm>
            <a:off x="789840" y="2324520"/>
            <a:ext cx="10759320" cy="463140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spcAft>
                <a:spcPts val="601"/>
              </a:spcAft>
            </a:pPr>
            <a:r>
              <a:rPr b="1" lang="en-US" sz="1800" spc="-1" strike="noStrike" u="sng">
                <a:solidFill>
                  <a:srgbClr val="000000"/>
                </a:solidFill>
                <a:uFillTx/>
                <a:latin typeface="Consolas"/>
              </a:rPr>
              <a:t># Index reference</a:t>
            </a:r>
            <a:endParaRPr b="0" lang="es-ES" sz="1800" spc="-1" strike="noStrike">
              <a:latin typeface="Arial"/>
            </a:endParaRPr>
          </a:p>
          <a:p>
            <a:pPr>
              <a:lnSpc>
                <a:spcPct val="100000"/>
              </a:lnSpc>
            </a:pPr>
            <a:r>
              <a:rPr b="1" lang="en-US" sz="1800" spc="-1" strike="noStrike">
                <a:solidFill>
                  <a:srgbClr val="000000"/>
                </a:solidFill>
                <a:latin typeface="Consolas"/>
              </a:rPr>
              <a:t>kallisto index</a:t>
            </a:r>
            <a:r>
              <a:rPr b="0" lang="en-US" sz="1800" spc="-1" strike="noStrike">
                <a:solidFill>
                  <a:srgbClr val="000000"/>
                </a:solidFill>
                <a:latin typeface="Consolas"/>
              </a:rPr>
              <a:t> </a:t>
            </a:r>
            <a:r>
              <a:rPr b="1" lang="en-US" sz="1800" spc="-1" strike="noStrike">
                <a:solidFill>
                  <a:srgbClr val="000000"/>
                </a:solidFill>
                <a:latin typeface="Consolas"/>
              </a:rPr>
              <a:t>\</a:t>
            </a:r>
            <a:endParaRPr b="0" lang="es-ES" sz="1800" spc="-1" strike="noStrike">
              <a:latin typeface="Arial"/>
            </a:endParaRPr>
          </a:p>
          <a:p>
            <a:pPr>
              <a:lnSpc>
                <a:spcPct val="100000"/>
              </a:lnSpc>
            </a:pPr>
            <a:r>
              <a:rPr b="0" lang="en-US" sz="1800" spc="-1" strike="noStrike">
                <a:solidFill>
                  <a:srgbClr val="000000"/>
                </a:solidFill>
                <a:latin typeface="Consolas"/>
              </a:rPr>
              <a:t>-i 00_Reference_transcriptome/Bdistachyon_314_v3.1.transcript.TagSeq500b.idx \</a:t>
            </a:r>
            <a:endParaRPr b="0" lang="es-ES" sz="1800" spc="-1" strike="noStrike">
              <a:latin typeface="Arial"/>
            </a:endParaRPr>
          </a:p>
          <a:p>
            <a:pPr>
              <a:lnSpc>
                <a:spcPct val="100000"/>
              </a:lnSpc>
            </a:pPr>
            <a:r>
              <a:rPr b="0" lang="en-US" sz="1800" spc="-1" strike="noStrike">
                <a:solidFill>
                  <a:srgbClr val="000000"/>
                </a:solidFill>
                <a:latin typeface="Consolas"/>
              </a:rPr>
              <a:t>00_Reference_transcriptome/Bdistachyon_314_v3.1.transcript.TagSeq500b.fa.gz</a:t>
            </a:r>
            <a:endParaRPr b="0" lang="es-ES" sz="1800" spc="-1" strike="noStrike">
              <a:latin typeface="Arial"/>
            </a:endParaRPr>
          </a:p>
          <a:p>
            <a:pPr>
              <a:lnSpc>
                <a:spcPct val="100000"/>
              </a:lnSpc>
            </a:pPr>
            <a:endParaRPr b="0" lang="es-ES" sz="1800" spc="-1" strike="noStrike">
              <a:latin typeface="Arial"/>
            </a:endParaRPr>
          </a:p>
          <a:p>
            <a:pPr>
              <a:lnSpc>
                <a:spcPct val="100000"/>
              </a:lnSpc>
              <a:spcAft>
                <a:spcPts val="601"/>
              </a:spcAft>
            </a:pPr>
            <a:r>
              <a:rPr b="1" lang="en-US" sz="1800" spc="-1" strike="noStrike" u="sng">
                <a:solidFill>
                  <a:srgbClr val="000000"/>
                </a:solidFill>
                <a:uFillTx/>
                <a:latin typeface="Consolas"/>
              </a:rPr>
              <a:t># Quantification</a:t>
            </a:r>
            <a:endParaRPr b="0" lang="es-ES" sz="1800" spc="-1" strike="noStrike">
              <a:latin typeface="Arial"/>
            </a:endParaRPr>
          </a:p>
          <a:p>
            <a:pPr>
              <a:lnSpc>
                <a:spcPct val="100000"/>
              </a:lnSpc>
            </a:pPr>
            <a:r>
              <a:rPr b="1" lang="en-US" sz="1800" spc="-1" strike="noStrike">
                <a:solidFill>
                  <a:srgbClr val="000000"/>
                </a:solidFill>
                <a:latin typeface="Consolas"/>
              </a:rPr>
              <a:t>kallisto quant </a:t>
            </a:r>
            <a:r>
              <a:rPr b="0" lang="en-US" sz="1800" spc="-1" strike="noStrike">
                <a:solidFill>
                  <a:srgbClr val="000000"/>
                </a:solidFill>
                <a:latin typeface="Consolas"/>
              </a:rPr>
              <a:t>\</a:t>
            </a:r>
            <a:endParaRPr b="0" lang="es-ES" sz="1800" spc="-1" strike="noStrike">
              <a:latin typeface="Arial"/>
            </a:endParaRPr>
          </a:p>
          <a:p>
            <a:pPr>
              <a:lnSpc>
                <a:spcPct val="100000"/>
              </a:lnSpc>
            </a:pPr>
            <a:r>
              <a:rPr b="0" lang="en-US" sz="1800" spc="-1" strike="noStrike">
                <a:solidFill>
                  <a:srgbClr val="000000"/>
                </a:solidFill>
                <a:latin typeface="Consolas"/>
              </a:rPr>
              <a:t>-i 00_Reference_transcriptome/Bdistachyon_314_v3.1.transcript.TagSeq500b.idx \</a:t>
            </a:r>
            <a:endParaRPr b="0" lang="es-ES" sz="1800" spc="-1" strike="noStrike">
              <a:latin typeface="Arial"/>
            </a:endParaRPr>
          </a:p>
          <a:p>
            <a:pPr>
              <a:lnSpc>
                <a:spcPct val="100000"/>
              </a:lnSpc>
            </a:pPr>
            <a:r>
              <a:rPr b="0" lang="en-US" sz="1800" spc="-1" strike="noStrike">
                <a:solidFill>
                  <a:srgbClr val="000000"/>
                </a:solidFill>
                <a:latin typeface="Consolas"/>
              </a:rPr>
              <a:t>-o 03_quant/ABR3_W_03 \</a:t>
            </a:r>
            <a:endParaRPr b="0" lang="es-ES" sz="1800" spc="-1" strike="noStrike">
              <a:latin typeface="Arial"/>
            </a:endParaRPr>
          </a:p>
          <a:p>
            <a:pPr>
              <a:lnSpc>
                <a:spcPct val="100000"/>
              </a:lnSpc>
            </a:pPr>
            <a:r>
              <a:rPr b="0" lang="en-US" sz="1800" spc="-1" strike="noStrike">
                <a:solidFill>
                  <a:srgbClr val="000000"/>
                </a:solidFill>
                <a:latin typeface="Consolas"/>
              </a:rPr>
              <a:t>-b 100 \           # Number of bootstrap samples</a:t>
            </a:r>
            <a:endParaRPr b="0" lang="es-ES" sz="1800" spc="-1" strike="noStrike">
              <a:latin typeface="Arial"/>
            </a:endParaRPr>
          </a:p>
          <a:p>
            <a:pPr>
              <a:lnSpc>
                <a:spcPct val="100000"/>
              </a:lnSpc>
            </a:pPr>
            <a:r>
              <a:rPr b="0" lang="en-US" sz="1800" spc="-1" strike="noStrike">
                <a:solidFill>
                  <a:srgbClr val="000000"/>
                </a:solidFill>
                <a:latin typeface="Consolas"/>
              </a:rPr>
              <a:t>--single \         # Quantify single-end reads</a:t>
            </a:r>
            <a:endParaRPr b="0" lang="es-ES" sz="1800" spc="-1" strike="noStrike">
              <a:latin typeface="Arial"/>
            </a:endParaRPr>
          </a:p>
          <a:p>
            <a:pPr>
              <a:lnSpc>
                <a:spcPct val="100000"/>
              </a:lnSpc>
            </a:pPr>
            <a:r>
              <a:rPr b="0" lang="en-US" sz="1800" spc="-1" strike="noStrike">
                <a:solidFill>
                  <a:srgbClr val="000000"/>
                </a:solidFill>
                <a:latin typeface="Consolas"/>
              </a:rPr>
              <a:t>-l 100 \           # Estimated average fragment length</a:t>
            </a:r>
            <a:endParaRPr b="0" lang="es-ES" sz="1800" spc="-1" strike="noStrike">
              <a:latin typeface="Arial"/>
            </a:endParaRPr>
          </a:p>
          <a:p>
            <a:pPr>
              <a:lnSpc>
                <a:spcPct val="100000"/>
              </a:lnSpc>
            </a:pPr>
            <a:r>
              <a:rPr b="0" lang="en-US" sz="1800" spc="-1" strike="noStrike">
                <a:solidFill>
                  <a:srgbClr val="000000"/>
                </a:solidFill>
                <a:latin typeface="Consolas"/>
              </a:rPr>
              <a:t>-s 20 \            # Estimated standard deviation of fragment length</a:t>
            </a:r>
            <a:endParaRPr b="0" lang="es-ES" sz="1800" spc="-1" strike="noStrike">
              <a:latin typeface="Arial"/>
            </a:endParaRPr>
          </a:p>
          <a:p>
            <a:pPr>
              <a:lnSpc>
                <a:spcPct val="100000"/>
              </a:lnSpc>
            </a:pPr>
            <a:r>
              <a:rPr b="0" lang="en-US" sz="1800" spc="-1" strike="noStrike">
                <a:solidFill>
                  <a:srgbClr val="000000"/>
                </a:solidFill>
                <a:latin typeface="Consolas"/>
              </a:rPr>
              <a:t>&lt;(zcat 02_RNAseq_filtered/ABR3_W_03_trimmed.fastq.gz)</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CustomShape 1"/>
          <p:cNvSpPr/>
          <p:nvPr/>
        </p:nvSpPr>
        <p:spPr>
          <a:xfrm>
            <a:off x="4578120" y="299880"/>
            <a:ext cx="3035520" cy="6994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Mapping with </a:t>
            </a:r>
            <a:r>
              <a:rPr b="1" lang="en-US" sz="2000" spc="-1" strike="noStrike">
                <a:solidFill>
                  <a:srgbClr val="000000"/>
                </a:solidFill>
                <a:latin typeface="Consolas"/>
              </a:rPr>
              <a:t>kallisto</a:t>
            </a:r>
            <a:endParaRPr b="0" lang="es-ES" sz="2000" spc="-1" strike="noStrike">
              <a:latin typeface="Arial"/>
            </a:endParaRPr>
          </a:p>
        </p:txBody>
      </p:sp>
      <p:sp>
        <p:nvSpPr>
          <p:cNvPr id="603" name="CustomShape 2"/>
          <p:cNvSpPr/>
          <p:nvPr/>
        </p:nvSpPr>
        <p:spPr>
          <a:xfrm>
            <a:off x="145800" y="1204920"/>
            <a:ext cx="6335640" cy="322452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gn="just">
              <a:lnSpc>
                <a:spcPct val="100000"/>
              </a:lnSpc>
              <a:spcBef>
                <a:spcPts val="601"/>
              </a:spcBef>
              <a:spcAft>
                <a:spcPts val="601"/>
              </a:spcAft>
            </a:pPr>
            <a:r>
              <a:rPr b="1" lang="en-US" sz="1600" spc="-1" strike="noStrike">
                <a:solidFill>
                  <a:srgbClr val="000000"/>
                </a:solidFill>
                <a:latin typeface="Aptos"/>
              </a:rPr>
              <a:t>Output files:</a:t>
            </a:r>
            <a:endParaRPr b="0" lang="es-ES" sz="1600" spc="-1" strike="noStrike">
              <a:latin typeface="Arial"/>
            </a:endParaRPr>
          </a:p>
          <a:p>
            <a:pPr marL="285840" indent="-285480" algn="just">
              <a:lnSpc>
                <a:spcPct val="100000"/>
              </a:lnSpc>
              <a:spcBef>
                <a:spcPts val="601"/>
              </a:spcBef>
              <a:spcAft>
                <a:spcPts val="601"/>
              </a:spcAft>
              <a:buClr>
                <a:srgbClr val="000000"/>
              </a:buClr>
              <a:buFont typeface="Wingdings" charset="2"/>
              <a:buChar char=""/>
            </a:pPr>
            <a:r>
              <a:rPr b="1" lang="en-US" sz="1600" spc="-1" strike="noStrike">
                <a:solidFill>
                  <a:srgbClr val="000000"/>
                </a:solidFill>
                <a:latin typeface="Consolas"/>
              </a:rPr>
              <a:t>abundance.h5: </a:t>
            </a:r>
            <a:r>
              <a:rPr b="0" lang="en-US" sz="1600" spc="-1" strike="noStrike">
                <a:solidFill>
                  <a:srgbClr val="000000"/>
                </a:solidFill>
                <a:latin typeface="Aptos"/>
              </a:rPr>
              <a:t>a HDF5 binary file containing run info, abundance estimates, bootstrap estimates, and transcript length information length. This file can be read in by </a:t>
            </a:r>
            <a:r>
              <a:rPr b="0" lang="en-US" sz="1600" spc="-1" strike="noStrike">
                <a:solidFill>
                  <a:srgbClr val="000000"/>
                </a:solidFill>
                <a:latin typeface="Consolas"/>
              </a:rPr>
              <a:t>sleuth</a:t>
            </a:r>
            <a:r>
              <a:rPr b="0" lang="en-US" sz="1600" spc="-1" strike="noStrike">
                <a:solidFill>
                  <a:srgbClr val="000000"/>
                </a:solidFill>
                <a:latin typeface="Aptos"/>
              </a:rPr>
              <a:t>.</a:t>
            </a:r>
            <a:endParaRPr b="0" lang="es-ES" sz="1600" spc="-1" strike="noStrike">
              <a:latin typeface="Arial"/>
            </a:endParaRPr>
          </a:p>
          <a:p>
            <a:pPr marL="285840" indent="-285480" algn="just">
              <a:lnSpc>
                <a:spcPct val="100000"/>
              </a:lnSpc>
              <a:spcBef>
                <a:spcPts val="601"/>
              </a:spcBef>
              <a:spcAft>
                <a:spcPts val="601"/>
              </a:spcAft>
              <a:buClr>
                <a:srgbClr val="000000"/>
              </a:buClr>
              <a:buFont typeface="Wingdings" charset="2"/>
              <a:buChar char=""/>
            </a:pPr>
            <a:r>
              <a:rPr b="1" lang="en-US" sz="1600" spc="-1" strike="noStrike">
                <a:solidFill>
                  <a:srgbClr val="000000"/>
                </a:solidFill>
                <a:latin typeface="Consolas"/>
              </a:rPr>
              <a:t>abundance.tsv: </a:t>
            </a:r>
            <a:r>
              <a:rPr b="0" lang="en-US" sz="1600" spc="-1" strike="noStrike">
                <a:solidFill>
                  <a:srgbClr val="000000"/>
                </a:solidFill>
                <a:latin typeface="Aptos"/>
              </a:rPr>
              <a:t>a plaintext file of the abundance estimates. It does not contain bootstrap estimates. The first line contains a header for each column, including estimated counts, TPM, effective length.</a:t>
            </a:r>
            <a:endParaRPr b="0" lang="es-ES" sz="1600" spc="-1" strike="noStrike">
              <a:latin typeface="Arial"/>
            </a:endParaRPr>
          </a:p>
          <a:p>
            <a:pPr marL="285840" indent="-285480" algn="just">
              <a:lnSpc>
                <a:spcPct val="100000"/>
              </a:lnSpc>
              <a:spcBef>
                <a:spcPts val="601"/>
              </a:spcBef>
              <a:spcAft>
                <a:spcPts val="601"/>
              </a:spcAft>
              <a:buClr>
                <a:srgbClr val="000000"/>
              </a:buClr>
              <a:buFont typeface="Wingdings" charset="2"/>
              <a:buChar char=""/>
            </a:pPr>
            <a:r>
              <a:rPr b="1" lang="en-US" sz="1600" spc="-1" strike="noStrike">
                <a:solidFill>
                  <a:srgbClr val="000000"/>
                </a:solidFill>
                <a:latin typeface="Consolas"/>
              </a:rPr>
              <a:t>run_info.json: </a:t>
            </a:r>
            <a:r>
              <a:rPr b="0" lang="en-US" sz="1600" spc="-1" strike="noStrike">
                <a:solidFill>
                  <a:srgbClr val="000000"/>
                </a:solidFill>
                <a:latin typeface="Aptos"/>
              </a:rPr>
              <a:t>a json file containing information about the run.</a:t>
            </a:r>
            <a:endParaRPr b="0" lang="es-ES" sz="1600" spc="-1" strike="noStrike">
              <a:latin typeface="Arial"/>
            </a:endParaRPr>
          </a:p>
        </p:txBody>
      </p:sp>
      <p:pic>
        <p:nvPicPr>
          <p:cNvPr id="604" name="Imagen 8" descr=""/>
          <p:cNvPicPr/>
          <p:nvPr/>
        </p:nvPicPr>
        <p:blipFill>
          <a:blip r:embed="rId1"/>
          <a:stretch/>
        </p:blipFill>
        <p:spPr>
          <a:xfrm>
            <a:off x="6559920" y="1219320"/>
            <a:ext cx="5348160" cy="2755080"/>
          </a:xfrm>
          <a:prstGeom prst="rect">
            <a:avLst/>
          </a:prstGeom>
          <a:ln>
            <a:noFill/>
          </a:ln>
        </p:spPr>
      </p:pic>
      <p:pic>
        <p:nvPicPr>
          <p:cNvPr id="605" name="Imagen 10" descr=""/>
          <p:cNvPicPr/>
          <p:nvPr/>
        </p:nvPicPr>
        <p:blipFill>
          <a:blip r:embed="rId2"/>
          <a:srcRect l="0" t="1703" r="0" b="0"/>
          <a:stretch/>
        </p:blipFill>
        <p:spPr>
          <a:xfrm>
            <a:off x="145800" y="4438440"/>
            <a:ext cx="11838600" cy="2138760"/>
          </a:xfrm>
          <a:prstGeom prst="rect">
            <a:avLst/>
          </a:prstGeom>
          <a:ln>
            <a:noFill/>
          </a:ln>
        </p:spPr>
      </p:pic>
      <p:sp>
        <p:nvSpPr>
          <p:cNvPr id="606" name="CustomShape 3"/>
          <p:cNvSpPr/>
          <p:nvPr/>
        </p:nvSpPr>
        <p:spPr>
          <a:xfrm>
            <a:off x="6481800" y="885960"/>
            <a:ext cx="189792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Consolas"/>
              </a:rPr>
              <a:t>abundance.tsv</a:t>
            </a:r>
            <a:endParaRPr b="0" lang="es-ES" sz="1800" spc="-1" strike="noStrike">
              <a:latin typeface="Arial"/>
            </a:endParaRPr>
          </a:p>
        </p:txBody>
      </p:sp>
      <p:sp>
        <p:nvSpPr>
          <p:cNvPr id="607" name="CustomShape 4"/>
          <p:cNvSpPr/>
          <p:nvPr/>
        </p:nvSpPr>
        <p:spPr>
          <a:xfrm>
            <a:off x="145800" y="4069080"/>
            <a:ext cx="187956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1800" spc="-1" strike="noStrike">
                <a:solidFill>
                  <a:srgbClr val="000000"/>
                </a:solidFill>
                <a:latin typeface="Consolas"/>
              </a:rPr>
              <a:t>run_info.json</a:t>
            </a:r>
            <a:endParaRPr b="0" lang="es-ES" sz="1800" spc="-1" strike="noStrike">
              <a:latin typeface="Arial"/>
            </a:endParaRPr>
          </a:p>
        </p:txBody>
      </p:sp>
      <p:pic>
        <p:nvPicPr>
          <p:cNvPr id="608" name="Gráfico 15" descr="Burbuja de chat con relleno sólido"/>
          <p:cNvPicPr/>
          <p:nvPr/>
        </p:nvPicPr>
        <p:blipFill>
          <a:blip r:embed="rId3"/>
          <a:stretch/>
        </p:blipFill>
        <p:spPr>
          <a:xfrm flipH="1">
            <a:off x="1420200" y="1209600"/>
            <a:ext cx="375480" cy="375480"/>
          </a:xfrm>
          <a:prstGeom prst="rect">
            <a:avLst/>
          </a:prstGeom>
          <a:ln>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10" name="CustomShape 2"/>
          <p:cNvSpPr/>
          <p:nvPr/>
        </p:nvSpPr>
        <p:spPr>
          <a:xfrm>
            <a:off x="0" y="0"/>
            <a:ext cx="132984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a:t>
            </a:r>
            <a:endParaRPr b="0" lang="es-ES" sz="2400" spc="-1" strike="noStrike">
              <a:latin typeface="Arial"/>
            </a:endParaRPr>
          </a:p>
        </p:txBody>
      </p:sp>
      <p:sp>
        <p:nvSpPr>
          <p:cNvPr id="611" name="CustomShape 3"/>
          <p:cNvSpPr/>
          <p:nvPr/>
        </p:nvSpPr>
        <p:spPr>
          <a:xfrm>
            <a:off x="4578120" y="472320"/>
            <a:ext cx="303552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Mapping with </a:t>
            </a:r>
            <a:r>
              <a:rPr b="1" lang="en-US" sz="2000" spc="-1" strike="noStrike">
                <a:solidFill>
                  <a:srgbClr val="000000"/>
                </a:solidFill>
                <a:latin typeface="Consolas"/>
              </a:rPr>
              <a:t>kallisto</a:t>
            </a:r>
            <a:endParaRPr b="0" lang="es-ES" sz="2000" spc="-1" strike="noStrike">
              <a:latin typeface="Arial"/>
            </a:endParaRPr>
          </a:p>
        </p:txBody>
      </p:sp>
      <p:sp>
        <p:nvSpPr>
          <p:cNvPr id="612" name="CustomShape 4"/>
          <p:cNvSpPr/>
          <p:nvPr/>
        </p:nvSpPr>
        <p:spPr>
          <a:xfrm>
            <a:off x="2127960" y="1757160"/>
            <a:ext cx="7935480" cy="155268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Gene expression fo Bradi3g51200 (sample ABR3_W_03):</a:t>
            </a:r>
            <a:endParaRPr b="0" lang="es-ES" sz="2400" spc="-1" strike="noStrike">
              <a:latin typeface="Arial"/>
            </a:endParaRPr>
          </a:p>
          <a:p>
            <a:pPr marL="343080" indent="-342720">
              <a:lnSpc>
                <a:spcPct val="100000"/>
              </a:lnSpc>
              <a:buClr>
                <a:srgbClr val="000000"/>
              </a:buClr>
              <a:buFont typeface="Wingdings" charset="2"/>
              <a:buChar char=""/>
            </a:pPr>
            <a:r>
              <a:rPr b="1" lang="en-US" sz="2400" spc="-1" strike="noStrike">
                <a:solidFill>
                  <a:srgbClr val="000000"/>
                </a:solidFill>
                <a:latin typeface="Consolas"/>
              </a:rPr>
              <a:t>est_counts = 60</a:t>
            </a:r>
            <a:endParaRPr b="0" lang="es-ES" sz="2400" spc="-1" strike="noStrike">
              <a:latin typeface="Arial"/>
            </a:endParaRPr>
          </a:p>
          <a:p>
            <a:pPr marL="343080" indent="-342720">
              <a:lnSpc>
                <a:spcPct val="100000"/>
              </a:lnSpc>
              <a:buClr>
                <a:srgbClr val="000000"/>
              </a:buClr>
              <a:buFont typeface="Wingdings" charset="2"/>
              <a:buChar char=""/>
            </a:pPr>
            <a:r>
              <a:rPr b="1" lang="en-US" sz="2400" spc="-1" strike="noStrike">
                <a:solidFill>
                  <a:srgbClr val="000000"/>
                </a:solidFill>
                <a:latin typeface="Consolas"/>
              </a:rPr>
              <a:t>TPM = 32.4646</a:t>
            </a:r>
            <a:endParaRPr b="0" lang="es-ES" sz="24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3"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14" name="CustomShape 2"/>
          <p:cNvSpPr/>
          <p:nvPr/>
        </p:nvSpPr>
        <p:spPr>
          <a:xfrm>
            <a:off x="808920" y="859680"/>
            <a:ext cx="10573920" cy="506124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marL="285840" indent="-285480">
              <a:lnSpc>
                <a:spcPct val="100000"/>
              </a:lnSpc>
              <a:spcBef>
                <a:spcPts val="601"/>
              </a:spcBef>
              <a:spcAft>
                <a:spcPts val="601"/>
              </a:spcAft>
              <a:buClr>
                <a:srgbClr val="000000"/>
              </a:buClr>
              <a:buFont typeface="Wingdings" charset="2"/>
              <a:buChar char=""/>
            </a:pPr>
            <a:r>
              <a:rPr b="0" lang="en-US" sz="1800" spc="-1" strike="noStrike">
                <a:solidFill>
                  <a:srgbClr val="000000"/>
                </a:solidFill>
                <a:latin typeface="Aptos"/>
              </a:rPr>
              <a:t>Into </a:t>
            </a:r>
            <a:r>
              <a:rPr b="0" lang="en-US" sz="1800" spc="-1" strike="noStrike">
                <a:solidFill>
                  <a:srgbClr val="000000"/>
                </a:solidFill>
                <a:latin typeface="Consolas"/>
              </a:rPr>
              <a:t>/data </a:t>
            </a:r>
            <a:r>
              <a:rPr b="0" lang="en-US" sz="1800" spc="-1" strike="noStrike">
                <a:solidFill>
                  <a:srgbClr val="000000"/>
                </a:solidFill>
                <a:latin typeface="Aptos"/>
              </a:rPr>
              <a:t>(Ubuntu WSL)</a:t>
            </a:r>
            <a:endParaRPr b="0" lang="es-ES" sz="1800" spc="-1" strike="noStrike">
              <a:latin typeface="Arial"/>
            </a:endParaRPr>
          </a:p>
          <a:p>
            <a:pPr lvl="1" marL="743040" indent="-285480">
              <a:lnSpc>
                <a:spcPct val="100000"/>
              </a:lnSpc>
              <a:spcBef>
                <a:spcPts val="601"/>
              </a:spcBef>
              <a:spcAft>
                <a:spcPts val="601"/>
              </a:spcAft>
              <a:buClr>
                <a:srgbClr val="000000"/>
              </a:buClr>
              <a:buFont typeface="Wingdings" charset="2"/>
              <a:buChar char=""/>
            </a:pPr>
            <a:r>
              <a:rPr b="0" lang="en-US" sz="1800" spc="-1" strike="noStrike">
                <a:solidFill>
                  <a:srgbClr val="000000"/>
                </a:solidFill>
                <a:latin typeface="Consolas"/>
              </a:rPr>
              <a:t>cp -r /home/vep/test_data/transcripts/brachy/05_WGCNA/ .</a:t>
            </a:r>
            <a:endParaRPr b="0" lang="es-ES" sz="1800" spc="-1" strike="noStrike">
              <a:latin typeface="Arial"/>
            </a:endParaRPr>
          </a:p>
          <a:p>
            <a:pPr lvl="1" marL="743040" indent="-285480">
              <a:lnSpc>
                <a:spcPct val="100000"/>
              </a:lnSpc>
              <a:spcBef>
                <a:spcPts val="601"/>
              </a:spcBef>
              <a:spcAft>
                <a:spcPts val="601"/>
              </a:spcAft>
              <a:buClr>
                <a:srgbClr val="000000"/>
              </a:buClr>
              <a:buFont typeface="Wingdings" charset="2"/>
              <a:buChar char=""/>
            </a:pPr>
            <a:r>
              <a:rPr b="0" lang="en-US" sz="1800" spc="-1" strike="noStrike">
                <a:solidFill>
                  <a:srgbClr val="000000"/>
                </a:solidFill>
                <a:latin typeface="Consolas"/>
              </a:rPr>
              <a:t>cp -r /home/vep/test_data/transcripts/brachy/04_Sleuth/ .</a:t>
            </a:r>
            <a:endParaRPr b="0" lang="es-ES" sz="1800" spc="-1" strike="noStrike">
              <a:latin typeface="Arial"/>
            </a:endParaRPr>
          </a:p>
          <a:p>
            <a:pPr lvl="1" marL="743040" indent="-285480">
              <a:lnSpc>
                <a:spcPct val="100000"/>
              </a:lnSpc>
              <a:spcBef>
                <a:spcPts val="601"/>
              </a:spcBef>
              <a:spcAft>
                <a:spcPts val="601"/>
              </a:spcAft>
              <a:buClr>
                <a:srgbClr val="000000"/>
              </a:buClr>
              <a:buFont typeface="Wingdings" charset="2"/>
              <a:buChar char=""/>
            </a:pPr>
            <a:r>
              <a:rPr b="0" lang="en-US" sz="1800" spc="-1" strike="noStrike">
                <a:solidFill>
                  <a:srgbClr val="000000"/>
                </a:solidFill>
                <a:latin typeface="Aptos"/>
              </a:rPr>
              <a:t>Extent permissions: </a:t>
            </a:r>
            <a:r>
              <a:rPr b="0" lang="en-US" sz="1800" spc="-1" strike="noStrike">
                <a:solidFill>
                  <a:srgbClr val="000000"/>
                </a:solidFill>
                <a:latin typeface="Consolas"/>
              </a:rPr>
              <a:t>chmod -R 777 04_Sleuth 05_WGCNA</a:t>
            </a:r>
            <a:endParaRPr b="0" lang="es-ES" sz="1800" spc="-1" strike="noStrike">
              <a:latin typeface="Arial"/>
            </a:endParaRPr>
          </a:p>
          <a:p>
            <a:pPr lvl="1" marL="743040" indent="-285480">
              <a:lnSpc>
                <a:spcPct val="100000"/>
              </a:lnSpc>
              <a:spcBef>
                <a:spcPts val="601"/>
              </a:spcBef>
              <a:spcAft>
                <a:spcPts val="601"/>
              </a:spcAft>
              <a:buClr>
                <a:srgbClr val="000000"/>
              </a:buClr>
              <a:buFont typeface="Wingdings" charset="2"/>
              <a:buChar char=""/>
            </a:pPr>
            <a:r>
              <a:rPr b="0" lang="en-US" sz="1800" spc="-1" strike="noStrike">
                <a:solidFill>
                  <a:srgbClr val="000000"/>
                </a:solidFill>
                <a:latin typeface="Aptos"/>
              </a:rPr>
              <a:t>Copy Rstudio scripts:</a:t>
            </a:r>
            <a:endParaRPr b="0" lang="es-ES" sz="1800" spc="-1" strike="noStrike">
              <a:latin typeface="Arial"/>
            </a:endParaRPr>
          </a:p>
          <a:p>
            <a:pPr lvl="2" marL="1200240" indent="-285480">
              <a:lnSpc>
                <a:spcPct val="100000"/>
              </a:lnSpc>
              <a:spcBef>
                <a:spcPts val="601"/>
              </a:spcBef>
              <a:spcAft>
                <a:spcPts val="601"/>
              </a:spcAft>
              <a:buClr>
                <a:srgbClr val="000000"/>
              </a:buClr>
              <a:buFont typeface="Courier New"/>
              <a:buChar char="o"/>
            </a:pPr>
            <a:r>
              <a:rPr b="0" lang="en-US" sz="1800" spc="-1" strike="noStrike">
                <a:solidFill>
                  <a:srgbClr val="000000"/>
                </a:solidFill>
                <a:latin typeface="Aptos"/>
              </a:rPr>
              <a:t>Copy Rstudio script "</a:t>
            </a:r>
            <a:r>
              <a:rPr b="0" lang="en-US" sz="1800" spc="-1" strike="noStrike">
                <a:solidFill>
                  <a:srgbClr val="000000"/>
                </a:solidFill>
                <a:latin typeface="Consolas"/>
              </a:rPr>
              <a:t>Practical_Sleuth.rmd</a:t>
            </a:r>
            <a:r>
              <a:rPr b="0" lang="en-US" sz="1800" spc="-1" strike="noStrike">
                <a:solidFill>
                  <a:srgbClr val="000000"/>
                </a:solidFill>
                <a:latin typeface="Aptos"/>
              </a:rPr>
              <a:t>" in </a:t>
            </a:r>
            <a:endParaRPr b="0" lang="es-ES" sz="1800" spc="-1" strike="noStrike">
              <a:latin typeface="Arial"/>
            </a:endParaRPr>
          </a:p>
          <a:p>
            <a:pPr marL="914400">
              <a:lnSpc>
                <a:spcPct val="100000"/>
              </a:lnSpc>
              <a:spcBef>
                <a:spcPts val="601"/>
              </a:spcBef>
              <a:spcAft>
                <a:spcPts val="601"/>
              </a:spcAft>
            </a:pPr>
            <a:r>
              <a:rPr b="0" lang="en-US" sz="1800" spc="-1" strike="noStrike">
                <a:solidFill>
                  <a:srgbClr val="000000"/>
                </a:solidFill>
                <a:latin typeface="Aptos"/>
              </a:rPr>
              <a:t>\\wsl.localhost\Ubuntu-22.04\home\iamz\transcriptome_class\04_Sleuth</a:t>
            </a:r>
            <a:endParaRPr b="0" lang="es-ES" sz="1800" spc="-1" strike="noStrike">
              <a:latin typeface="Arial"/>
            </a:endParaRPr>
          </a:p>
          <a:p>
            <a:pPr lvl="2" marL="1200240" indent="-285480">
              <a:lnSpc>
                <a:spcPct val="100000"/>
              </a:lnSpc>
              <a:spcBef>
                <a:spcPts val="601"/>
              </a:spcBef>
              <a:spcAft>
                <a:spcPts val="601"/>
              </a:spcAft>
              <a:buClr>
                <a:srgbClr val="000000"/>
              </a:buClr>
              <a:buFont typeface="Courier New"/>
              <a:buChar char="o"/>
            </a:pPr>
            <a:r>
              <a:rPr b="0" lang="en-US" sz="1800" spc="-1" strike="noStrike">
                <a:solidFill>
                  <a:srgbClr val="000000"/>
                </a:solidFill>
                <a:latin typeface="Aptos"/>
              </a:rPr>
              <a:t>Copy Rstudio script "</a:t>
            </a:r>
            <a:r>
              <a:rPr b="0" lang="en-US" sz="1800" spc="-1" strike="noStrike">
                <a:solidFill>
                  <a:srgbClr val="000000"/>
                </a:solidFill>
                <a:latin typeface="Consolas"/>
              </a:rPr>
              <a:t>Practical_WGCNA_W_dataset.rmd</a:t>
            </a:r>
            <a:r>
              <a:rPr b="0" lang="en-US" sz="1800" spc="-1" strike="noStrike">
                <a:solidFill>
                  <a:srgbClr val="000000"/>
                </a:solidFill>
                <a:latin typeface="Aptos"/>
              </a:rPr>
              <a:t>" in</a:t>
            </a:r>
            <a:endParaRPr b="0" lang="es-ES" sz="1800" spc="-1" strike="noStrike">
              <a:latin typeface="Arial"/>
            </a:endParaRPr>
          </a:p>
          <a:p>
            <a:pPr marL="914400">
              <a:lnSpc>
                <a:spcPct val="100000"/>
              </a:lnSpc>
              <a:spcBef>
                <a:spcPts val="601"/>
              </a:spcBef>
              <a:spcAft>
                <a:spcPts val="601"/>
              </a:spcAft>
            </a:pPr>
            <a:r>
              <a:rPr b="0" lang="en-US" sz="1800" spc="-1" strike="noStrike">
                <a:solidFill>
                  <a:srgbClr val="000000"/>
                </a:solidFill>
                <a:latin typeface="Aptos"/>
              </a:rPr>
              <a:t>\\wsl.localhost\Ubuntu-22.04\home\iamz\transcriptome_class\05_WGCNA</a:t>
            </a:r>
            <a:endParaRPr b="0" lang="es-ES" sz="1800" spc="-1" strike="noStrike">
              <a:latin typeface="Arial"/>
            </a:endParaRPr>
          </a:p>
          <a:p>
            <a:pPr lvl="2" marL="1200240" indent="-285480">
              <a:lnSpc>
                <a:spcPct val="100000"/>
              </a:lnSpc>
              <a:spcBef>
                <a:spcPts val="601"/>
              </a:spcBef>
              <a:spcAft>
                <a:spcPts val="601"/>
              </a:spcAft>
              <a:buClr>
                <a:srgbClr val="000000"/>
              </a:buClr>
              <a:buFont typeface="Courier New"/>
              <a:buChar char="o"/>
            </a:pPr>
            <a:r>
              <a:rPr b="0" lang="en-US" sz="1800" spc="-1" strike="noStrike">
                <a:solidFill>
                  <a:srgbClr val="000000"/>
                </a:solidFill>
                <a:latin typeface="Aptos"/>
              </a:rPr>
              <a:t>Copy Rstudio script "</a:t>
            </a:r>
            <a:r>
              <a:rPr b="0" lang="en-US" sz="1800" spc="-1" strike="noStrike">
                <a:solidFill>
                  <a:srgbClr val="000000"/>
                </a:solidFill>
                <a:latin typeface="Consolas"/>
              </a:rPr>
              <a:t>Practical_WGCNA_D_dataset.rmd</a:t>
            </a:r>
            <a:r>
              <a:rPr b="0" lang="en-US" sz="1800" spc="-1" strike="noStrike">
                <a:solidFill>
                  <a:srgbClr val="000000"/>
                </a:solidFill>
                <a:latin typeface="Aptos"/>
              </a:rPr>
              <a:t>" in</a:t>
            </a:r>
            <a:endParaRPr b="0" lang="es-ES" sz="1800" spc="-1" strike="noStrike">
              <a:latin typeface="Arial"/>
            </a:endParaRPr>
          </a:p>
          <a:p>
            <a:pPr marL="914400">
              <a:lnSpc>
                <a:spcPct val="100000"/>
              </a:lnSpc>
              <a:spcBef>
                <a:spcPts val="601"/>
              </a:spcBef>
              <a:spcAft>
                <a:spcPts val="601"/>
              </a:spcAft>
            </a:pPr>
            <a:r>
              <a:rPr b="0" lang="en-US" sz="1800" spc="-1" strike="noStrike">
                <a:solidFill>
                  <a:srgbClr val="000000"/>
                </a:solidFill>
                <a:latin typeface="Aptos"/>
              </a:rPr>
              <a:t>\\wsl.localhost\Ubuntu-22.04\home\iamz\transcriptome_class\05_WGCNA</a:t>
            </a:r>
            <a:endParaRPr b="0" lang="es-ES" sz="1800" spc="-1" strike="noStrike">
              <a:latin typeface="Arial"/>
            </a:endParaRPr>
          </a:p>
          <a:p>
            <a:pPr>
              <a:lnSpc>
                <a:spcPct val="100000"/>
              </a:lnSpc>
              <a:spcBef>
                <a:spcPts val="601"/>
              </a:spcBef>
              <a:spcAft>
                <a:spcPts val="601"/>
              </a:spcAft>
            </a:pPr>
            <a:endParaRPr b="0" lang="es-ES" sz="1800" spc="-1" strike="noStrike">
              <a:latin typeface="Arial"/>
            </a:endParaRPr>
          </a:p>
        </p:txBody>
      </p:sp>
      <p:sp>
        <p:nvSpPr>
          <p:cNvPr id="615" name="CustomShape 3"/>
          <p:cNvSpPr/>
          <p:nvPr/>
        </p:nvSpPr>
        <p:spPr>
          <a:xfrm>
            <a:off x="4270680" y="247320"/>
            <a:ext cx="365004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Readme (Sleuth and WGCNA)</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CustomShape 1"/>
          <p:cNvSpPr/>
          <p:nvPr/>
        </p:nvSpPr>
        <p:spPr>
          <a:xfrm>
            <a:off x="3738240" y="325080"/>
            <a:ext cx="4714920" cy="6994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Data exploration and DEGs with </a:t>
            </a:r>
            <a:r>
              <a:rPr b="1" lang="en-US" sz="2000" spc="-1" strike="noStrike">
                <a:solidFill>
                  <a:srgbClr val="000000"/>
                </a:solidFill>
                <a:latin typeface="Consolas"/>
              </a:rPr>
              <a:t>Sleuth</a:t>
            </a:r>
            <a:endParaRPr b="0" lang="es-ES" sz="2000" spc="-1" strike="noStrike">
              <a:latin typeface="Arial"/>
            </a:endParaRPr>
          </a:p>
        </p:txBody>
      </p:sp>
      <p:sp>
        <p:nvSpPr>
          <p:cNvPr id="617" name="CustomShape 2"/>
          <p:cNvSpPr/>
          <p:nvPr/>
        </p:nvSpPr>
        <p:spPr>
          <a:xfrm>
            <a:off x="802800" y="1464840"/>
            <a:ext cx="10716120" cy="82116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Task 05: Run the Sleuth pipeline to explore your data and DEGs.</a:t>
            </a:r>
            <a:endParaRPr b="0" lang="es-ES" sz="2400" spc="-1" strike="noStrike">
              <a:latin typeface="Arial"/>
            </a:endParaRPr>
          </a:p>
        </p:txBody>
      </p:sp>
      <p:sp>
        <p:nvSpPr>
          <p:cNvPr id="618" name="CustomShape 3"/>
          <p:cNvSpPr/>
          <p:nvPr/>
        </p:nvSpPr>
        <p:spPr>
          <a:xfrm>
            <a:off x="802800" y="2493720"/>
            <a:ext cx="10716120" cy="4561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Software: </a:t>
            </a:r>
            <a:r>
              <a:rPr b="0" lang="en-US" sz="2400" spc="-1" strike="noStrike">
                <a:solidFill>
                  <a:srgbClr val="000000"/>
                </a:solidFill>
                <a:latin typeface="Consolas"/>
              </a:rPr>
              <a:t>sleuth v.0.30.2</a:t>
            </a:r>
            <a:endParaRPr b="0" lang="es-ES" sz="2400" spc="-1" strike="noStrike">
              <a:latin typeface="Arial"/>
            </a:endParaRPr>
          </a:p>
        </p:txBody>
      </p:sp>
      <p:sp>
        <p:nvSpPr>
          <p:cNvPr id="619" name="CustomShape 4"/>
          <p:cNvSpPr/>
          <p:nvPr/>
        </p:nvSpPr>
        <p:spPr>
          <a:xfrm>
            <a:off x="802800" y="3609360"/>
            <a:ext cx="10716120" cy="1339560"/>
          </a:xfrm>
          <a:prstGeom prst="rect">
            <a:avLst/>
          </a:prstGeom>
          <a:noFill/>
          <a:ln>
            <a:noFill/>
          </a:ln>
        </p:spPr>
        <p:style>
          <a:lnRef idx="0"/>
          <a:fillRef idx="0"/>
          <a:effectRef idx="0"/>
          <a:fontRef idx="minor"/>
        </p:style>
        <p:txBody>
          <a:bodyPr lIns="90000" rIns="90000" tIns="45000" bIns="45000">
            <a:spAutoFit/>
          </a:bodyPr>
          <a:p>
            <a:pPr>
              <a:lnSpc>
                <a:spcPct val="100000"/>
              </a:lnSpc>
              <a:spcBef>
                <a:spcPts val="601"/>
              </a:spcBef>
              <a:spcAft>
                <a:spcPts val="601"/>
              </a:spcAft>
            </a:pPr>
            <a:r>
              <a:rPr b="1" lang="en-US" sz="2400" spc="-1" strike="noStrike">
                <a:solidFill>
                  <a:srgbClr val="000000"/>
                </a:solidFill>
                <a:latin typeface="Aptos"/>
              </a:rPr>
              <a:t>Pipeline in Rstudio: </a:t>
            </a:r>
            <a:r>
              <a:rPr b="0" lang="en-US" sz="2400" spc="-1" strike="noStrike">
                <a:solidFill>
                  <a:srgbClr val="000000"/>
                </a:solidFill>
                <a:latin typeface="Consolas"/>
              </a:rPr>
              <a:t>Practical_Sleuth.Rmd</a:t>
            </a:r>
            <a:endParaRPr b="0" lang="es-ES" sz="2400" spc="-1" strike="noStrike">
              <a:latin typeface="Arial"/>
            </a:endParaRPr>
          </a:p>
          <a:p>
            <a:pPr>
              <a:lnSpc>
                <a:spcPct val="100000"/>
              </a:lnSpc>
              <a:spcBef>
                <a:spcPts val="601"/>
              </a:spcBef>
              <a:spcAft>
                <a:spcPts val="601"/>
              </a:spcAft>
            </a:pPr>
            <a:r>
              <a:rPr b="0" lang="en-US" sz="2400" spc="-1" strike="noStrike">
                <a:solidFill>
                  <a:srgbClr val="000000"/>
                </a:solidFill>
                <a:latin typeface="Aptos"/>
              </a:rPr>
              <a:t>In</a:t>
            </a:r>
            <a:r>
              <a:rPr b="0" lang="en-US" sz="2400" spc="-1" strike="noStrike">
                <a:solidFill>
                  <a:srgbClr val="000000"/>
                </a:solidFill>
                <a:latin typeface="Consolas"/>
              </a:rPr>
              <a:t> </a:t>
            </a:r>
            <a:r>
              <a:rPr b="0" lang="en-US" sz="2400" spc="-1" strike="noStrike" u="sng">
                <a:solidFill>
                  <a:srgbClr val="467886"/>
                </a:solidFill>
                <a:uFillTx/>
                <a:latin typeface="Aptos"/>
                <a:hlinkClick r:id="rId1"/>
              </a:rPr>
              <a:t>\\wsl.localhost\Ubuntu-22.04\home\iamz\transcriptome_class\04_Sleuth</a:t>
            </a:r>
            <a:endParaRPr b="0" lang="es-ES" sz="24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0" name="CustomShape 1"/>
          <p:cNvSpPr/>
          <p:nvPr/>
        </p:nvSpPr>
        <p:spPr>
          <a:xfrm>
            <a:off x="3738240" y="630000"/>
            <a:ext cx="4714920" cy="6994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Data exploration and DEGs with </a:t>
            </a:r>
            <a:r>
              <a:rPr b="1" lang="en-US" sz="2000" spc="-1" strike="noStrike">
                <a:solidFill>
                  <a:srgbClr val="000000"/>
                </a:solidFill>
                <a:latin typeface="Consolas"/>
              </a:rPr>
              <a:t>Sleuth</a:t>
            </a:r>
            <a:endParaRPr b="0" lang="es-ES" sz="2000" spc="-1" strike="noStrike">
              <a:latin typeface="Arial"/>
            </a:endParaRPr>
          </a:p>
        </p:txBody>
      </p:sp>
      <p:sp>
        <p:nvSpPr>
          <p:cNvPr id="621" name="CustomShape 2"/>
          <p:cNvSpPr/>
          <p:nvPr/>
        </p:nvSpPr>
        <p:spPr>
          <a:xfrm>
            <a:off x="605160" y="1416600"/>
            <a:ext cx="10716120" cy="1552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Task 05.1: Use sleuth_live(so) to explore the boxplots of the Bradi1g06560.1 isoform/transcript expression (in TPMs) with respect to the experimental conditions (drought and irrigation).</a:t>
            </a:r>
            <a:endParaRPr b="0" lang="es-ES" sz="2400" spc="-1" strike="noStrike">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23" name="CustomShape 2"/>
          <p:cNvSpPr/>
          <p:nvPr/>
        </p:nvSpPr>
        <p:spPr>
          <a:xfrm>
            <a:off x="0" y="0"/>
            <a:ext cx="227916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 05.1</a:t>
            </a:r>
            <a:endParaRPr b="0" lang="es-ES" sz="2400" spc="-1" strike="noStrike">
              <a:latin typeface="Arial"/>
            </a:endParaRPr>
          </a:p>
        </p:txBody>
      </p:sp>
      <p:sp>
        <p:nvSpPr>
          <p:cNvPr id="624" name="CustomShape 3"/>
          <p:cNvSpPr/>
          <p:nvPr/>
        </p:nvSpPr>
        <p:spPr>
          <a:xfrm>
            <a:off x="3738240" y="266400"/>
            <a:ext cx="471492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Data exploration and DEGs with </a:t>
            </a:r>
            <a:r>
              <a:rPr b="1" lang="en-US" sz="2000" spc="-1" strike="noStrike">
                <a:solidFill>
                  <a:srgbClr val="000000"/>
                </a:solidFill>
                <a:latin typeface="Consolas"/>
              </a:rPr>
              <a:t>Sleuth</a:t>
            </a:r>
            <a:endParaRPr b="0" lang="es-ES" sz="2000" spc="-1" strike="noStrike">
              <a:latin typeface="Arial"/>
            </a:endParaRPr>
          </a:p>
        </p:txBody>
      </p:sp>
      <p:pic>
        <p:nvPicPr>
          <p:cNvPr id="625" name="Imagen 12" descr=""/>
          <p:cNvPicPr/>
          <p:nvPr/>
        </p:nvPicPr>
        <p:blipFill>
          <a:blip r:embed="rId1"/>
          <a:stretch/>
        </p:blipFill>
        <p:spPr>
          <a:xfrm>
            <a:off x="0" y="1527480"/>
            <a:ext cx="12191760" cy="5331240"/>
          </a:xfrm>
          <a:prstGeom prst="rect">
            <a:avLst/>
          </a:prstGeom>
          <a:ln>
            <a:noFill/>
          </a:ln>
        </p:spPr>
      </p:pic>
      <p:sp>
        <p:nvSpPr>
          <p:cNvPr id="626" name="CustomShape 4"/>
          <p:cNvSpPr/>
          <p:nvPr/>
        </p:nvSpPr>
        <p:spPr>
          <a:xfrm>
            <a:off x="3738240" y="1158120"/>
            <a:ext cx="471492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i="1" lang="en-US" sz="1800" spc="-1" strike="noStrike">
                <a:solidFill>
                  <a:srgbClr val="000000"/>
                </a:solidFill>
                <a:latin typeface="Aptos"/>
              </a:rPr>
              <a:t>Sleuth_live(so): analyses </a:t>
            </a:r>
            <a:r>
              <a:rPr b="1" i="1" lang="en-US" sz="1800" spc="-1" strike="noStrike">
                <a:solidFill>
                  <a:srgbClr val="000000"/>
                </a:solidFill>
                <a:latin typeface="Wingdings"/>
              </a:rPr>
              <a:t></a:t>
            </a:r>
            <a:r>
              <a:rPr b="1" i="1" lang="en-US" sz="1800" spc="-1" strike="noStrike">
                <a:solidFill>
                  <a:srgbClr val="000000"/>
                </a:solidFill>
                <a:latin typeface="Aptos"/>
              </a:rPr>
              <a:t> transcript view</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CustomShape 1"/>
          <p:cNvSpPr/>
          <p:nvPr/>
        </p:nvSpPr>
        <p:spPr>
          <a:xfrm>
            <a:off x="3738240" y="594720"/>
            <a:ext cx="4714920" cy="69948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Data exploration and DEGs with </a:t>
            </a:r>
            <a:r>
              <a:rPr b="1" lang="en-US" sz="2000" spc="-1" strike="noStrike">
                <a:solidFill>
                  <a:srgbClr val="000000"/>
                </a:solidFill>
                <a:latin typeface="Consolas"/>
              </a:rPr>
              <a:t>Sleuth</a:t>
            </a:r>
            <a:endParaRPr b="0" lang="es-ES" sz="2000" spc="-1" strike="noStrike">
              <a:latin typeface="Arial"/>
            </a:endParaRPr>
          </a:p>
        </p:txBody>
      </p:sp>
      <p:sp>
        <p:nvSpPr>
          <p:cNvPr id="628" name="CustomShape 2"/>
          <p:cNvSpPr/>
          <p:nvPr/>
        </p:nvSpPr>
        <p:spPr>
          <a:xfrm>
            <a:off x="737640" y="1781280"/>
            <a:ext cx="10716120" cy="15526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Task 05.2: Use sleuth_live(so) to explore the heatmap of the following isoforms: Bradi1g06560.1 Bradi2g54810.2 Bradi4g08240.1 Bradi4g31150.1.</a:t>
            </a:r>
            <a:endParaRPr b="0" lang="es-ES" sz="2400" spc="-1" strike="noStrike">
              <a:latin typeface="Arial"/>
            </a:endParaRPr>
          </a:p>
          <a:p>
            <a:pPr>
              <a:lnSpc>
                <a:spcPct val="100000"/>
              </a:lnSpc>
            </a:pPr>
            <a:r>
              <a:rPr b="1" lang="en-US" sz="2400" spc="-1" strike="noStrike">
                <a:solidFill>
                  <a:srgbClr val="000000"/>
                </a:solidFill>
                <a:latin typeface="Aptos"/>
              </a:rPr>
              <a:t>Use as covariate “condition” and as units TPMs.</a:t>
            </a:r>
            <a:endParaRPr b="0" lang="es-ES" sz="2400" spc="-1" strike="noStrike">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30" name="CustomShape 2"/>
          <p:cNvSpPr/>
          <p:nvPr/>
        </p:nvSpPr>
        <p:spPr>
          <a:xfrm>
            <a:off x="0" y="0"/>
            <a:ext cx="2279160" cy="8211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i="1" lang="en-US" sz="2400" spc="-1" strike="noStrike">
                <a:solidFill>
                  <a:srgbClr val="000000"/>
                </a:solidFill>
                <a:latin typeface="Aptos"/>
              </a:rPr>
              <a:t>Answer 05.2</a:t>
            </a:r>
            <a:endParaRPr b="0" lang="es-ES" sz="2400" spc="-1" strike="noStrike">
              <a:latin typeface="Arial"/>
            </a:endParaRPr>
          </a:p>
        </p:txBody>
      </p:sp>
      <p:sp>
        <p:nvSpPr>
          <p:cNvPr id="631" name="CustomShape 3"/>
          <p:cNvSpPr/>
          <p:nvPr/>
        </p:nvSpPr>
        <p:spPr>
          <a:xfrm>
            <a:off x="3738240" y="266400"/>
            <a:ext cx="471492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Data exploration and DEGs with </a:t>
            </a:r>
            <a:r>
              <a:rPr b="1" lang="en-US" sz="2000" spc="-1" strike="noStrike">
                <a:solidFill>
                  <a:srgbClr val="000000"/>
                </a:solidFill>
                <a:latin typeface="Consolas"/>
              </a:rPr>
              <a:t>Sleuth</a:t>
            </a:r>
            <a:endParaRPr b="0" lang="es-ES" sz="2000" spc="-1" strike="noStrike">
              <a:latin typeface="Arial"/>
            </a:endParaRPr>
          </a:p>
        </p:txBody>
      </p:sp>
      <p:pic>
        <p:nvPicPr>
          <p:cNvPr id="632" name="Imagen 11" descr=""/>
          <p:cNvPicPr/>
          <p:nvPr/>
        </p:nvPicPr>
        <p:blipFill>
          <a:blip r:embed="rId1"/>
          <a:stretch/>
        </p:blipFill>
        <p:spPr>
          <a:xfrm>
            <a:off x="0" y="1302480"/>
            <a:ext cx="12191760" cy="6060240"/>
          </a:xfrm>
          <a:prstGeom prst="rect">
            <a:avLst/>
          </a:prstGeom>
          <a:ln>
            <a:noFill/>
          </a:ln>
        </p:spPr>
      </p:pic>
      <p:sp>
        <p:nvSpPr>
          <p:cNvPr id="633" name="CustomShape 4"/>
          <p:cNvSpPr/>
          <p:nvPr/>
        </p:nvSpPr>
        <p:spPr>
          <a:xfrm>
            <a:off x="3876120" y="933120"/>
            <a:ext cx="443916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i="1" lang="en-US" sz="1800" spc="-1" strike="noStrike">
                <a:solidFill>
                  <a:srgbClr val="000000"/>
                </a:solidFill>
                <a:latin typeface="Aptos"/>
              </a:rPr>
              <a:t>Sleuth_live(so): analyses </a:t>
            </a:r>
            <a:r>
              <a:rPr b="1" i="1" lang="en-US" sz="1800" spc="-1" strike="noStrike">
                <a:solidFill>
                  <a:srgbClr val="000000"/>
                </a:solidFill>
                <a:latin typeface="Wingdings"/>
              </a:rPr>
              <a:t></a:t>
            </a:r>
            <a:r>
              <a:rPr b="1" i="1" lang="en-US" sz="1800" spc="-1" strike="noStrike">
                <a:solidFill>
                  <a:srgbClr val="000000"/>
                </a:solidFill>
                <a:latin typeface="Aptos"/>
              </a:rPr>
              <a:t> heatmap</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35" name="CustomShape 2"/>
          <p:cNvSpPr/>
          <p:nvPr/>
        </p:nvSpPr>
        <p:spPr>
          <a:xfrm>
            <a:off x="3738240" y="266400"/>
            <a:ext cx="471492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Data exploration and DEGs with </a:t>
            </a:r>
            <a:r>
              <a:rPr b="1" lang="en-US" sz="2000" spc="-1" strike="noStrike">
                <a:solidFill>
                  <a:srgbClr val="000000"/>
                </a:solidFill>
                <a:latin typeface="Consolas"/>
              </a:rPr>
              <a:t>Sleuth</a:t>
            </a:r>
            <a:endParaRPr b="0" lang="es-ES" sz="2000" spc="-1" strike="noStrike">
              <a:latin typeface="Arial"/>
            </a:endParaRPr>
          </a:p>
        </p:txBody>
      </p:sp>
      <p:pic>
        <p:nvPicPr>
          <p:cNvPr id="636" name="Imagen 3" descr="Gráfico, Gráfico de dispersión&#10;&#10;El contenido generado por IA puede ser incorrecto."/>
          <p:cNvPicPr/>
          <p:nvPr/>
        </p:nvPicPr>
        <p:blipFill>
          <a:blip r:embed="rId1"/>
          <a:stretch/>
        </p:blipFill>
        <p:spPr>
          <a:xfrm>
            <a:off x="0" y="2297880"/>
            <a:ext cx="12191760" cy="3735000"/>
          </a:xfrm>
          <a:prstGeom prst="rect">
            <a:avLst/>
          </a:prstGeom>
          <a:ln>
            <a:noFill/>
          </a:ln>
        </p:spPr>
      </p:pic>
      <p:sp>
        <p:nvSpPr>
          <p:cNvPr id="637" name="CustomShape 3"/>
          <p:cNvSpPr/>
          <p:nvPr/>
        </p:nvSpPr>
        <p:spPr>
          <a:xfrm>
            <a:off x="3876120" y="1297440"/>
            <a:ext cx="443916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i="1" lang="en-US" sz="1800" spc="-1" strike="noStrike">
                <a:solidFill>
                  <a:srgbClr val="000000"/>
                </a:solidFill>
                <a:latin typeface="Aptos"/>
              </a:rPr>
              <a:t>Sleuth_live(so): analyses </a:t>
            </a:r>
            <a:r>
              <a:rPr b="1" i="1" lang="en-US" sz="1800" spc="-1" strike="noStrike">
                <a:solidFill>
                  <a:srgbClr val="000000"/>
                </a:solidFill>
                <a:latin typeface="Wingdings"/>
              </a:rPr>
              <a:t></a:t>
            </a:r>
            <a:r>
              <a:rPr b="1" i="1" lang="en-US" sz="1800" spc="-1" strike="noStrike">
                <a:solidFill>
                  <a:srgbClr val="000000"/>
                </a:solidFill>
                <a:latin typeface="Aptos"/>
              </a:rPr>
              <a:t> volcano plot</a:t>
            </a:r>
            <a:endParaRPr b="0" lang="es-ES" sz="1800" spc="-1" strike="noStrike">
              <a:latin typeface="Arial"/>
            </a:endParaRPr>
          </a:p>
        </p:txBody>
      </p:sp>
      <p:sp>
        <p:nvSpPr>
          <p:cNvPr id="638" name="CustomShape 4"/>
          <p:cNvSpPr/>
          <p:nvPr/>
        </p:nvSpPr>
        <p:spPr>
          <a:xfrm>
            <a:off x="324000" y="6076440"/>
            <a:ext cx="1154412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000000"/>
                </a:solidFill>
                <a:latin typeface="Aptos"/>
              </a:rPr>
              <a:t>X-axis (log2 fold change)</a:t>
            </a:r>
            <a:r>
              <a:rPr b="0" lang="en-US" sz="1800" spc="-1" strike="noStrike">
                <a:solidFill>
                  <a:srgbClr val="000000"/>
                </a:solidFill>
                <a:latin typeface="Aptos"/>
              </a:rPr>
              <a:t> This represents the </a:t>
            </a:r>
            <a:r>
              <a:rPr b="1" lang="en-US" sz="1800" spc="-1" strike="noStrike">
                <a:solidFill>
                  <a:srgbClr val="000000"/>
                </a:solidFill>
                <a:latin typeface="Aptos"/>
              </a:rPr>
              <a:t>magnitude of change in gene expression</a:t>
            </a:r>
            <a:r>
              <a:rPr b="0" lang="en-US" sz="1800" spc="-1" strike="noStrike">
                <a:solidFill>
                  <a:srgbClr val="000000"/>
                </a:solidFill>
                <a:latin typeface="Aptos"/>
              </a:rPr>
              <a:t> between two conditions.</a:t>
            </a:r>
            <a:endParaRPr b="0" lang="es-ES" sz="1800" spc="-1" strike="noStrike">
              <a:latin typeface="Arial"/>
            </a:endParaRPr>
          </a:p>
        </p:txBody>
      </p:sp>
      <p:sp>
        <p:nvSpPr>
          <p:cNvPr id="639" name="CustomShape 5"/>
          <p:cNvSpPr/>
          <p:nvPr/>
        </p:nvSpPr>
        <p:spPr>
          <a:xfrm rot="16200000">
            <a:off x="-1682640" y="4305600"/>
            <a:ext cx="4317480" cy="3034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1400" spc="-1" strike="noStrike">
                <a:solidFill>
                  <a:srgbClr val="000000"/>
                </a:solidFill>
                <a:latin typeface="Aptos"/>
              </a:rPr>
              <a:t>Statistical significance</a:t>
            </a:r>
            <a:r>
              <a:rPr b="0" lang="en-US" sz="1400" spc="-1" strike="noStrike">
                <a:solidFill>
                  <a:srgbClr val="000000"/>
                </a:solidFill>
                <a:latin typeface="Aptos"/>
              </a:rPr>
              <a:t> of the change</a:t>
            </a:r>
            <a:endParaRPr b="0" lang="es-ES" sz="1400" spc="-1" strike="noStrike">
              <a:latin typeface="Arial"/>
            </a:endParaRPr>
          </a:p>
        </p:txBody>
      </p:sp>
      <p:sp>
        <p:nvSpPr>
          <p:cNvPr id="640" name="CustomShape 6"/>
          <p:cNvSpPr/>
          <p:nvPr/>
        </p:nvSpPr>
        <p:spPr>
          <a:xfrm>
            <a:off x="3589200" y="3276720"/>
            <a:ext cx="3756240" cy="360"/>
          </a:xfrm>
          <a:custGeom>
            <a:avLst/>
            <a:gdLst/>
            <a:ahLst/>
            <a:rect l="l" t="t" r="r" b="b"/>
            <a:pathLst>
              <a:path w="21600" h="21600">
                <a:moveTo>
                  <a:pt x="0" y="0"/>
                </a:moveTo>
                <a:lnTo>
                  <a:pt x="21600" y="21600"/>
                </a:lnTo>
              </a:path>
            </a:pathLst>
          </a:custGeom>
          <a:noFill/>
          <a:ln>
            <a:solidFill>
              <a:schemeClr val="tx1"/>
            </a:solidFill>
            <a:headEnd len="med" type="triangle" w="med"/>
            <a:tailEnd len="med" type="triangle" w="med"/>
          </a:ln>
        </p:spPr>
        <p:style>
          <a:lnRef idx="2">
            <a:schemeClr val="accent1"/>
          </a:lnRef>
          <a:fillRef idx="0">
            <a:schemeClr val="accent1"/>
          </a:fillRef>
          <a:effectRef idx="1">
            <a:schemeClr val="accent1"/>
          </a:effectRef>
          <a:fontRef idx="minor"/>
        </p:style>
      </p:sp>
      <p:sp>
        <p:nvSpPr>
          <p:cNvPr id="641" name="CustomShape 7"/>
          <p:cNvSpPr/>
          <p:nvPr/>
        </p:nvSpPr>
        <p:spPr>
          <a:xfrm>
            <a:off x="5775840" y="2937960"/>
            <a:ext cx="1698840" cy="3034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s-ES" sz="1400" spc="-1" strike="noStrike">
                <a:solidFill>
                  <a:srgbClr val="000000"/>
                </a:solidFill>
                <a:latin typeface="Aptos"/>
              </a:rPr>
              <a:t>Up-regulated (+)</a:t>
            </a:r>
            <a:endParaRPr b="0" lang="es-ES" sz="1400" spc="-1" strike="noStrike">
              <a:latin typeface="Arial"/>
            </a:endParaRPr>
          </a:p>
        </p:txBody>
      </p:sp>
      <p:sp>
        <p:nvSpPr>
          <p:cNvPr id="642" name="CustomShape 8"/>
          <p:cNvSpPr/>
          <p:nvPr/>
        </p:nvSpPr>
        <p:spPr>
          <a:xfrm>
            <a:off x="3589200" y="2937960"/>
            <a:ext cx="1698840" cy="5158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s-ES" sz="1400" spc="-1" strike="noStrike">
                <a:solidFill>
                  <a:srgbClr val="000000"/>
                </a:solidFill>
                <a:latin typeface="Aptos"/>
              </a:rPr>
              <a:t>Down-regulated (-)</a:t>
            </a:r>
            <a:endParaRPr b="0" lang="es-ES" sz="1400" spc="-1" strike="noStrike">
              <a:latin typeface="Arial"/>
            </a:endParaRPr>
          </a:p>
        </p:txBody>
      </p:sp>
      <p:sp>
        <p:nvSpPr>
          <p:cNvPr id="643" name="CustomShape 9"/>
          <p:cNvSpPr/>
          <p:nvPr/>
        </p:nvSpPr>
        <p:spPr>
          <a:xfrm flipV="1">
            <a:off x="631800" y="3368160"/>
            <a:ext cx="360" cy="1836000"/>
          </a:xfrm>
          <a:custGeom>
            <a:avLst/>
            <a:gdLst/>
            <a:ahLst/>
            <a:rect l="l" t="t" r="r" b="b"/>
            <a:pathLst>
              <a:path w="21600" h="21600">
                <a:moveTo>
                  <a:pt x="0" y="0"/>
                </a:moveTo>
                <a:lnTo>
                  <a:pt x="21600" y="21600"/>
                </a:lnTo>
              </a:path>
            </a:pathLst>
          </a:custGeom>
          <a:noFill/>
          <a:ln>
            <a:tailEnd len="med" type="triangle" w="med"/>
          </a:ln>
        </p:spPr>
        <p:style>
          <a:lnRef idx="2">
            <a:schemeClr val="dk1"/>
          </a:lnRef>
          <a:fillRef idx="0">
            <a:schemeClr val="dk1"/>
          </a:fillRef>
          <a:effectRef idx="1">
            <a:schemeClr val="dk1"/>
          </a:effectRef>
          <a:fontRef idx="minor"/>
        </p:style>
      </p:sp>
      <p:sp>
        <p:nvSpPr>
          <p:cNvPr id="644" name="CustomShape 10"/>
          <p:cNvSpPr/>
          <p:nvPr/>
        </p:nvSpPr>
        <p:spPr>
          <a:xfrm>
            <a:off x="6187320" y="2476440"/>
            <a:ext cx="982800" cy="306000"/>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46" name="CustomShape 2"/>
          <p:cNvSpPr/>
          <p:nvPr/>
        </p:nvSpPr>
        <p:spPr>
          <a:xfrm>
            <a:off x="3738240" y="266400"/>
            <a:ext cx="471492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Data exploration and DEGs with </a:t>
            </a:r>
            <a:r>
              <a:rPr b="1" lang="en-US" sz="2000" spc="-1" strike="noStrike">
                <a:solidFill>
                  <a:srgbClr val="000000"/>
                </a:solidFill>
                <a:latin typeface="Consolas"/>
              </a:rPr>
              <a:t>Sleuth</a:t>
            </a:r>
            <a:endParaRPr b="0" lang="es-ES" sz="2000" spc="-1" strike="noStrike">
              <a:latin typeface="Arial"/>
            </a:endParaRPr>
          </a:p>
        </p:txBody>
      </p:sp>
      <p:pic>
        <p:nvPicPr>
          <p:cNvPr id="647" name="Imagen 3" descr="Interfaz de usuario gráfica, Texto, Aplicación&#10;&#10;El contenido generado por IA puede ser incorrecto."/>
          <p:cNvPicPr/>
          <p:nvPr/>
        </p:nvPicPr>
        <p:blipFill>
          <a:blip r:embed="rId1"/>
          <a:stretch/>
        </p:blipFill>
        <p:spPr>
          <a:xfrm>
            <a:off x="0" y="1324800"/>
            <a:ext cx="12191760" cy="5061600"/>
          </a:xfrm>
          <a:prstGeom prst="rect">
            <a:avLst/>
          </a:prstGeom>
          <a:ln>
            <a:noFill/>
          </a:ln>
        </p:spPr>
      </p:pic>
      <p:sp>
        <p:nvSpPr>
          <p:cNvPr id="648" name="CustomShape 3"/>
          <p:cNvSpPr/>
          <p:nvPr/>
        </p:nvSpPr>
        <p:spPr>
          <a:xfrm>
            <a:off x="3876120" y="865800"/>
            <a:ext cx="443916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i="1" lang="en-US" sz="1800" spc="-1" strike="noStrike">
                <a:solidFill>
                  <a:srgbClr val="000000"/>
                </a:solidFill>
                <a:latin typeface="Aptos"/>
              </a:rPr>
              <a:t>Sleuth_live(so): summaries </a:t>
            </a:r>
            <a:r>
              <a:rPr b="1" i="1" lang="en-US" sz="1800" spc="-1" strike="noStrike">
                <a:solidFill>
                  <a:srgbClr val="000000"/>
                </a:solidFill>
                <a:latin typeface="Wingdings"/>
              </a:rPr>
              <a:t></a:t>
            </a:r>
            <a:r>
              <a:rPr b="1" i="1" lang="en-US" sz="1800" spc="-1" strike="noStrike">
                <a:solidFill>
                  <a:srgbClr val="000000"/>
                </a:solidFill>
                <a:latin typeface="Aptos"/>
              </a:rPr>
              <a:t>  densities</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50" name="CustomShape 2"/>
          <p:cNvSpPr/>
          <p:nvPr/>
        </p:nvSpPr>
        <p:spPr>
          <a:xfrm>
            <a:off x="3738240" y="266400"/>
            <a:ext cx="471492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Data exploration and DEGs with </a:t>
            </a:r>
            <a:r>
              <a:rPr b="1" lang="en-US" sz="2000" spc="-1" strike="noStrike">
                <a:solidFill>
                  <a:srgbClr val="000000"/>
                </a:solidFill>
                <a:latin typeface="Consolas"/>
              </a:rPr>
              <a:t>Sleuth</a:t>
            </a:r>
            <a:endParaRPr b="0" lang="es-ES" sz="2000" spc="-1" strike="noStrike">
              <a:latin typeface="Arial"/>
            </a:endParaRPr>
          </a:p>
        </p:txBody>
      </p:sp>
      <p:sp>
        <p:nvSpPr>
          <p:cNvPr id="651" name="CustomShape 3"/>
          <p:cNvSpPr/>
          <p:nvPr/>
        </p:nvSpPr>
        <p:spPr>
          <a:xfrm>
            <a:off x="3177720" y="933120"/>
            <a:ext cx="583632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i="1" lang="en-US" sz="1800" spc="-1" strike="noStrike">
                <a:solidFill>
                  <a:srgbClr val="000000"/>
                </a:solidFill>
                <a:latin typeface="Aptos"/>
              </a:rPr>
              <a:t>Sleuth_live(so): diagnostics </a:t>
            </a:r>
            <a:r>
              <a:rPr b="1" i="1" lang="en-US" sz="1800" spc="-1" strike="noStrike">
                <a:solidFill>
                  <a:srgbClr val="000000"/>
                </a:solidFill>
                <a:latin typeface="Wingdings"/>
              </a:rPr>
              <a:t></a:t>
            </a:r>
            <a:r>
              <a:rPr b="1" i="1" lang="en-US" sz="1800" spc="-1" strike="noStrike">
                <a:solidFill>
                  <a:srgbClr val="000000"/>
                </a:solidFill>
                <a:latin typeface="Aptos"/>
              </a:rPr>
              <a:t>  mean-variance plot</a:t>
            </a:r>
            <a:endParaRPr b="0" lang="es-ES" sz="1800" spc="-1" strike="noStrike">
              <a:latin typeface="Arial"/>
            </a:endParaRPr>
          </a:p>
        </p:txBody>
      </p:sp>
      <p:pic>
        <p:nvPicPr>
          <p:cNvPr id="652" name="Imagen 5" descr="Interfaz de usuario gráfica, Gráfico, Aplicación, Gráfico de dispersión&#10;&#10;El contenido generado por IA puede ser incorrecto."/>
          <p:cNvPicPr/>
          <p:nvPr/>
        </p:nvPicPr>
        <p:blipFill>
          <a:blip r:embed="rId1"/>
          <a:stretch/>
        </p:blipFill>
        <p:spPr>
          <a:xfrm>
            <a:off x="0" y="2075040"/>
            <a:ext cx="12191760" cy="3849480"/>
          </a:xfrm>
          <a:prstGeom prst="rect">
            <a:avLst/>
          </a:prstGeom>
          <a:ln>
            <a:noFill/>
          </a:ln>
        </p:spPr>
      </p:pic>
      <p:sp>
        <p:nvSpPr>
          <p:cNvPr id="653" name="CustomShape 4"/>
          <p:cNvSpPr/>
          <p:nvPr/>
        </p:nvSpPr>
        <p:spPr>
          <a:xfrm>
            <a:off x="4399200" y="5924880"/>
            <a:ext cx="3393000" cy="33372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s-ES" sz="1600" spc="-1" strike="noStrike">
                <a:solidFill>
                  <a:srgbClr val="000000"/>
                </a:solidFill>
                <a:latin typeface="Aptos"/>
              </a:rPr>
              <a:t>X (Abundance)</a:t>
            </a:r>
            <a:endParaRPr b="0" lang="es-ES" sz="1600" spc="-1" strike="noStrike">
              <a:latin typeface="Arial"/>
            </a:endParaRPr>
          </a:p>
        </p:txBody>
      </p:sp>
      <p:sp>
        <p:nvSpPr>
          <p:cNvPr id="654" name="CustomShape 5"/>
          <p:cNvSpPr/>
          <p:nvPr/>
        </p:nvSpPr>
        <p:spPr>
          <a:xfrm rot="16200000">
            <a:off x="-673560" y="3844080"/>
            <a:ext cx="2512440" cy="81972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s-ES" sz="1600" spc="-1" strike="noStrike">
                <a:solidFill>
                  <a:srgbClr val="000000"/>
                </a:solidFill>
                <a:latin typeface="Aptos"/>
              </a:rPr>
              <a:t>Y ()</a:t>
            </a:r>
            <a:endParaRPr b="0" lang="es-ES" sz="1600" spc="-1" strike="noStrike">
              <a:latin typeface="Arial"/>
            </a:endParaRPr>
          </a:p>
          <a:p>
            <a:pPr algn="ctr">
              <a:lnSpc>
                <a:spcPct val="100000"/>
              </a:lnSpc>
            </a:pPr>
            <a:r>
              <a:rPr b="0" lang="es-ES" sz="1600" spc="-1" strike="noStrike">
                <a:solidFill>
                  <a:srgbClr val="000000"/>
                </a:solidFill>
                <a:latin typeface="Aptos"/>
              </a:rPr>
              <a:t>(variability in expression)</a:t>
            </a:r>
            <a:endParaRPr b="0" lang="es-ES" sz="1600" spc="-1" strike="noStrike">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56" name="CustomShape 2"/>
          <p:cNvSpPr/>
          <p:nvPr/>
        </p:nvSpPr>
        <p:spPr>
          <a:xfrm>
            <a:off x="3738240" y="416160"/>
            <a:ext cx="471492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Data exploration and DEGs with </a:t>
            </a:r>
            <a:r>
              <a:rPr b="1" lang="en-US" sz="2000" spc="-1" strike="noStrike">
                <a:solidFill>
                  <a:srgbClr val="000000"/>
                </a:solidFill>
                <a:latin typeface="Consolas"/>
              </a:rPr>
              <a:t>Sleuth</a:t>
            </a:r>
            <a:endParaRPr b="0" lang="es-ES" sz="2000" spc="-1" strike="noStrike">
              <a:latin typeface="Arial"/>
            </a:endParaRPr>
          </a:p>
        </p:txBody>
      </p:sp>
      <p:sp>
        <p:nvSpPr>
          <p:cNvPr id="657" name="CustomShape 3"/>
          <p:cNvSpPr/>
          <p:nvPr/>
        </p:nvSpPr>
        <p:spPr>
          <a:xfrm>
            <a:off x="3177720" y="1082520"/>
            <a:ext cx="5836320" cy="3646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i="1" lang="en-US" sz="1800" spc="-1" strike="noStrike">
                <a:solidFill>
                  <a:srgbClr val="000000"/>
                </a:solidFill>
                <a:latin typeface="Aptos"/>
              </a:rPr>
              <a:t>Sleuth_live(so): diagnostics </a:t>
            </a:r>
            <a:r>
              <a:rPr b="1" i="1" lang="en-US" sz="1800" spc="-1" strike="noStrike">
                <a:solidFill>
                  <a:srgbClr val="000000"/>
                </a:solidFill>
                <a:latin typeface="Wingdings"/>
              </a:rPr>
              <a:t></a:t>
            </a:r>
            <a:r>
              <a:rPr b="1" i="1" lang="en-US" sz="1800" spc="-1" strike="noStrike">
                <a:solidFill>
                  <a:srgbClr val="000000"/>
                </a:solidFill>
                <a:latin typeface="Aptos"/>
              </a:rPr>
              <a:t>  Q-Q plot</a:t>
            </a:r>
            <a:endParaRPr b="0" lang="es-ES" sz="1800" spc="-1" strike="noStrike">
              <a:latin typeface="Arial"/>
            </a:endParaRPr>
          </a:p>
        </p:txBody>
      </p:sp>
      <p:pic>
        <p:nvPicPr>
          <p:cNvPr id="658" name="Imagen 5" descr="Interfaz de usuario gráfica, Gráfico, Gráfico de líneas&#10;&#10;El contenido generado por IA puede ser incorrecto."/>
          <p:cNvPicPr/>
          <p:nvPr/>
        </p:nvPicPr>
        <p:blipFill>
          <a:blip r:embed="rId1"/>
          <a:stretch/>
        </p:blipFill>
        <p:spPr>
          <a:xfrm>
            <a:off x="0" y="1674360"/>
            <a:ext cx="12191760" cy="4250160"/>
          </a:xfrm>
          <a:prstGeom prst="rect">
            <a:avLst/>
          </a:prstGeom>
          <a:ln>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60" name="CustomShape 2"/>
          <p:cNvSpPr/>
          <p:nvPr/>
        </p:nvSpPr>
        <p:spPr>
          <a:xfrm>
            <a:off x="3738240" y="453960"/>
            <a:ext cx="4714920" cy="69948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Data exploration and DEGs with </a:t>
            </a:r>
            <a:r>
              <a:rPr b="1" lang="en-US" sz="2000" spc="-1" strike="noStrike">
                <a:solidFill>
                  <a:srgbClr val="000000"/>
                </a:solidFill>
                <a:latin typeface="Consolas"/>
              </a:rPr>
              <a:t>Sleuth</a:t>
            </a:r>
            <a:endParaRPr b="0" lang="es-ES" sz="2000" spc="-1" strike="noStrike">
              <a:latin typeface="Arial"/>
            </a:endParaRPr>
          </a:p>
        </p:txBody>
      </p:sp>
      <p:sp>
        <p:nvSpPr>
          <p:cNvPr id="661" name="CustomShape 3"/>
          <p:cNvSpPr/>
          <p:nvPr/>
        </p:nvSpPr>
        <p:spPr>
          <a:xfrm>
            <a:off x="842400" y="1708200"/>
            <a:ext cx="10506960" cy="3233160"/>
          </a:xfrm>
          <a:prstGeom prst="rect">
            <a:avLst/>
          </a:prstGeom>
          <a:solidFill>
            <a:schemeClr val="bg1"/>
          </a:solidFill>
          <a:ln>
            <a:noFill/>
          </a:ln>
        </p:spPr>
        <p:style>
          <a:lnRef idx="0"/>
          <a:fillRef idx="0"/>
          <a:effectRef idx="0"/>
          <a:fontRef idx="minor"/>
        </p:style>
        <p:txBody>
          <a:bodyPr lIns="144000" rIns="144000" tIns="108000" bIns="108000">
            <a:spAutoFit/>
          </a:bodyPr>
          <a:p>
            <a:pPr marL="343080" indent="-342720" algn="just">
              <a:lnSpc>
                <a:spcPct val="100000"/>
              </a:lnSpc>
              <a:spcBef>
                <a:spcPts val="601"/>
              </a:spcBef>
              <a:spcAft>
                <a:spcPts val="1199"/>
              </a:spcAft>
              <a:buClr>
                <a:srgbClr val="000000"/>
              </a:buClr>
              <a:buFont typeface="Wingdings" charset="2"/>
              <a:buChar char=""/>
            </a:pPr>
            <a:r>
              <a:rPr b="1" lang="en-US" sz="2400" spc="-1" strike="noStrike">
                <a:solidFill>
                  <a:srgbClr val="000000"/>
                </a:solidFill>
                <a:latin typeface="Aptos"/>
              </a:rPr>
              <a:t>Sleuth</a:t>
            </a:r>
            <a:r>
              <a:rPr b="0" lang="en-US" sz="2400" spc="-1" strike="noStrike">
                <a:solidFill>
                  <a:srgbClr val="000000"/>
                </a:solidFill>
                <a:latin typeface="Aptos"/>
              </a:rPr>
              <a:t> is a powerful R package designed to analyze gene expression values ​​calculated by the </a:t>
            </a:r>
            <a:r>
              <a:rPr b="1" lang="en-US" sz="2400" spc="-1" strike="noStrike">
                <a:solidFill>
                  <a:srgbClr val="000000"/>
                </a:solidFill>
                <a:latin typeface="Aptos"/>
              </a:rPr>
              <a:t>Kallisto</a:t>
            </a:r>
            <a:r>
              <a:rPr b="0" lang="en-US" sz="2400" spc="-1" strike="noStrike">
                <a:solidFill>
                  <a:srgbClr val="000000"/>
                </a:solidFill>
                <a:latin typeface="Aptos"/>
              </a:rPr>
              <a:t> software (pseudo-aligner).</a:t>
            </a:r>
            <a:endParaRPr b="0" lang="es-ES" sz="2400" spc="-1" strike="noStrike">
              <a:latin typeface="Arial"/>
            </a:endParaRPr>
          </a:p>
          <a:p>
            <a:pPr marL="343080" indent="-342720" algn="just">
              <a:lnSpc>
                <a:spcPct val="100000"/>
              </a:lnSpc>
              <a:spcBef>
                <a:spcPts val="601"/>
              </a:spcBef>
              <a:spcAft>
                <a:spcPts val="1199"/>
              </a:spcAft>
              <a:buClr>
                <a:srgbClr val="000000"/>
              </a:buClr>
              <a:buFont typeface="Wingdings" charset="2"/>
              <a:buChar char=""/>
            </a:pPr>
            <a:r>
              <a:rPr b="1" lang="en-US" sz="2400" spc="-1" strike="noStrike">
                <a:solidFill>
                  <a:srgbClr val="000000"/>
                </a:solidFill>
                <a:latin typeface="Aptos"/>
              </a:rPr>
              <a:t>Sleuth</a:t>
            </a:r>
            <a:r>
              <a:rPr b="0" lang="en-US" sz="2400" spc="-1" strike="noStrike">
                <a:solidFill>
                  <a:srgbClr val="000000"/>
                </a:solidFill>
                <a:latin typeface="Aptos"/>
              </a:rPr>
              <a:t> allows for </a:t>
            </a:r>
            <a:r>
              <a:rPr b="1" lang="en-US" sz="2400" spc="-1" strike="noStrike">
                <a:solidFill>
                  <a:srgbClr val="000000"/>
                </a:solidFill>
                <a:latin typeface="Aptos"/>
              </a:rPr>
              <a:t>exploring</a:t>
            </a:r>
            <a:r>
              <a:rPr b="0" lang="en-US" sz="2400" spc="-1" strike="noStrike">
                <a:solidFill>
                  <a:srgbClr val="000000"/>
                </a:solidFill>
                <a:latin typeface="Aptos"/>
              </a:rPr>
              <a:t> and </a:t>
            </a:r>
            <a:r>
              <a:rPr b="1" lang="en-US" sz="2400" spc="-1" strike="noStrike">
                <a:solidFill>
                  <a:srgbClr val="000000"/>
                </a:solidFill>
                <a:latin typeface="Aptos"/>
              </a:rPr>
              <a:t>visualizing</a:t>
            </a:r>
            <a:r>
              <a:rPr b="0" lang="en-US" sz="2400" spc="-1" strike="noStrike">
                <a:solidFill>
                  <a:srgbClr val="000000"/>
                </a:solidFill>
                <a:latin typeface="Aptos"/>
              </a:rPr>
              <a:t> the data, which is essential for this type of analysis.</a:t>
            </a:r>
            <a:endParaRPr b="0" lang="es-ES" sz="2400" spc="-1" strike="noStrike">
              <a:latin typeface="Arial"/>
            </a:endParaRPr>
          </a:p>
          <a:p>
            <a:pPr marL="343080" indent="-342720" algn="just">
              <a:lnSpc>
                <a:spcPct val="100000"/>
              </a:lnSpc>
              <a:spcBef>
                <a:spcPts val="601"/>
              </a:spcBef>
              <a:spcAft>
                <a:spcPts val="1199"/>
              </a:spcAft>
              <a:buClr>
                <a:srgbClr val="000000"/>
              </a:buClr>
              <a:buFont typeface="Wingdings" charset="2"/>
              <a:buChar char=""/>
            </a:pPr>
            <a:r>
              <a:rPr b="1" lang="en-US" sz="2400" spc="-1" strike="noStrike">
                <a:solidFill>
                  <a:srgbClr val="000000"/>
                </a:solidFill>
                <a:latin typeface="Aptos"/>
              </a:rPr>
              <a:t>Sleuth</a:t>
            </a:r>
            <a:r>
              <a:rPr b="0" lang="en-US" sz="2400" spc="-1" strike="noStrike">
                <a:solidFill>
                  <a:srgbClr val="000000"/>
                </a:solidFill>
                <a:latin typeface="Aptos"/>
              </a:rPr>
              <a:t> also allows for the identification of </a:t>
            </a:r>
            <a:r>
              <a:rPr b="1" lang="en-US" sz="2400" spc="-1" strike="noStrike">
                <a:solidFill>
                  <a:srgbClr val="000000"/>
                </a:solidFill>
                <a:latin typeface="Aptos"/>
              </a:rPr>
              <a:t>differentially expressed genes (DEGs)</a:t>
            </a:r>
            <a:r>
              <a:rPr b="0" lang="en-US" sz="2400" spc="-1" strike="noStrike">
                <a:solidFill>
                  <a:srgbClr val="000000"/>
                </a:solidFill>
                <a:latin typeface="Aptos"/>
              </a:rPr>
              <a:t>.</a:t>
            </a:r>
            <a:endParaRPr b="0" lang="es-ES" sz="2400" spc="-1" strike="noStrike">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2" name="CustomShape 1"/>
          <p:cNvSpPr/>
          <p:nvPr/>
        </p:nvSpPr>
        <p:spPr>
          <a:xfrm>
            <a:off x="2604600" y="315720"/>
            <a:ext cx="6982200" cy="39456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Co-expression Network with WGCNA</a:t>
            </a:r>
            <a:endParaRPr b="0" lang="es-ES" sz="2000" spc="-1" strike="noStrike">
              <a:latin typeface="Arial"/>
            </a:endParaRPr>
          </a:p>
        </p:txBody>
      </p:sp>
      <p:sp>
        <p:nvSpPr>
          <p:cNvPr id="663" name="CustomShape 2"/>
          <p:cNvSpPr/>
          <p:nvPr/>
        </p:nvSpPr>
        <p:spPr>
          <a:xfrm>
            <a:off x="802800" y="1464840"/>
            <a:ext cx="10716120" cy="8218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Task 05: Run the WGCNA pipeline to construct and explore the co-expression network.</a:t>
            </a:r>
            <a:endParaRPr b="0" lang="es-ES" sz="2400" spc="-1" strike="noStrike">
              <a:latin typeface="Arial"/>
            </a:endParaRPr>
          </a:p>
        </p:txBody>
      </p:sp>
      <p:sp>
        <p:nvSpPr>
          <p:cNvPr id="664" name="CustomShape 3"/>
          <p:cNvSpPr/>
          <p:nvPr/>
        </p:nvSpPr>
        <p:spPr>
          <a:xfrm>
            <a:off x="802800" y="2607840"/>
            <a:ext cx="10716120" cy="45612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n-US" sz="2400" spc="-1" strike="noStrike">
                <a:solidFill>
                  <a:srgbClr val="000000"/>
                </a:solidFill>
                <a:latin typeface="Aptos"/>
              </a:rPr>
              <a:t>Software: </a:t>
            </a:r>
            <a:r>
              <a:rPr b="0" lang="en-US" sz="2400" spc="-1" strike="noStrike">
                <a:solidFill>
                  <a:srgbClr val="000000"/>
                </a:solidFill>
                <a:latin typeface="Consolas"/>
              </a:rPr>
              <a:t>WGCNA v.1.73 </a:t>
            </a:r>
            <a:endParaRPr b="0" lang="es-ES" sz="2400" spc="-1" strike="noStrike">
              <a:latin typeface="Arial"/>
            </a:endParaRPr>
          </a:p>
        </p:txBody>
      </p:sp>
      <p:sp>
        <p:nvSpPr>
          <p:cNvPr id="665" name="CustomShape 4"/>
          <p:cNvSpPr/>
          <p:nvPr/>
        </p:nvSpPr>
        <p:spPr>
          <a:xfrm>
            <a:off x="802800" y="3609360"/>
            <a:ext cx="10716120" cy="1339560"/>
          </a:xfrm>
          <a:prstGeom prst="rect">
            <a:avLst/>
          </a:prstGeom>
          <a:noFill/>
          <a:ln>
            <a:noFill/>
          </a:ln>
        </p:spPr>
        <p:style>
          <a:lnRef idx="0"/>
          <a:fillRef idx="0"/>
          <a:effectRef idx="0"/>
          <a:fontRef idx="minor"/>
        </p:style>
        <p:txBody>
          <a:bodyPr lIns="90000" rIns="90000" tIns="45000" bIns="45000">
            <a:spAutoFit/>
          </a:bodyPr>
          <a:p>
            <a:pPr>
              <a:lnSpc>
                <a:spcPct val="100000"/>
              </a:lnSpc>
              <a:spcBef>
                <a:spcPts val="601"/>
              </a:spcBef>
              <a:spcAft>
                <a:spcPts val="601"/>
              </a:spcAft>
            </a:pPr>
            <a:r>
              <a:rPr b="1" lang="en-US" sz="2400" spc="-1" strike="noStrike">
                <a:solidFill>
                  <a:srgbClr val="000000"/>
                </a:solidFill>
                <a:latin typeface="Aptos"/>
              </a:rPr>
              <a:t>Pipeline in Rstudio: </a:t>
            </a:r>
            <a:r>
              <a:rPr b="0" lang="en-US" sz="2400" spc="-1" strike="noStrike">
                <a:solidFill>
                  <a:srgbClr val="000000"/>
                </a:solidFill>
                <a:latin typeface="Consolas"/>
              </a:rPr>
              <a:t>Practical_WGCNA.Rmd</a:t>
            </a:r>
            <a:endParaRPr b="0" lang="es-ES" sz="2400" spc="-1" strike="noStrike">
              <a:latin typeface="Arial"/>
            </a:endParaRPr>
          </a:p>
          <a:p>
            <a:pPr>
              <a:lnSpc>
                <a:spcPct val="100000"/>
              </a:lnSpc>
              <a:spcBef>
                <a:spcPts val="601"/>
              </a:spcBef>
              <a:spcAft>
                <a:spcPts val="601"/>
              </a:spcAft>
            </a:pPr>
            <a:r>
              <a:rPr b="0" lang="en-US" sz="2400" spc="-1" strike="noStrike">
                <a:solidFill>
                  <a:srgbClr val="000000"/>
                </a:solidFill>
                <a:latin typeface="Aptos"/>
              </a:rPr>
              <a:t>In</a:t>
            </a:r>
            <a:r>
              <a:rPr b="0" lang="en-US" sz="2400" spc="-1" strike="noStrike">
                <a:solidFill>
                  <a:srgbClr val="000000"/>
                </a:solidFill>
                <a:latin typeface="Consolas"/>
              </a:rPr>
              <a:t> </a:t>
            </a:r>
            <a:r>
              <a:rPr b="0" lang="en-US" sz="2400" spc="-1" strike="noStrike" u="sng">
                <a:solidFill>
                  <a:srgbClr val="467886"/>
                </a:solidFill>
                <a:uFillTx/>
                <a:latin typeface="Aptos"/>
                <a:hlinkClick r:id="rId1"/>
              </a:rPr>
              <a:t>\\wsl.localhost\Ubuntu-22.04\home\iamz\transcriptome_class\05_WGCNA</a:t>
            </a:r>
            <a:endParaRPr b="0" lang="es-ES" sz="2400" spc="-1" strike="noStrike">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67" name="CustomShape 2"/>
          <p:cNvSpPr/>
          <p:nvPr/>
        </p:nvSpPr>
        <p:spPr>
          <a:xfrm>
            <a:off x="2604600" y="315720"/>
            <a:ext cx="6982200" cy="39456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Co-expression Network with WGCNA</a:t>
            </a:r>
            <a:endParaRPr b="0" lang="es-ES" sz="2000" spc="-1" strike="noStrike">
              <a:latin typeface="Arial"/>
            </a:endParaRPr>
          </a:p>
        </p:txBody>
      </p:sp>
      <p:pic>
        <p:nvPicPr>
          <p:cNvPr id="668" name="Imagen 3" descr=""/>
          <p:cNvPicPr/>
          <p:nvPr/>
        </p:nvPicPr>
        <p:blipFill>
          <a:blip r:embed="rId1"/>
          <a:stretch/>
        </p:blipFill>
        <p:spPr>
          <a:xfrm>
            <a:off x="1603800" y="1520640"/>
            <a:ext cx="8334000" cy="5143320"/>
          </a:xfrm>
          <a:prstGeom prst="rect">
            <a:avLst/>
          </a:prstGeom>
          <a:ln>
            <a:noFill/>
          </a:ln>
        </p:spPr>
      </p:pic>
      <p:sp>
        <p:nvSpPr>
          <p:cNvPr id="669" name="CustomShape 3"/>
          <p:cNvSpPr/>
          <p:nvPr/>
        </p:nvSpPr>
        <p:spPr>
          <a:xfrm>
            <a:off x="4399200" y="933480"/>
            <a:ext cx="3393000" cy="33372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lang="es-ES" sz="1600" spc="-1" strike="noStrike">
                <a:solidFill>
                  <a:srgbClr val="000000"/>
                </a:solidFill>
                <a:latin typeface="Aptos"/>
              </a:rPr>
              <a:t>Outliers Detection</a:t>
            </a:r>
            <a:endParaRPr b="0" lang="es-ES" sz="1600" spc="-1" strike="noStrike">
              <a:latin typeface="Arial"/>
            </a:endParaRPr>
          </a:p>
        </p:txBody>
      </p:sp>
      <p:sp>
        <p:nvSpPr>
          <p:cNvPr id="670" name="CustomShape 4"/>
          <p:cNvSpPr/>
          <p:nvPr/>
        </p:nvSpPr>
        <p:spPr>
          <a:xfrm>
            <a:off x="8260200" y="2286000"/>
            <a:ext cx="1554120" cy="4255920"/>
          </a:xfrm>
          <a:custGeom>
            <a:avLst/>
            <a:gdLst/>
            <a:ahLst/>
            <a:rect l="l" t="t" r="r" b="b"/>
            <a:pathLst>
              <a:path w="1554480" h="4256116">
                <a:moveTo>
                  <a:pt x="0" y="259085"/>
                </a:moveTo>
                <a:cubicBezTo>
                  <a:pt x="30454" y="119216"/>
                  <a:pt x="79496" y="10804"/>
                  <a:pt x="259085" y="0"/>
                </a:cubicBezTo>
                <a:cubicBezTo>
                  <a:pt x="429545" y="-35062"/>
                  <a:pt x="585612" y="32963"/>
                  <a:pt x="746151" y="0"/>
                </a:cubicBezTo>
                <a:cubicBezTo>
                  <a:pt x="906690" y="-32963"/>
                  <a:pt x="1177672" y="10831"/>
                  <a:pt x="1295395" y="0"/>
                </a:cubicBezTo>
                <a:cubicBezTo>
                  <a:pt x="1437733" y="6098"/>
                  <a:pt x="1537418" y="113989"/>
                  <a:pt x="1554480" y="259085"/>
                </a:cubicBezTo>
                <a:cubicBezTo>
                  <a:pt x="1594964" y="513719"/>
                  <a:pt x="1539453" y="557364"/>
                  <a:pt x="1554480" y="830457"/>
                </a:cubicBezTo>
                <a:cubicBezTo>
                  <a:pt x="1569507" y="1103550"/>
                  <a:pt x="1528615" y="1174522"/>
                  <a:pt x="1554480" y="1289690"/>
                </a:cubicBezTo>
                <a:cubicBezTo>
                  <a:pt x="1580345" y="1404858"/>
                  <a:pt x="1497665" y="1623443"/>
                  <a:pt x="1554480" y="1898441"/>
                </a:cubicBezTo>
                <a:cubicBezTo>
                  <a:pt x="1611295" y="2173439"/>
                  <a:pt x="1553483" y="2143655"/>
                  <a:pt x="1554480" y="2357675"/>
                </a:cubicBezTo>
                <a:cubicBezTo>
                  <a:pt x="1555477" y="2571695"/>
                  <a:pt x="1546792" y="2642321"/>
                  <a:pt x="1554480" y="2816908"/>
                </a:cubicBezTo>
                <a:cubicBezTo>
                  <a:pt x="1562168" y="2991495"/>
                  <a:pt x="1544913" y="3262126"/>
                  <a:pt x="1554480" y="3388280"/>
                </a:cubicBezTo>
                <a:cubicBezTo>
                  <a:pt x="1564047" y="3514434"/>
                  <a:pt x="1482868" y="3705249"/>
                  <a:pt x="1554480" y="3997031"/>
                </a:cubicBezTo>
                <a:cubicBezTo>
                  <a:pt x="1537002" y="4132867"/>
                  <a:pt x="1432615" y="4243778"/>
                  <a:pt x="1295395" y="4256116"/>
                </a:cubicBezTo>
                <a:cubicBezTo>
                  <a:pt x="1087812" y="4294732"/>
                  <a:pt x="1003244" y="4251836"/>
                  <a:pt x="756514" y="4256116"/>
                </a:cubicBezTo>
                <a:cubicBezTo>
                  <a:pt x="509784" y="4260396"/>
                  <a:pt x="390691" y="4241320"/>
                  <a:pt x="259085" y="4256116"/>
                </a:cubicBezTo>
                <a:cubicBezTo>
                  <a:pt x="108407" y="4257591"/>
                  <a:pt x="-31308" y="4158213"/>
                  <a:pt x="0" y="3997031"/>
                </a:cubicBezTo>
                <a:cubicBezTo>
                  <a:pt x="-8573" y="3771689"/>
                  <a:pt x="42037" y="3752641"/>
                  <a:pt x="0" y="3537798"/>
                </a:cubicBezTo>
                <a:cubicBezTo>
                  <a:pt x="-42037" y="3322955"/>
                  <a:pt x="32227" y="3064081"/>
                  <a:pt x="0" y="2929046"/>
                </a:cubicBezTo>
                <a:cubicBezTo>
                  <a:pt x="-32227" y="2794011"/>
                  <a:pt x="27451" y="2610183"/>
                  <a:pt x="0" y="2320295"/>
                </a:cubicBezTo>
                <a:cubicBezTo>
                  <a:pt x="-27451" y="2030407"/>
                  <a:pt x="35498" y="2003275"/>
                  <a:pt x="0" y="1898441"/>
                </a:cubicBezTo>
                <a:cubicBezTo>
                  <a:pt x="-35498" y="1793607"/>
                  <a:pt x="26375" y="1504795"/>
                  <a:pt x="0" y="1327070"/>
                </a:cubicBezTo>
                <a:cubicBezTo>
                  <a:pt x="-26375" y="1149345"/>
                  <a:pt x="7096" y="1053560"/>
                  <a:pt x="0" y="867836"/>
                </a:cubicBezTo>
                <a:cubicBezTo>
                  <a:pt x="-7096" y="682112"/>
                  <a:pt x="8074" y="444782"/>
                  <a:pt x="0" y="259085"/>
                </a:cubicBezTo>
                <a:close/>
              </a:path>
            </a:pathLst>
          </a:custGeom>
          <a:noFill/>
          <a:ln>
            <a:solidFill>
              <a:srgbClr val="7030a0"/>
            </a:solidFill>
          </a:ln>
        </p:spPr>
        <p:style>
          <a:lnRef idx="2">
            <a:schemeClr val="accent1">
              <a:shade val="15000"/>
            </a:schemeClr>
          </a:lnRef>
          <a:fillRef idx="1">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72" name="CustomShape 2"/>
          <p:cNvSpPr/>
          <p:nvPr/>
        </p:nvSpPr>
        <p:spPr>
          <a:xfrm>
            <a:off x="2604600" y="315720"/>
            <a:ext cx="6982200" cy="39456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Co-expression Network with WGCNA</a:t>
            </a:r>
            <a:endParaRPr b="0" lang="es-ES" sz="2000" spc="-1" strike="noStrike">
              <a:latin typeface="Arial"/>
            </a:endParaRPr>
          </a:p>
        </p:txBody>
      </p:sp>
      <p:grpSp>
        <p:nvGrpSpPr>
          <p:cNvPr id="673" name="Group 3"/>
          <p:cNvGrpSpPr/>
          <p:nvPr/>
        </p:nvGrpSpPr>
        <p:grpSpPr>
          <a:xfrm>
            <a:off x="3048120" y="757440"/>
            <a:ext cx="6095520" cy="1072440"/>
            <a:chOff x="3048120" y="757440"/>
            <a:chExt cx="6095520" cy="1072440"/>
          </a:xfrm>
        </p:grpSpPr>
        <p:sp>
          <p:nvSpPr>
            <p:cNvPr id="674" name="CustomShape 4"/>
            <p:cNvSpPr/>
            <p:nvPr/>
          </p:nvSpPr>
          <p:spPr>
            <a:xfrm>
              <a:off x="3048120" y="757440"/>
              <a:ext cx="6095520" cy="1072440"/>
            </a:xfrm>
            <a:prstGeom prst="rect">
              <a:avLst/>
            </a:prstGeom>
            <a:solidFill>
              <a:schemeClr val="bg1"/>
            </a:solidFill>
            <a:ln>
              <a:noFill/>
            </a:ln>
          </p:spPr>
          <p:style>
            <a:lnRef idx="0"/>
            <a:fillRef idx="0"/>
            <a:effectRef idx="0"/>
            <a:fontRef idx="minor"/>
          </p:style>
          <p:txBody>
            <a:bodyPr lIns="90000" rIns="90000" tIns="45000" bIns="45000">
              <a:spAutoFit/>
            </a:bodyPr>
            <a:p>
              <a:pPr>
                <a:lnSpc>
                  <a:spcPct val="100000"/>
                </a:lnSpc>
              </a:pPr>
              <a:r>
                <a:rPr b="0" lang="en-US" sz="1800" spc="-1" strike="noStrike">
                  <a:solidFill>
                    <a:srgbClr val="000000"/>
                  </a:solidFill>
                  <a:latin typeface="Aptos"/>
                </a:rPr>
                <a:t>Soft-thresholding powers selection for network construction</a:t>
              </a:r>
              <a:endParaRPr b="0" lang="es-ES" sz="1800" spc="-1" strike="noStrike">
                <a:latin typeface="Arial"/>
              </a:endParaRPr>
            </a:p>
            <a:p>
              <a:pPr>
                <a:lnSpc>
                  <a:spcPct val="100000"/>
                </a:lnSpc>
              </a:pPr>
              <a:endParaRPr b="0" lang="es-ES" sz="1800" spc="-1" strike="noStrike">
                <a:latin typeface="Arial"/>
              </a:endParaRPr>
            </a:p>
            <a:p>
              <a:pPr>
                <a:lnSpc>
                  <a:spcPct val="100000"/>
                </a:lnSpc>
              </a:pPr>
              <a:endParaRPr b="0" lang="es-ES" sz="1800" spc="-1" strike="noStrike">
                <a:latin typeface="Arial"/>
              </a:endParaRPr>
            </a:p>
          </p:txBody>
        </p:sp>
        <p:pic>
          <p:nvPicPr>
            <p:cNvPr id="675" name="Imagen 4" descr=""/>
            <p:cNvPicPr/>
            <p:nvPr/>
          </p:nvPicPr>
          <p:blipFill>
            <a:blip r:embed="rId1"/>
            <a:stretch/>
          </p:blipFill>
          <p:spPr>
            <a:xfrm>
              <a:off x="5527080" y="1075680"/>
              <a:ext cx="972000" cy="490320"/>
            </a:xfrm>
            <a:prstGeom prst="rect">
              <a:avLst/>
            </a:prstGeom>
            <a:ln>
              <a:noFill/>
            </a:ln>
          </p:spPr>
        </p:pic>
      </p:grpSp>
      <p:sp>
        <p:nvSpPr>
          <p:cNvPr id="676" name="CustomShape 5"/>
          <p:cNvSpPr/>
          <p:nvPr/>
        </p:nvSpPr>
        <p:spPr>
          <a:xfrm flipH="1">
            <a:off x="6489360" y="1246320"/>
            <a:ext cx="416160" cy="360"/>
          </a:xfrm>
          <a:custGeom>
            <a:avLst/>
            <a:gdLst/>
            <a:ahLst/>
            <a:rect l="l" t="t" r="r" b="b"/>
            <a:pathLst>
              <a:path w="21600" h="21600">
                <a:moveTo>
                  <a:pt x="0" y="0"/>
                </a:moveTo>
                <a:lnTo>
                  <a:pt x="21600" y="21600"/>
                </a:lnTo>
              </a:path>
            </a:pathLst>
          </a:custGeom>
          <a:noFill/>
          <a:ln w="57240">
            <a:solidFill>
              <a:srgbClr val="ff0000"/>
            </a:solidFill>
            <a:tailEnd len="med" type="triangle" w="med"/>
          </a:ln>
        </p:spPr>
        <p:style>
          <a:lnRef idx="2">
            <a:schemeClr val="accent1"/>
          </a:lnRef>
          <a:fillRef idx="0">
            <a:schemeClr val="accent1"/>
          </a:fillRef>
          <a:effectRef idx="1">
            <a:schemeClr val="accent1"/>
          </a:effectRef>
          <a:fontRef idx="minor"/>
        </p:style>
      </p:sp>
      <p:pic>
        <p:nvPicPr>
          <p:cNvPr id="677" name="Imagen 10" descr=""/>
          <p:cNvPicPr/>
          <p:nvPr/>
        </p:nvPicPr>
        <p:blipFill>
          <a:blip r:embed="rId2"/>
          <a:stretch/>
        </p:blipFill>
        <p:spPr>
          <a:xfrm>
            <a:off x="4946760" y="1884600"/>
            <a:ext cx="7120800" cy="4394520"/>
          </a:xfrm>
          <a:prstGeom prst="rect">
            <a:avLst/>
          </a:prstGeom>
          <a:ln>
            <a:noFill/>
          </a:ln>
        </p:spPr>
      </p:pic>
      <p:pic>
        <p:nvPicPr>
          <p:cNvPr id="678" name="Imagen 12" descr="Tabla&#10;&#10;El contenido generado por IA puede ser incorrecto."/>
          <p:cNvPicPr/>
          <p:nvPr/>
        </p:nvPicPr>
        <p:blipFill>
          <a:blip r:embed="rId3"/>
          <a:srcRect l="0" t="0" r="77564" b="0"/>
          <a:stretch/>
        </p:blipFill>
        <p:spPr>
          <a:xfrm>
            <a:off x="445320" y="1990440"/>
            <a:ext cx="2094120" cy="2876760"/>
          </a:xfrm>
          <a:prstGeom prst="rect">
            <a:avLst/>
          </a:prstGeom>
          <a:ln>
            <a:noFill/>
          </a:ln>
        </p:spPr>
      </p:pic>
      <p:pic>
        <p:nvPicPr>
          <p:cNvPr id="679" name="Imagen 13" descr="Tabla&#10;&#10;El contenido generado por IA puede ser incorrecto."/>
          <p:cNvPicPr/>
          <p:nvPr/>
        </p:nvPicPr>
        <p:blipFill>
          <a:blip r:embed="rId4"/>
          <a:srcRect l="61229" t="0" r="28143" b="0"/>
          <a:stretch/>
        </p:blipFill>
        <p:spPr>
          <a:xfrm>
            <a:off x="2838240" y="1990440"/>
            <a:ext cx="991800" cy="2876760"/>
          </a:xfrm>
          <a:prstGeom prst="rect">
            <a:avLst/>
          </a:prstGeom>
          <a:ln>
            <a:noFill/>
          </a:ln>
        </p:spPr>
      </p:pic>
      <p:sp>
        <p:nvSpPr>
          <p:cNvPr id="680" name="CustomShape 6"/>
          <p:cNvSpPr/>
          <p:nvPr/>
        </p:nvSpPr>
        <p:spPr>
          <a:xfrm>
            <a:off x="792360" y="3429000"/>
            <a:ext cx="2976480" cy="197640"/>
          </a:xfrm>
          <a:prstGeom prst="roundRect">
            <a:avLst>
              <a:gd name="adj" fmla="val 16667"/>
            </a:avLst>
          </a:prstGeom>
          <a:no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p:style>
      </p:sp>
      <p:sp>
        <p:nvSpPr>
          <p:cNvPr id="681" name="CustomShape 7"/>
          <p:cNvSpPr/>
          <p:nvPr/>
        </p:nvSpPr>
        <p:spPr>
          <a:xfrm flipH="1" flipV="1">
            <a:off x="6360120" y="3077640"/>
            <a:ext cx="430560" cy="350280"/>
          </a:xfrm>
          <a:custGeom>
            <a:avLst/>
            <a:gdLst/>
            <a:ahLst/>
            <a:rect l="l" t="t" r="r" b="b"/>
            <a:pathLst>
              <a:path w="21600" h="21600">
                <a:moveTo>
                  <a:pt x="0" y="0"/>
                </a:moveTo>
                <a:lnTo>
                  <a:pt x="21600" y="21600"/>
                </a:lnTo>
              </a:path>
            </a:pathLst>
          </a:custGeom>
          <a:noFill/>
          <a:ln w="38160">
            <a:tailEnd len="med" type="triangle" w="med"/>
          </a:ln>
        </p:spPr>
        <p:style>
          <a:lnRef idx="1">
            <a:schemeClr val="dk1"/>
          </a:lnRef>
          <a:fillRef idx="0">
            <a:schemeClr val="dk1"/>
          </a:fillRef>
          <a:effectRef idx="0">
            <a:schemeClr val="dk1"/>
          </a:effectRef>
          <a:fontRef idx="minor"/>
        </p:style>
      </p:sp>
      <p:sp>
        <p:nvSpPr>
          <p:cNvPr id="682" name="CustomShape 8"/>
          <p:cNvSpPr/>
          <p:nvPr/>
        </p:nvSpPr>
        <p:spPr>
          <a:xfrm flipH="1">
            <a:off x="9894960" y="4561920"/>
            <a:ext cx="345240" cy="470520"/>
          </a:xfrm>
          <a:custGeom>
            <a:avLst/>
            <a:gdLst/>
            <a:ahLst/>
            <a:rect l="l" t="t" r="r" b="b"/>
            <a:pathLst>
              <a:path w="21600" h="21600">
                <a:moveTo>
                  <a:pt x="0" y="0"/>
                </a:moveTo>
                <a:lnTo>
                  <a:pt x="21600" y="21600"/>
                </a:lnTo>
              </a:path>
            </a:pathLst>
          </a:custGeom>
          <a:noFill/>
          <a:ln w="38160">
            <a:tailEnd len="med" type="triangle" w="med"/>
          </a:ln>
        </p:spPr>
        <p:style>
          <a:lnRef idx="1">
            <a:schemeClr val="dk1"/>
          </a:lnRef>
          <a:fillRef idx="0">
            <a:schemeClr val="dk1"/>
          </a:fillRef>
          <a:effectRef idx="0">
            <a:schemeClr val="dk1"/>
          </a:effectRef>
          <a:fontRef idx="minor"/>
        </p:style>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84" name="CustomShape 2"/>
          <p:cNvSpPr/>
          <p:nvPr/>
        </p:nvSpPr>
        <p:spPr>
          <a:xfrm>
            <a:off x="2604600" y="194040"/>
            <a:ext cx="6982200" cy="39456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Co-expression Network with WGCNA</a:t>
            </a:r>
            <a:endParaRPr b="0" lang="es-ES" sz="2000" spc="-1" strike="noStrike">
              <a:latin typeface="Arial"/>
            </a:endParaRPr>
          </a:p>
        </p:txBody>
      </p:sp>
      <p:pic>
        <p:nvPicPr>
          <p:cNvPr id="685" name="Imagen 2" descr=""/>
          <p:cNvPicPr/>
          <p:nvPr/>
        </p:nvPicPr>
        <p:blipFill>
          <a:blip r:embed="rId1"/>
          <a:stretch/>
        </p:blipFill>
        <p:spPr>
          <a:xfrm>
            <a:off x="2259360" y="1060200"/>
            <a:ext cx="7658280" cy="4726080"/>
          </a:xfrm>
          <a:prstGeom prst="rect">
            <a:avLst/>
          </a:prstGeom>
          <a:ln>
            <a:noFill/>
          </a:ln>
        </p:spPr>
      </p:pic>
      <p:sp>
        <p:nvSpPr>
          <p:cNvPr id="686" name="CustomShape 3"/>
          <p:cNvSpPr/>
          <p:nvPr/>
        </p:nvSpPr>
        <p:spPr>
          <a:xfrm>
            <a:off x="3830400" y="659160"/>
            <a:ext cx="4530960" cy="576360"/>
          </a:xfrm>
          <a:prstGeom prst="rect">
            <a:avLst/>
          </a:prstGeom>
          <a:solidFill>
            <a:schemeClr val="bg1"/>
          </a:solidFill>
          <a:ln>
            <a:noFill/>
          </a:ln>
        </p:spPr>
        <p:style>
          <a:lnRef idx="0"/>
          <a:fillRef idx="0"/>
          <a:effectRef idx="0"/>
          <a:fontRef idx="minor"/>
        </p:style>
        <p:txBody>
          <a:bodyPr lIns="90000" rIns="90000" tIns="45000" bIns="45000">
            <a:spAutoFit/>
          </a:bodyPr>
          <a:p>
            <a:pPr algn="ctr">
              <a:lnSpc>
                <a:spcPct val="100000"/>
              </a:lnSpc>
            </a:pPr>
            <a:r>
              <a:rPr b="1" lang="es-ES" sz="1600" spc="-1" strike="noStrike">
                <a:solidFill>
                  <a:srgbClr val="000000"/>
                </a:solidFill>
                <a:latin typeface="Aptos"/>
              </a:rPr>
              <a:t>Network construction and Module detection</a:t>
            </a:r>
            <a:endParaRPr b="0" lang="es-ES" sz="1600" spc="-1" strike="noStrike">
              <a:latin typeface="Arial"/>
            </a:endParaRPr>
          </a:p>
        </p:txBody>
      </p:sp>
      <p:sp>
        <p:nvSpPr>
          <p:cNvPr id="687" name="CustomShape 4"/>
          <p:cNvSpPr/>
          <p:nvPr/>
        </p:nvSpPr>
        <p:spPr>
          <a:xfrm>
            <a:off x="162720" y="5849280"/>
            <a:ext cx="11896920" cy="8204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n-US" sz="1600" spc="-1" strike="noStrike">
                <a:solidFill>
                  <a:srgbClr val="000000"/>
                </a:solidFill>
                <a:latin typeface="Aptos"/>
              </a:rPr>
              <a:t>The </a:t>
            </a:r>
            <a:r>
              <a:rPr b="1" i="1" lang="en-US" sz="1600" spc="-1" strike="noStrike">
                <a:solidFill>
                  <a:srgbClr val="000000"/>
                </a:solidFill>
                <a:latin typeface="Aptos"/>
              </a:rPr>
              <a:t>gray</a:t>
            </a:r>
            <a:r>
              <a:rPr b="0" lang="en-US" sz="1600" spc="-1" strike="noStrike">
                <a:solidFill>
                  <a:srgbClr val="000000"/>
                </a:solidFill>
                <a:latin typeface="Aptos"/>
              </a:rPr>
              <a:t> module represents unclustered genes (without an assigned module).</a:t>
            </a:r>
            <a:endParaRPr b="0" lang="es-ES" sz="1600" spc="-1" strike="noStrike">
              <a:latin typeface="Arial"/>
            </a:endParaRPr>
          </a:p>
          <a:p>
            <a:pPr>
              <a:lnSpc>
                <a:spcPct val="100000"/>
              </a:lnSpc>
            </a:pPr>
            <a:r>
              <a:rPr b="1" lang="en-US" sz="1600" spc="-1" strike="noStrike">
                <a:solidFill>
                  <a:srgbClr val="000000"/>
                </a:solidFill>
                <a:latin typeface="Aptos"/>
              </a:rPr>
              <a:t>Note</a:t>
            </a:r>
            <a:r>
              <a:rPr b="0" lang="en-US" sz="1600" spc="-1" strike="noStrike">
                <a:solidFill>
                  <a:srgbClr val="000000"/>
                </a:solidFill>
                <a:latin typeface="Aptos"/>
              </a:rPr>
              <a:t>: In this exercise, very few genes appear in "gray" because I filtered them beforehand to reduce the database size and speed up computation.</a:t>
            </a:r>
            <a:endParaRPr b="0" lang="es-ES" sz="1600" spc="-1" strike="noStrike">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89" name="CustomShape 2"/>
          <p:cNvSpPr/>
          <p:nvPr/>
        </p:nvSpPr>
        <p:spPr>
          <a:xfrm>
            <a:off x="2604600" y="84240"/>
            <a:ext cx="6982200" cy="39456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Co-expression Network with WGCNA</a:t>
            </a:r>
            <a:endParaRPr b="0" lang="es-ES" sz="2000" spc="-1" strike="noStrike">
              <a:latin typeface="Arial"/>
            </a:endParaRPr>
          </a:p>
        </p:txBody>
      </p:sp>
      <p:pic>
        <p:nvPicPr>
          <p:cNvPr id="690" name="Imagen 9" descr="Gráfico&#10;&#10;El contenido generado por IA puede ser incorrecto."/>
          <p:cNvPicPr/>
          <p:nvPr/>
        </p:nvPicPr>
        <p:blipFill>
          <a:blip r:embed="rId1"/>
          <a:srcRect l="0" t="1661" r="0" b="0"/>
          <a:stretch/>
        </p:blipFill>
        <p:spPr>
          <a:xfrm>
            <a:off x="3944160" y="538200"/>
            <a:ext cx="4405680" cy="6319440"/>
          </a:xfrm>
          <a:prstGeom prst="rect">
            <a:avLst/>
          </a:prstGeom>
          <a:ln>
            <a:noFill/>
          </a:ln>
        </p:spPr>
      </p:pic>
      <p:sp>
        <p:nvSpPr>
          <p:cNvPr id="691" name="CustomShape 3"/>
          <p:cNvSpPr/>
          <p:nvPr/>
        </p:nvSpPr>
        <p:spPr>
          <a:xfrm>
            <a:off x="480600" y="538200"/>
            <a:ext cx="2982960" cy="638280"/>
          </a:xfrm>
          <a:prstGeom prst="rect">
            <a:avLst/>
          </a:prstGeom>
          <a:noFill/>
          <a:ln>
            <a:noFill/>
          </a:ln>
        </p:spPr>
        <p:style>
          <a:lnRef idx="0"/>
          <a:fillRef idx="0"/>
          <a:effectRef idx="0"/>
          <a:fontRef idx="minor"/>
        </p:style>
        <p:txBody>
          <a:bodyPr lIns="90000" rIns="90000" tIns="45000" bIns="45000">
            <a:spAutoFit/>
          </a:bodyPr>
          <a:p>
            <a:pPr>
              <a:lnSpc>
                <a:spcPct val="100000"/>
              </a:lnSpc>
            </a:pPr>
            <a:r>
              <a:rPr b="1" lang="es-ES" sz="1800" spc="-1" strike="noStrike">
                <a:solidFill>
                  <a:srgbClr val="000000"/>
                </a:solidFill>
                <a:latin typeface="Aptos"/>
              </a:rPr>
              <a:t>Module-trait associations</a:t>
            </a:r>
            <a:endParaRPr b="0" lang="es-ES" sz="1800" spc="-1" strike="noStrike">
              <a:latin typeface="Arial"/>
            </a:endParaRPr>
          </a:p>
        </p:txBody>
      </p:sp>
      <p:sp>
        <p:nvSpPr>
          <p:cNvPr id="692" name="CustomShape 4"/>
          <p:cNvSpPr/>
          <p:nvPr/>
        </p:nvSpPr>
        <p:spPr>
          <a:xfrm rot="16200000">
            <a:off x="3284280" y="2953800"/>
            <a:ext cx="124380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s-ES" sz="1800" spc="-1" strike="noStrike">
                <a:solidFill>
                  <a:srgbClr val="000000"/>
                </a:solidFill>
                <a:latin typeface="Aptos"/>
              </a:rPr>
              <a:t>Modules</a:t>
            </a:r>
            <a:endParaRPr b="0" lang="es-ES" sz="1800" spc="-1" strike="noStrike">
              <a:latin typeface="Arial"/>
            </a:endParaRPr>
          </a:p>
        </p:txBody>
      </p:sp>
      <p:sp>
        <p:nvSpPr>
          <p:cNvPr id="693" name="CustomShape 5"/>
          <p:cNvSpPr/>
          <p:nvPr/>
        </p:nvSpPr>
        <p:spPr>
          <a:xfrm>
            <a:off x="3944160" y="6530760"/>
            <a:ext cx="848520" cy="6382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s-ES" sz="1800" spc="-1" strike="noStrike">
                <a:solidFill>
                  <a:srgbClr val="000000"/>
                </a:solidFill>
                <a:latin typeface="Aptos"/>
              </a:rPr>
              <a:t>Traits</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CustomShape 1"/>
          <p:cNvSpPr/>
          <p:nvPr/>
        </p:nvSpPr>
        <p:spPr>
          <a:xfrm>
            <a:off x="2604600" y="315720"/>
            <a:ext cx="6982200" cy="394560"/>
          </a:xfrm>
          <a:prstGeom prst="rect">
            <a:avLst/>
          </a:prstGeom>
          <a:no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Co-expression Network with WGCNA</a:t>
            </a:r>
            <a:endParaRPr b="0" lang="es-ES" sz="2000" spc="-1" strike="noStrike">
              <a:latin typeface="Arial"/>
            </a:endParaRPr>
          </a:p>
        </p:txBody>
      </p:sp>
      <p:sp>
        <p:nvSpPr>
          <p:cNvPr id="695" name="CustomShape 2"/>
          <p:cNvSpPr/>
          <p:nvPr/>
        </p:nvSpPr>
        <p:spPr>
          <a:xfrm>
            <a:off x="335520" y="1135800"/>
            <a:ext cx="11493360" cy="139932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1" lang="en-US" sz="1800" spc="-1" strike="noStrike">
                <a:solidFill>
                  <a:srgbClr val="000000"/>
                </a:solidFill>
                <a:latin typeface="Aptos"/>
              </a:rPr>
              <a:t>Task 06. Perform a Statistical overrepresentation test (</a:t>
            </a:r>
            <a:r>
              <a:rPr b="1" lang="en-US" sz="1800" spc="-1" strike="noStrike" u="sng">
                <a:solidFill>
                  <a:srgbClr val="467886"/>
                </a:solidFill>
                <a:uFillTx/>
                <a:latin typeface="Aptos"/>
                <a:hlinkClick r:id="rId1"/>
              </a:rPr>
              <a:t>https://pantherdb.org/</a:t>
            </a:r>
            <a:r>
              <a:rPr b="1" lang="en-US" sz="1800" spc="-1" strike="noStrike">
                <a:solidFill>
                  <a:srgbClr val="000000"/>
                </a:solidFill>
                <a:latin typeface="Aptos"/>
              </a:rPr>
              <a:t>) to determine if the genes of the </a:t>
            </a:r>
            <a:r>
              <a:rPr b="1" lang="en-US" sz="1800" spc="-1" strike="noStrike" u="sng">
                <a:solidFill>
                  <a:srgbClr val="000000"/>
                </a:solidFill>
                <a:uFillTx/>
                <a:latin typeface="Aptos"/>
              </a:rPr>
              <a:t>magenta module </a:t>
            </a:r>
            <a:r>
              <a:rPr b="1" lang="en-US" sz="1800" spc="-1" strike="noStrike">
                <a:solidFill>
                  <a:srgbClr val="000000"/>
                </a:solidFill>
                <a:latin typeface="Aptos"/>
              </a:rPr>
              <a:t>of the drought network are significantly involved in any biological process according to the "GO“</a:t>
            </a:r>
            <a:endParaRPr b="0" lang="es-ES" sz="1800" spc="-1" strike="noStrike">
              <a:latin typeface="Arial"/>
            </a:endParaRPr>
          </a:p>
          <a:p>
            <a:pPr algn="just">
              <a:lnSpc>
                <a:spcPct val="100000"/>
              </a:lnSpc>
            </a:pPr>
            <a:r>
              <a:rPr b="1" lang="en-US" sz="1600" spc="-1" strike="noStrike">
                <a:solidFill>
                  <a:srgbClr val="000000"/>
                </a:solidFill>
                <a:latin typeface="Aptos"/>
              </a:rPr>
              <a:t>(The format of the ID gene must be converted: sed 's/Bradi/BRADI_/g’ ID.txt | sed -E 's/\.[0-9]/v3/g' | sort | uniq | tr '\n' ' ')</a:t>
            </a:r>
            <a:endParaRPr b="0" lang="es-ES" sz="1600" spc="-1" strike="noStrike">
              <a:latin typeface="Arial"/>
            </a:endParaRPr>
          </a:p>
        </p:txBody>
      </p:sp>
      <p:sp>
        <p:nvSpPr>
          <p:cNvPr id="696" name="CustomShape 3"/>
          <p:cNvSpPr/>
          <p:nvPr/>
        </p:nvSpPr>
        <p:spPr>
          <a:xfrm>
            <a:off x="810360" y="2390400"/>
            <a:ext cx="10324080" cy="5279040"/>
          </a:xfrm>
          <a:prstGeom prst="rect">
            <a:avLst/>
          </a:prstGeom>
          <a:noFill/>
          <a:ln>
            <a:noFill/>
          </a:ln>
        </p:spPr>
        <p:style>
          <a:lnRef idx="0"/>
          <a:fillRef idx="0"/>
          <a:effectRef idx="0"/>
          <a:fontRef idx="minor"/>
        </p:style>
        <p:txBody>
          <a:bodyPr lIns="90000" rIns="90000" tIns="45000" bIns="45000">
            <a:spAutoFit/>
          </a:bodyPr>
          <a:p>
            <a:pPr>
              <a:lnSpc>
                <a:spcPct val="100000"/>
              </a:lnSpc>
            </a:pPr>
            <a:r>
              <a:rPr b="0" lang="es-ES" sz="1100" spc="-1" strike="noStrike">
                <a:solidFill>
                  <a:srgbClr val="000000"/>
                </a:solidFill>
                <a:latin typeface="Aptos"/>
              </a:rPr>
              <a:t>BRADI_1g01507v3 BRADI_1g03590v3 BRADI_1g03610v3 BRADI_1g04440v3 BRADI_1g07237v3 BRADI_1g08410v3 BRADI_1g08870v3 BRADI_1g09950v3 BRADI_1g11630v3 BRADI_1g11960v3 BRADI_1g13232v3 BRADI_1g14940v3 BRADI_1g15030v3 BRADI_1g16190v3 BRADI_1g16620v3 BRADI_1g20360v3 BRADI_1g20620v3 BRADI_1g20930v3 BRADI_1g26260v3 BRADI_1g27490v3 BRADI_1g29040v3 BRADI_1g30247v3 BRADI_1g32330v3 BRADI_1g32660v3 BRADI_1g32990v3 BRADI_1g33300v3 BRADI_1g35742v3 BRADI_1g36290v3 BRADI_1g37080v3 BRADI_1g37175v3 BRADI_1g37750v3 BRADI_1g38760v3 BRADI_1g42730v3 BRADI_1g44047v3 BRADI_1g44230v3 BRADI_1g45080v3 BRADI_1g45160v3 BRADI_1g45200v3 BRADI_1g46530v3 BRADI_1g47767v3 BRADI_1g48010v3 BRADI_1g50370v3 BRADI_1g51610v3 BRADI_1g53320v3 BRADI_1g53850v3 BRADI_1g55500v3 BRADI_1g55620v3 BRADI_1g61040v3 BRADI_1g61170v3 BRADI_1g64850v3 BRADI_1g65480v3 BRADI_1g66800v3 BRADI_1g67040v3 BRADI_1g67290v3 BRADI_1g68720v3 BRADI_1g69400v3 BRADI_1g70700v3 BRADI_1g72740v3 BRADI_1g72950v3 BRADI_1g73120v3 BRADI_1g74300v3 BRADI_1g76950v3 BRADI_1g77637v3 BRADI_2g00831v3 BRADI_2g02110v3 BRADI_2g02400v3 BRADI_2g05640v3 BRADI_2g07040v3 BRADI_2g12830v3 BRADI_2g13110v3 BRADI_2g13870v3 BRADI_2g13870v30 BRADI_2g13870v33 BRADI_2g14411v3 BRADI_2g15950v3 BRADI_2g16660v3 BRADI_2g17200v3 BRADI_2g19540v3 BRADI_2g22140v3 BRADI_2g23040v3 BRADI_2g23250v3 BRADI_2g24230v3 BRADI_2g25613v3 BRADI_2g27900v3 BRADI_2g31576v3 BRADI_2g33360v3 BRADI_2g33682v3 BRADI_2g36000v3 BRADI_2g39890v3 BRADI_2g40942v3 BRADI_2g41117v3 BRADI_2g42227v3 BRADI_2g45460v3 BRADI_2g45840v3 BRADI_2g47530v3 BRADI_2g49280v3 BRADI_2g49660v3 BRADI_2g50300v3 BRADI_2g51240v3 BRADI_2g52470v3 BRADI_2g53020v3 BRADI_2g54570v3 BRADI_2g55490v3 BRADI_2g55960v3 BRADI_2g56190v3 BRADI_2g56490v3 BRADI_2g56500v3 BRADI_2g56710v3 BRADI_2g57220v3 BRADI_2g57230v3 BRADI_2g58835v3 BRADI_2g61767v3 BRADI_3g02640v3 BRADI_3g03532v3 BRADI_3g05530v3 BRADI_3g06107v3 BRADI_3g15890v3 BRADI_3g19893v3 BRADI_3g22980v3 BRADI_3g26930v3 BRADI_3g26967v3 BRADI_3g27800v3 BRADI_3g28450v3 BRADI_3g28700v3 BRADI_3g29700v3 BRADI_3g29797v3 BRADI_3g30380v3 BRADI_3g33544v3 BRADI_3g33850v3 BRADI_3g35000v3 BRADI_3g36370v3 BRADI_3g37047v3 BRADI_3g37260v3 BRADI_3g37790v3 BRADI_3g37820v3 BRADI_3g38220v3 BRADI_3g38670v3 BRADI_3g39440v3 BRADI_3g41490v3 BRADI_3g43890v3 BRADI_3g44947v3 BRADI_3g44950v3 BRADI_3g45030v3 BRADI_3g45206v3 BRADI_3g45940v3 BRADI_3g48240v3 BRADI_3g48590v3 BRADI_3g49400v3 BRADI_3g50110v3 BRADI_3g50420v3 BRADI_3g51600v3 BRADI_3g54200v3 BRADI_3g54267v3 BRADI_3g56610v3 BRADI_3g57525v3 BRADI_3g58980v3 BRADI_4g01710v3 BRADI_4g02925v3 BRADI_4g05450v3 BRADI_4g06370v3 BRADI_4g07390v3 BRADI_4g07911v3 BRADI_4g08420v3 BRADI_4g08550v3 BRADI_4g09120v3 BRADI_4g10998v3 BRADI_4g17336v3 BRADI_4g20537v3 BRADI_4g23800v3 BRADI_4g24320v3 BRADI_4g25430v3 BRADI_4g27376v3 BRADI_4g29506v3 BRADI_4g29540v3 BRADI_4g31070v3 BRADI_4g32941v3 BRADI_4g33899v3 BRADI_4g34056v3 BRADI_4g34980v3 BRADI_4g35170v3 BRADI_4g35301v3 BRADI_4g36690v3 BRADI_4g37460v3 BRADI_4g37770v3 BRADI_4g40310v3 BRADI_4g42710v3 BRADI_4g42890v3 BRADI_4g43220v3 BRADI_4g44530v3 BRADI_4g44760v3 BRADI_4g45410v3 BRADI_5g00590v3 BRADI_5g02037v3 BRADI_5g06390v3 BRADI_5g06628v3 BRADI_5g10090v3 BRADI_5g10140v3 BRADI_5g12452v3 BRADI_5g13610v3 BRADI_5g13930v3 BRADI_5g14550v3 BRADI_5g15300v3 BRADI_5g15396v3 BRADI_5g15835v3 BRADI_5g15970v3 BRADI_5g16100v3 BRADI_5g18290v3 BRADI_5g20410v3 BRADI_5g20890v3 BRADI_5g21757v3 BRADI_5g23150v3 BRADI_5g23158v3 BRADI_5g24850v3 BRADI_5g25450v3 BRADI_5g25547v3 BRADI_5g26907v3</a:t>
            </a:r>
            <a:endParaRPr b="0" lang="es-ES" sz="1100" spc="-1" strike="noStrike">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CustomShape 1"/>
          <p:cNvSpPr/>
          <p:nvPr/>
        </p:nvSpPr>
        <p:spPr>
          <a:xfrm>
            <a:off x="0" y="0"/>
            <a:ext cx="12191760" cy="685764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sp>
      <p:sp>
        <p:nvSpPr>
          <p:cNvPr id="698" name="CustomShape 2"/>
          <p:cNvSpPr/>
          <p:nvPr/>
        </p:nvSpPr>
        <p:spPr>
          <a:xfrm>
            <a:off x="2604600" y="315720"/>
            <a:ext cx="6982200" cy="394560"/>
          </a:xfrm>
          <a:prstGeom prst="rect">
            <a:avLst/>
          </a:prstGeom>
          <a:solidFill>
            <a:schemeClr val="bg1"/>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2000" spc="-1" strike="noStrike">
                <a:solidFill>
                  <a:srgbClr val="000000"/>
                </a:solidFill>
                <a:latin typeface="Aptos"/>
              </a:rPr>
              <a:t>Co-expression Network with WGCNA</a:t>
            </a:r>
            <a:endParaRPr b="0" lang="es-ES" sz="2000" spc="-1" strike="noStrike">
              <a:latin typeface="Arial"/>
            </a:endParaRPr>
          </a:p>
        </p:txBody>
      </p:sp>
      <p:pic>
        <p:nvPicPr>
          <p:cNvPr id="699" name="Imagen 15" descr="Texto&#10;&#10;El contenido generado por IA puede ser incorrecto."/>
          <p:cNvPicPr/>
          <p:nvPr/>
        </p:nvPicPr>
        <p:blipFill>
          <a:blip r:embed="rId1"/>
          <a:stretch/>
        </p:blipFill>
        <p:spPr>
          <a:xfrm>
            <a:off x="138960" y="768240"/>
            <a:ext cx="6982200" cy="5897520"/>
          </a:xfrm>
          <a:prstGeom prst="rect">
            <a:avLst/>
          </a:prstGeom>
          <a:ln>
            <a:noFill/>
          </a:ln>
        </p:spPr>
      </p:pic>
      <p:pic>
        <p:nvPicPr>
          <p:cNvPr id="700" name="Imagen 17" descr="Interfaz de usuario gráfica, Texto, Aplicación, Correo electrónico&#10;&#10;El contenido generado por IA puede ser incorrecto."/>
          <p:cNvPicPr/>
          <p:nvPr/>
        </p:nvPicPr>
        <p:blipFill>
          <a:blip r:embed="rId2"/>
          <a:stretch/>
        </p:blipFill>
        <p:spPr>
          <a:xfrm>
            <a:off x="7260480" y="768240"/>
            <a:ext cx="4931280" cy="2223000"/>
          </a:xfrm>
          <a:prstGeom prst="rect">
            <a:avLst/>
          </a:prstGeom>
          <a:ln>
            <a:noFill/>
          </a:ln>
        </p:spPr>
      </p:pic>
      <p:pic>
        <p:nvPicPr>
          <p:cNvPr id="701" name="Imagen 19" descr="Interfaz de usuario gráfica, Texto, Aplicación, Tabla, Correo electrónico&#10;&#10;El contenido generado por IA puede ser incorrecto."/>
          <p:cNvPicPr/>
          <p:nvPr/>
        </p:nvPicPr>
        <p:blipFill>
          <a:blip r:embed="rId3"/>
          <a:stretch/>
        </p:blipFill>
        <p:spPr>
          <a:xfrm>
            <a:off x="7241760" y="3866400"/>
            <a:ext cx="4968360" cy="2512440"/>
          </a:xfrm>
          <a:prstGeom prst="rect">
            <a:avLst/>
          </a:prstGeom>
          <a:ln>
            <a:noFill/>
          </a:ln>
        </p:spPr>
      </p:pic>
      <p:sp>
        <p:nvSpPr>
          <p:cNvPr id="702" name="CustomShape 3"/>
          <p:cNvSpPr/>
          <p:nvPr/>
        </p:nvSpPr>
        <p:spPr>
          <a:xfrm>
            <a:off x="266040" y="1350720"/>
            <a:ext cx="335160" cy="335160"/>
          </a:xfrm>
          <a:prstGeom prst="ellipse">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800" spc="-1" strike="noStrike">
                <a:solidFill>
                  <a:srgbClr val="ffffff"/>
                </a:solidFill>
                <a:latin typeface="Aptos"/>
              </a:rPr>
              <a:t>1</a:t>
            </a:r>
            <a:endParaRPr b="0" lang="es-ES" sz="1800" spc="-1" strike="noStrike">
              <a:latin typeface="Arial"/>
            </a:endParaRPr>
          </a:p>
        </p:txBody>
      </p:sp>
      <p:sp>
        <p:nvSpPr>
          <p:cNvPr id="703" name="CustomShape 4"/>
          <p:cNvSpPr/>
          <p:nvPr/>
        </p:nvSpPr>
        <p:spPr>
          <a:xfrm>
            <a:off x="2143080" y="4917600"/>
            <a:ext cx="335160" cy="335160"/>
          </a:xfrm>
          <a:prstGeom prst="ellipse">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800" spc="-1" strike="noStrike">
                <a:solidFill>
                  <a:srgbClr val="ffffff"/>
                </a:solidFill>
                <a:latin typeface="Aptos"/>
              </a:rPr>
              <a:t>2</a:t>
            </a:r>
            <a:endParaRPr b="0" lang="es-ES" sz="1800" spc="-1" strike="noStrike">
              <a:latin typeface="Arial"/>
            </a:endParaRPr>
          </a:p>
        </p:txBody>
      </p:sp>
      <p:sp>
        <p:nvSpPr>
          <p:cNvPr id="704" name="CustomShape 5"/>
          <p:cNvSpPr/>
          <p:nvPr/>
        </p:nvSpPr>
        <p:spPr>
          <a:xfrm>
            <a:off x="98280" y="5671080"/>
            <a:ext cx="335160" cy="335160"/>
          </a:xfrm>
          <a:prstGeom prst="ellipse">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800" spc="-1" strike="noStrike">
                <a:solidFill>
                  <a:srgbClr val="ffffff"/>
                </a:solidFill>
                <a:latin typeface="Aptos"/>
              </a:rPr>
              <a:t>3</a:t>
            </a:r>
            <a:endParaRPr b="0" lang="es-ES" sz="1800" spc="-1" strike="noStrike">
              <a:latin typeface="Arial"/>
            </a:endParaRPr>
          </a:p>
        </p:txBody>
      </p:sp>
      <p:sp>
        <p:nvSpPr>
          <p:cNvPr id="705" name="CustomShape 6"/>
          <p:cNvSpPr/>
          <p:nvPr/>
        </p:nvSpPr>
        <p:spPr>
          <a:xfrm>
            <a:off x="2039040" y="6043680"/>
            <a:ext cx="335160" cy="335160"/>
          </a:xfrm>
          <a:prstGeom prst="ellipse">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800" spc="-1" strike="noStrike">
                <a:solidFill>
                  <a:srgbClr val="ffffff"/>
                </a:solidFill>
                <a:latin typeface="Aptos"/>
              </a:rPr>
              <a:t>4</a:t>
            </a:r>
            <a:endParaRPr b="0" lang="es-ES" sz="1800" spc="-1" strike="noStrike">
              <a:latin typeface="Arial"/>
            </a:endParaRPr>
          </a:p>
        </p:txBody>
      </p:sp>
      <p:sp>
        <p:nvSpPr>
          <p:cNvPr id="706" name="CustomShape 7"/>
          <p:cNvSpPr/>
          <p:nvPr/>
        </p:nvSpPr>
        <p:spPr>
          <a:xfrm>
            <a:off x="3294720" y="6396120"/>
            <a:ext cx="335160" cy="335160"/>
          </a:xfrm>
          <a:prstGeom prst="ellipse">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800" spc="-1" strike="noStrike">
                <a:solidFill>
                  <a:srgbClr val="ffffff"/>
                </a:solidFill>
                <a:latin typeface="Aptos"/>
              </a:rPr>
              <a:t>5</a:t>
            </a:r>
            <a:endParaRPr b="0" lang="es-ES" sz="1800" spc="-1" strike="noStrike">
              <a:latin typeface="Arial"/>
            </a:endParaRPr>
          </a:p>
        </p:txBody>
      </p:sp>
      <p:sp>
        <p:nvSpPr>
          <p:cNvPr id="707" name="CustomShape 8"/>
          <p:cNvSpPr/>
          <p:nvPr/>
        </p:nvSpPr>
        <p:spPr>
          <a:xfrm>
            <a:off x="11590200" y="1600560"/>
            <a:ext cx="335160" cy="335160"/>
          </a:xfrm>
          <a:prstGeom prst="ellipse">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800" spc="-1" strike="noStrike">
                <a:solidFill>
                  <a:srgbClr val="ffffff"/>
                </a:solidFill>
                <a:latin typeface="Aptos"/>
              </a:rPr>
              <a:t>6</a:t>
            </a:r>
            <a:endParaRPr b="0" lang="es-ES" sz="1800" spc="-1" strike="noStrike">
              <a:latin typeface="Arial"/>
            </a:endParaRPr>
          </a:p>
        </p:txBody>
      </p:sp>
      <p:sp>
        <p:nvSpPr>
          <p:cNvPr id="708" name="CustomShape 9"/>
          <p:cNvSpPr/>
          <p:nvPr/>
        </p:nvSpPr>
        <p:spPr>
          <a:xfrm>
            <a:off x="8117640" y="6002640"/>
            <a:ext cx="335160" cy="335160"/>
          </a:xfrm>
          <a:prstGeom prst="ellipse">
            <a:avLst/>
          </a:prstGeom>
          <a:solidFill>
            <a:schemeClr val="tx1"/>
          </a:solidFill>
          <a:ln>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b="0" lang="es-ES" sz="1800" spc="-1" strike="noStrike">
                <a:solidFill>
                  <a:srgbClr val="ffffff"/>
                </a:solidFill>
                <a:latin typeface="Aptos"/>
              </a:rPr>
              <a:t>7</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9" name="CustomShape 1"/>
          <p:cNvSpPr/>
          <p:nvPr/>
        </p:nvSpPr>
        <p:spPr>
          <a:xfrm>
            <a:off x="0" y="0"/>
            <a:ext cx="1218852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pic>
        <p:nvPicPr>
          <p:cNvPr id="710" name="Gráfico 5" descr="Portapapeles comprobado con relleno sólido"/>
          <p:cNvPicPr/>
          <p:nvPr/>
        </p:nvPicPr>
        <p:blipFill>
          <a:blip r:embed="rId1"/>
          <a:stretch/>
        </p:blipFill>
        <p:spPr>
          <a:xfrm>
            <a:off x="765000" y="1744560"/>
            <a:ext cx="3368520" cy="3368520"/>
          </a:xfrm>
          <a:prstGeom prst="rect">
            <a:avLst/>
          </a:prstGeom>
          <a:ln>
            <a:noFill/>
          </a:ln>
        </p:spPr>
      </p:pic>
      <p:sp>
        <p:nvSpPr>
          <p:cNvPr id="711" name="CustomShape 2"/>
          <p:cNvSpPr/>
          <p:nvPr/>
        </p:nvSpPr>
        <p:spPr>
          <a:xfrm>
            <a:off x="4629960" y="0"/>
            <a:ext cx="7561800" cy="6857640"/>
          </a:xfrm>
          <a:custGeom>
            <a:avLst/>
            <a:gdLst/>
            <a:ah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40">
            <a:noFill/>
          </a:ln>
        </p:spPr>
        <p:style>
          <a:lnRef idx="0"/>
          <a:fillRef idx="0"/>
          <a:effectRef idx="0"/>
          <a:fontRef idx="minor"/>
        </p:style>
      </p:sp>
      <p:sp>
        <p:nvSpPr>
          <p:cNvPr id="712" name="CustomShape 3"/>
          <p:cNvSpPr/>
          <p:nvPr/>
        </p:nvSpPr>
        <p:spPr>
          <a:xfrm>
            <a:off x="5622120" y="762480"/>
            <a:ext cx="5649120" cy="3199680"/>
          </a:xfrm>
          <a:prstGeom prst="rect">
            <a:avLst/>
          </a:prstGeom>
          <a:noFill/>
          <a:ln>
            <a:noFill/>
          </a:ln>
        </p:spPr>
        <p:style>
          <a:lnRef idx="0"/>
          <a:fillRef idx="0"/>
          <a:effectRef idx="0"/>
          <a:fontRef idx="minor"/>
        </p:style>
        <p:txBody>
          <a:bodyPr anchor="b">
            <a:normAutofit/>
          </a:bodyPr>
          <a:p>
            <a:pPr>
              <a:lnSpc>
                <a:spcPct val="90000"/>
              </a:lnSpc>
              <a:spcAft>
                <a:spcPts val="601"/>
              </a:spcAft>
            </a:pPr>
            <a:r>
              <a:rPr b="1" lang="en-US" sz="6600" spc="-1" strike="noStrike">
                <a:solidFill>
                  <a:srgbClr val="ffffff"/>
                </a:solidFill>
                <a:latin typeface="Aptos Display"/>
              </a:rPr>
              <a:t>EXTRA EXERCISES</a:t>
            </a:r>
            <a:endParaRPr b="0" lang="es-ES" sz="6600" spc="-1" strike="noStrike">
              <a:latin typeface="Arial"/>
            </a:endParaRPr>
          </a:p>
        </p:txBody>
      </p:sp>
      <p:sp>
        <p:nvSpPr>
          <p:cNvPr id="713" name="CustomShape 4"/>
          <p:cNvSpPr/>
          <p:nvPr/>
        </p:nvSpPr>
        <p:spPr>
          <a:xfrm>
            <a:off x="5717520" y="4043160"/>
            <a:ext cx="5303160" cy="18000"/>
          </a:xfrm>
          <a:custGeom>
            <a:avLst/>
            <a:gdLst/>
            <a:ahLst/>
            <a:rect l="l" t="t" r="r" b="b"/>
            <a:pathLst>
              <a:path w="5303520" h="18288">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cap="rnd" w="41400">
            <a:solidFill>
              <a:srgbClr val="ffffff"/>
            </a:solidFill>
            <a:round/>
          </a:ln>
        </p:spPr>
        <p:style>
          <a:lnRef idx="2">
            <a:schemeClr val="accent1">
              <a:shade val="50000"/>
            </a:schemeClr>
          </a:lnRef>
          <a:fillRef idx="1">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CustomShape 1"/>
          <p:cNvSpPr/>
          <p:nvPr/>
        </p:nvSpPr>
        <p:spPr>
          <a:xfrm>
            <a:off x="187920" y="680040"/>
            <a:ext cx="11815560" cy="913320"/>
          </a:xfrm>
          <a:prstGeom prst="rect">
            <a:avLst/>
          </a:prstGeom>
          <a:noFill/>
          <a:ln>
            <a:noFill/>
          </a:ln>
        </p:spPr>
        <p:style>
          <a:lnRef idx="0"/>
          <a:fillRef idx="0"/>
          <a:effectRef idx="0"/>
          <a:fontRef idx="minor"/>
        </p:style>
        <p:txBody>
          <a:bodyPr lIns="90000" rIns="90000" tIns="45000" bIns="45000">
            <a:spAutoFit/>
          </a:bodyPr>
          <a:p>
            <a:pPr algn="just">
              <a:lnSpc>
                <a:spcPct val="100000"/>
              </a:lnSpc>
            </a:pPr>
            <a:r>
              <a:rPr b="1" lang="en-US" sz="1800" spc="-1" strike="noStrike">
                <a:solidFill>
                  <a:srgbClr val="000000"/>
                </a:solidFill>
                <a:latin typeface="Aptos"/>
              </a:rPr>
              <a:t>Task 07. Normalize the raw gene expression counts obtained from single-end read mappings to a reference genome, converting them into RPKM and TPM values. There are four genes (A, B, C and D) and three samples (1, 2 and 3).</a:t>
            </a:r>
            <a:endParaRPr b="0" lang="es-ES" sz="1800" spc="-1" strike="noStrike">
              <a:latin typeface="Arial"/>
            </a:endParaRPr>
          </a:p>
        </p:txBody>
      </p:sp>
      <p:graphicFrame>
        <p:nvGraphicFramePr>
          <p:cNvPr id="715" name="Table 2"/>
          <p:cNvGraphicFramePr/>
          <p:nvPr/>
        </p:nvGraphicFramePr>
        <p:xfrm>
          <a:off x="559800" y="1603440"/>
          <a:ext cx="11071800" cy="2595600"/>
        </p:xfrm>
        <a:graphic>
          <a:graphicData uri="http://schemas.openxmlformats.org/drawingml/2006/table">
            <a:tbl>
              <a:tblPr/>
              <a:tblGrid>
                <a:gridCol w="1544040"/>
                <a:gridCol w="873720"/>
                <a:gridCol w="1076760"/>
                <a:gridCol w="1371600"/>
                <a:gridCol w="944640"/>
                <a:gridCol w="1117440"/>
                <a:gridCol w="1036080"/>
                <a:gridCol w="892080"/>
                <a:gridCol w="1107000"/>
                <a:gridCol w="1108440"/>
              </a:tblGrid>
              <a:tr h="366120">
                <a:tc rowSpan="2">
                  <a:txBody>
                    <a:bodyPr>
                      <a:noAutofit/>
                    </a:bodyPr>
                    <a:p>
                      <a:pPr>
                        <a:lnSpc>
                          <a:spcPct val="100000"/>
                        </a:lnSpc>
                      </a:pPr>
                      <a:r>
                        <a:rPr b="1" lang="es-ES" sz="1800" spc="-1" strike="noStrike">
                          <a:solidFill>
                            <a:srgbClr val="ffffff"/>
                          </a:solidFill>
                          <a:latin typeface="Aptos"/>
                        </a:rPr>
                        <a:t>Gene</a:t>
                      </a:r>
                      <a:endParaRPr b="0" lang="es-ES"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156082"/>
                    </a:solidFill>
                  </a:tcPr>
                </a:tc>
                <a:tc gridSpan="3">
                  <a:txBody>
                    <a:bodyPr>
                      <a:noAutofit/>
                    </a:bodyPr>
                    <a:p>
                      <a:pPr algn="ctr">
                        <a:lnSpc>
                          <a:spcPct val="100000"/>
                        </a:lnSpc>
                      </a:pPr>
                      <a:r>
                        <a:rPr b="1" lang="es-ES" sz="1800" spc="-1" strike="noStrike">
                          <a:solidFill>
                            <a:srgbClr val="ffffff"/>
                          </a:solidFill>
                          <a:latin typeface="Aptos"/>
                        </a:rPr>
                        <a:t>Sample 1</a:t>
                      </a:r>
                      <a:endParaRPr b="0" lang="es-ES"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156082"/>
                    </a:solidFill>
                  </a:tcPr>
                </a:tc>
                <a:tc hMerge="1">
                  <a:tcPr marL="90000" marR="90000">
                    <a:solidFill>
                      <a:srgbClr val="729fcf"/>
                    </a:solidFill>
                  </a:tcPr>
                </a:tc>
                <a:tc hMerge="1">
                  <a:tcPr marL="90000" marR="90000">
                    <a:solidFill>
                      <a:srgbClr val="729fcf"/>
                    </a:solidFill>
                  </a:tcPr>
                </a:tc>
                <a:tc gridSpan="3">
                  <a:txBody>
                    <a:bodyPr>
                      <a:noAutofit/>
                    </a:bodyPr>
                    <a:p>
                      <a:pPr algn="ctr">
                        <a:lnSpc>
                          <a:spcPct val="100000"/>
                        </a:lnSpc>
                      </a:pPr>
                      <a:r>
                        <a:rPr b="1" lang="es-ES" sz="1800" spc="-1" strike="noStrike">
                          <a:solidFill>
                            <a:srgbClr val="ffffff"/>
                          </a:solidFill>
                          <a:latin typeface="Aptos"/>
                        </a:rPr>
                        <a:t>Sample 2</a:t>
                      </a:r>
                      <a:endParaRPr b="0" lang="es-ES"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156082"/>
                    </a:solidFill>
                  </a:tcPr>
                </a:tc>
                <a:tc hMerge="1">
                  <a:tcPr marL="90000" marR="90000">
                    <a:solidFill>
                      <a:srgbClr val="729fcf"/>
                    </a:solidFill>
                  </a:tcPr>
                </a:tc>
                <a:tc hMerge="1">
                  <a:tcPr marL="90000" marR="90000">
                    <a:solidFill>
                      <a:srgbClr val="729fcf"/>
                    </a:solidFill>
                  </a:tcPr>
                </a:tc>
                <a:tc gridSpan="3">
                  <a:txBody>
                    <a:bodyPr>
                      <a:noAutofit/>
                    </a:bodyPr>
                    <a:p>
                      <a:pPr algn="ctr">
                        <a:lnSpc>
                          <a:spcPct val="100000"/>
                        </a:lnSpc>
                      </a:pPr>
                      <a:r>
                        <a:rPr b="1" lang="es-ES" sz="1800" spc="-1" strike="noStrike">
                          <a:solidFill>
                            <a:srgbClr val="ffffff"/>
                          </a:solidFill>
                          <a:latin typeface="Aptos"/>
                        </a:rPr>
                        <a:t>Sample 3</a:t>
                      </a:r>
                      <a:endParaRPr b="0" lang="es-ES" sz="1800" spc="-1" strike="noStrike">
                        <a:latin typeface="Arial"/>
                      </a:endParaRPr>
                    </a:p>
                  </a:txBody>
                  <a:tcPr marL="91440" marR="91440">
                    <a:lnL w="12240">
                      <a:solidFill>
                        <a:srgbClr val="ffffff"/>
                      </a:solidFill>
                    </a:lnL>
                    <a:lnR w="12240">
                      <a:solidFill>
                        <a:srgbClr val="ffffff"/>
                      </a:solidFill>
                    </a:lnR>
                    <a:lnT w="12240">
                      <a:solidFill>
                        <a:srgbClr val="ffffff"/>
                      </a:solidFill>
                    </a:lnT>
                    <a:lnB w="38160">
                      <a:solidFill>
                        <a:srgbClr val="ffffff"/>
                      </a:solidFill>
                    </a:lnB>
                    <a:solidFill>
                      <a:srgbClr val="156082"/>
                    </a:solidFill>
                  </a:tcPr>
                </a:tc>
                <a:tc hMerge="1">
                  <a:tcPr marL="90000" marR="90000">
                    <a:solidFill>
                      <a:srgbClr val="729fcf"/>
                    </a:solidFill>
                  </a:tcPr>
                </a:tc>
                <a:tc hMerge="1">
                  <a:tcPr marL="90000" marR="90000">
                    <a:solidFill>
                      <a:srgbClr val="729fcf"/>
                    </a:solidFill>
                  </a:tcPr>
                </a:tc>
              </a:tr>
              <a:tr h="366120">
                <a:tc vMerge="1">
                  <a:tcPr marL="90000" marR="90000">
                    <a:solidFill>
                      <a:srgbClr val="729fcf"/>
                    </a:solidFill>
                  </a:tcPr>
                </a:tc>
                <a:tc>
                  <a:txBody>
                    <a:bodyPr lIns="7560" rIns="7560" tIns="7560" bIns="0" anchor="ctr">
                      <a:noAutofit/>
                    </a:bodyPr>
                    <a:p>
                      <a:pPr algn="ctr">
                        <a:lnSpc>
                          <a:spcPct val="100000"/>
                        </a:lnSpc>
                      </a:pPr>
                      <a:r>
                        <a:rPr b="1" i="1" lang="es-ES" sz="1800" spc="-1" strike="noStrike">
                          <a:solidFill>
                            <a:srgbClr val="000000"/>
                          </a:solidFill>
                          <a:latin typeface="Aptos"/>
                        </a:rPr>
                        <a:t>Raw</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1" i="1" lang="es-ES" sz="1800" spc="-1" strike="noStrike">
                          <a:solidFill>
                            <a:srgbClr val="000000"/>
                          </a:solidFill>
                          <a:latin typeface="Aptos"/>
                        </a:rPr>
                        <a:t>RPKM</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1" i="1" lang="es-ES" sz="1800" spc="-1" strike="noStrike">
                          <a:solidFill>
                            <a:srgbClr val="000000"/>
                          </a:solidFill>
                          <a:latin typeface="Aptos"/>
                        </a:rPr>
                        <a:t>TPM</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1" i="1" lang="es-ES" sz="1800" spc="-1" strike="noStrike">
                          <a:solidFill>
                            <a:srgbClr val="000000"/>
                          </a:solidFill>
                          <a:latin typeface="Aptos"/>
                        </a:rPr>
                        <a:t>Raw</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1" i="1" lang="es-ES" sz="1800" spc="-1" strike="noStrike">
                          <a:solidFill>
                            <a:srgbClr val="000000"/>
                          </a:solidFill>
                          <a:latin typeface="Aptos"/>
                        </a:rPr>
                        <a:t>RPKM</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1" i="1" lang="es-ES" sz="1800" spc="-1" strike="noStrike">
                          <a:solidFill>
                            <a:srgbClr val="000000"/>
                          </a:solidFill>
                          <a:latin typeface="Aptos"/>
                        </a:rPr>
                        <a:t>TPM</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1" i="1" lang="es-ES" sz="1800" spc="-1" strike="noStrike">
                          <a:solidFill>
                            <a:srgbClr val="000000"/>
                          </a:solidFill>
                          <a:latin typeface="Aptos"/>
                        </a:rPr>
                        <a:t>Raw</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1" i="1" lang="es-ES" sz="1800" spc="-1" strike="noStrike">
                          <a:solidFill>
                            <a:srgbClr val="000000"/>
                          </a:solidFill>
                          <a:latin typeface="Aptos"/>
                        </a:rPr>
                        <a:t>RPKM</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1" i="1" lang="es-ES" sz="1800" spc="-1" strike="noStrike">
                          <a:solidFill>
                            <a:srgbClr val="000000"/>
                          </a:solidFill>
                          <a:latin typeface="Aptos"/>
                        </a:rPr>
                        <a:t>TPM</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r>
              <a:tr h="640440">
                <a:tc>
                  <a:txBody>
                    <a:bodyPr>
                      <a:noAutofit/>
                    </a:bodyPr>
                    <a:p>
                      <a:pPr>
                        <a:lnSpc>
                          <a:spcPct val="100000"/>
                        </a:lnSpc>
                      </a:pPr>
                      <a:r>
                        <a:rPr b="0" lang="es-ES" sz="1800" spc="-1" strike="noStrike">
                          <a:solidFill>
                            <a:srgbClr val="000000"/>
                          </a:solidFill>
                          <a:latin typeface="Aptos"/>
                        </a:rPr>
                        <a:t>A (2,000 bp)</a:t>
                      </a:r>
                      <a:endParaRPr b="0" lang="es-ES"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xBody>
                    <a:bodyPr lIns="7560" rIns="7560" tIns="7560" bIns="0" anchor="ctr">
                      <a:noAutofit/>
                    </a:bodyPr>
                    <a:p>
                      <a:pPr algn="ctr">
                        <a:lnSpc>
                          <a:spcPct val="100000"/>
                        </a:lnSpc>
                      </a:pPr>
                      <a:r>
                        <a:rPr b="0" lang="es-ES" sz="1800" spc="-1" strike="noStrike">
                          <a:solidFill>
                            <a:srgbClr val="000000"/>
                          </a:solidFill>
                          <a:latin typeface="Aptos"/>
                        </a:rPr>
                        <a:t>15</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xBody>
                    <a:bodyPr lIns="7560" rIns="7560" tIns="7560" bIns="0" anchor="ctr">
                      <a:noAutofit/>
                    </a:bodyPr>
                    <a:p>
                      <a:pPr algn="ctr">
                        <a:lnSpc>
                          <a:spcPct val="100000"/>
                        </a:lnSpc>
                      </a:pPr>
                      <a:r>
                        <a:rPr b="0" lang="es-ES" sz="1800" spc="-1" strike="noStrike">
                          <a:solidFill>
                            <a:srgbClr val="000000"/>
                          </a:solidFill>
                          <a:latin typeface="Aptos"/>
                        </a:rPr>
                        <a:t>0.15*10</a:t>
                      </a:r>
                      <a:r>
                        <a:rPr b="0" lang="es-ES" sz="1800" spc="-1" strike="noStrike" baseline="30000">
                          <a:solidFill>
                            <a:srgbClr val="000000"/>
                          </a:solidFill>
                          <a:latin typeface="Aptos"/>
                        </a:rPr>
                        <a:t>6</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xBody>
                    <a:bodyPr lIns="7560" rIns="7560" tIns="7560" bIns="0" anchor="ctr">
                      <a:noAutofit/>
                    </a:bodyPr>
                    <a:p>
                      <a:pPr algn="ctr">
                        <a:lnSpc>
                          <a:spcPct val="100000"/>
                        </a:lnSpc>
                      </a:pPr>
                      <a:r>
                        <a:rPr b="0" lang="es-ES" sz="1800" spc="-1" strike="noStrike">
                          <a:solidFill>
                            <a:srgbClr val="000000"/>
                          </a:solidFill>
                          <a:latin typeface="Aptos"/>
                        </a:rPr>
                        <a:t>0.32*10</a:t>
                      </a:r>
                      <a:r>
                        <a:rPr b="0" lang="es-ES" sz="1800" spc="-1" strike="noStrike" baseline="30000">
                          <a:solidFill>
                            <a:srgbClr val="000000"/>
                          </a:solidFill>
                          <a:latin typeface="Aptos"/>
                        </a:rPr>
                        <a:t>6</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xBody>
                    <a:bodyPr lIns="7560" rIns="7560" tIns="7560" bIns="0" anchor="ctr">
                      <a:noAutofit/>
                    </a:bodyPr>
                    <a:p>
                      <a:pPr algn="ctr">
                        <a:lnSpc>
                          <a:spcPct val="100000"/>
                        </a:lnSpc>
                      </a:pPr>
                      <a:r>
                        <a:rPr b="0" lang="es-ES" sz="1800" spc="-1" strike="noStrike">
                          <a:solidFill>
                            <a:srgbClr val="000000"/>
                          </a:solidFill>
                          <a:latin typeface="Aptos"/>
                        </a:rPr>
                        <a:t>18</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xBody>
                    <a:bodyPr lIns="7560" rIns="7560" tIns="7560" bIns="0" anchor="ctr">
                      <a:noAutofit/>
                    </a:bodyPr>
                    <a:p>
                      <a:pPr algn="ctr">
                        <a:lnSpc>
                          <a:spcPct val="100000"/>
                        </a:lnSpc>
                      </a:pPr>
                      <a:r>
                        <a:rPr b="0" lang="es-ES" sz="1800" spc="-1" strike="noStrike">
                          <a:solidFill>
                            <a:srgbClr val="000000"/>
                          </a:solidFill>
                          <a:latin typeface="Aptos"/>
                        </a:rPr>
                        <a:t>35</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r>
              <a:tr h="640440">
                <a:tc>
                  <a:txBody>
                    <a:bodyPr>
                      <a:noAutofit/>
                    </a:bodyPr>
                    <a:p>
                      <a:pPr>
                        <a:lnSpc>
                          <a:spcPct val="100000"/>
                        </a:lnSpc>
                      </a:pPr>
                      <a:r>
                        <a:rPr b="0" lang="es-ES" sz="1800" spc="-1" strike="noStrike">
                          <a:solidFill>
                            <a:srgbClr val="000000"/>
                          </a:solidFill>
                          <a:latin typeface="Aptos"/>
                        </a:rPr>
                        <a:t>B (4,000 bp)</a:t>
                      </a:r>
                      <a:endParaRPr b="0" lang="es-ES"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0" lang="es-ES" sz="1800" spc="-1" strike="noStrike">
                          <a:solidFill>
                            <a:srgbClr val="000000"/>
                          </a:solidFill>
                          <a:latin typeface="Aptos"/>
                        </a:rPr>
                        <a:t>25</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0" lang="es-ES" sz="1800" spc="-1" strike="noStrike">
                          <a:solidFill>
                            <a:srgbClr val="000000"/>
                          </a:solidFill>
                          <a:latin typeface="Aptos"/>
                        </a:rPr>
                        <a:t>30</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0" lang="es-ES" sz="1800" spc="-1" strike="noStrike">
                          <a:solidFill>
                            <a:srgbClr val="000000"/>
                          </a:solidFill>
                          <a:latin typeface="Aptos"/>
                        </a:rPr>
                        <a:t>70</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r>
              <a:tr h="640440">
                <a:tc>
                  <a:txBody>
                    <a:bodyPr>
                      <a:noAutofit/>
                    </a:bodyPr>
                    <a:p>
                      <a:pPr>
                        <a:lnSpc>
                          <a:spcPct val="100000"/>
                        </a:lnSpc>
                      </a:pPr>
                      <a:r>
                        <a:rPr b="0" lang="es-ES" sz="1800" spc="-1" strike="noStrike">
                          <a:solidFill>
                            <a:srgbClr val="000000"/>
                          </a:solidFill>
                          <a:latin typeface="Aptos"/>
                        </a:rPr>
                        <a:t>C (1,000 bp)</a:t>
                      </a:r>
                      <a:endParaRPr b="0" lang="es-ES"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xBody>
                    <a:bodyPr lIns="7560" rIns="7560" tIns="7560" bIns="0" anchor="ctr">
                      <a:noAutofit/>
                    </a:bodyPr>
                    <a:p>
                      <a:pPr algn="ctr">
                        <a:lnSpc>
                          <a:spcPct val="100000"/>
                        </a:lnSpc>
                      </a:pPr>
                      <a:r>
                        <a:rPr b="0" lang="es-ES" sz="1800" spc="-1" strike="noStrike">
                          <a:solidFill>
                            <a:srgbClr val="000000"/>
                          </a:solidFill>
                          <a:latin typeface="Aptos"/>
                        </a:rPr>
                        <a:t>10</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xBody>
                    <a:bodyPr lIns="7560" rIns="7560" tIns="7560" bIns="0" anchor="ctr">
                      <a:noAutofit/>
                    </a:bodyPr>
                    <a:p>
                      <a:pPr algn="ctr">
                        <a:lnSpc>
                          <a:spcPct val="100000"/>
                        </a:lnSpc>
                      </a:pPr>
                      <a:r>
                        <a:rPr b="0" lang="es-ES" sz="1800" spc="-1" strike="noStrike">
                          <a:solidFill>
                            <a:srgbClr val="000000"/>
                          </a:solidFill>
                          <a:latin typeface="Aptos"/>
                        </a:rPr>
                        <a:t>12</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xBody>
                    <a:bodyPr lIns="7560" rIns="7560" tIns="7560" bIns="0" anchor="ctr">
                      <a:noAutofit/>
                    </a:bodyPr>
                    <a:p>
                      <a:pPr algn="ctr">
                        <a:lnSpc>
                          <a:spcPct val="100000"/>
                        </a:lnSpc>
                      </a:pPr>
                      <a:r>
                        <a:rPr b="0" lang="es-ES" sz="1800" spc="-1" strike="noStrike">
                          <a:solidFill>
                            <a:srgbClr val="000000"/>
                          </a:solidFill>
                          <a:latin typeface="Aptos"/>
                        </a:rPr>
                        <a:t>20</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r>
              <a:tr h="640440">
                <a:tc>
                  <a:txBody>
                    <a:bodyPr>
                      <a:noAutofit/>
                    </a:bodyPr>
                    <a:p>
                      <a:pPr>
                        <a:lnSpc>
                          <a:spcPct val="100000"/>
                        </a:lnSpc>
                      </a:pPr>
                      <a:r>
                        <a:rPr b="0" lang="es-ES" sz="1800" spc="-1" strike="noStrike">
                          <a:solidFill>
                            <a:srgbClr val="000000"/>
                          </a:solidFill>
                          <a:latin typeface="Aptos"/>
                        </a:rPr>
                        <a:t>D (10,000 bp)</a:t>
                      </a:r>
                      <a:endParaRPr b="0" lang="es-ES"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0" lang="es-ES" sz="1800" spc="-1" strike="noStrike">
                          <a:solidFill>
                            <a:srgbClr val="000000"/>
                          </a:solidFill>
                          <a:latin typeface="Aptos"/>
                        </a:rPr>
                        <a:t>0</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0" lang="es-ES" sz="1800" spc="-1" strike="noStrike">
                          <a:solidFill>
                            <a:srgbClr val="000000"/>
                          </a:solidFill>
                          <a:latin typeface="Aptos"/>
                        </a:rPr>
                        <a:t>1</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xBody>
                    <a:bodyPr lIns="7560" rIns="7560" tIns="7560" bIns="0" anchor="ctr">
                      <a:noAutofit/>
                    </a:bodyPr>
                    <a:p>
                      <a:pPr algn="ctr">
                        <a:lnSpc>
                          <a:spcPct val="100000"/>
                        </a:lnSpc>
                      </a:pPr>
                      <a:r>
                        <a:rPr b="0" lang="es-ES" sz="1800" spc="-1" strike="noStrike">
                          <a:solidFill>
                            <a:srgbClr val="000000"/>
                          </a:solidFill>
                          <a:latin typeface="Aptos"/>
                        </a:rPr>
                        <a:t>1</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ccd2d8"/>
                    </a:solidFill>
                  </a:tcPr>
                </a:tc>
              </a:tr>
              <a:tr h="640440">
                <a:tc>
                  <a:txBody>
                    <a:bodyPr>
                      <a:noAutofit/>
                    </a:bodyPr>
                    <a:p>
                      <a:pPr>
                        <a:lnSpc>
                          <a:spcPct val="100000"/>
                        </a:lnSpc>
                      </a:pPr>
                      <a:r>
                        <a:rPr b="1" lang="es-ES" sz="1800" spc="-1" strike="noStrike">
                          <a:solidFill>
                            <a:srgbClr val="000000"/>
                          </a:solidFill>
                          <a:latin typeface="Aptos"/>
                        </a:rPr>
                        <a:t>Total reads</a:t>
                      </a:r>
                      <a:endParaRPr b="0" lang="es-ES" sz="1800" spc="-1" strike="noStrike">
                        <a:latin typeface="Arial"/>
                      </a:endParaRPr>
                    </a:p>
                  </a:txBody>
                  <a:tcPr marL="91440" marR="9144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xBody>
                    <a:bodyPr lIns="7560" rIns="7560" tIns="7560" bIns="0" anchor="ctr">
                      <a:noAutofit/>
                    </a:bodyPr>
                    <a:p>
                      <a:pPr algn="ctr">
                        <a:lnSpc>
                          <a:spcPct val="100000"/>
                        </a:lnSpc>
                      </a:pPr>
                      <a:r>
                        <a:rPr b="1" lang="es-ES" sz="1800" spc="-1" strike="noStrike">
                          <a:solidFill>
                            <a:srgbClr val="000000"/>
                          </a:solidFill>
                          <a:latin typeface="Aptos"/>
                        </a:rPr>
                        <a:t>50</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xBody>
                    <a:bodyPr lIns="7560" rIns="7560" tIns="7560" bIns="0" anchor="ctr">
                      <a:noAutofit/>
                    </a:bodyPr>
                    <a:p>
                      <a:pPr algn="ctr">
                        <a:lnSpc>
                          <a:spcPct val="100000"/>
                        </a:lnSpc>
                      </a:pPr>
                      <a:r>
                        <a:rPr b="1" lang="es-ES" sz="1800" spc="-1" strike="noStrike">
                          <a:solidFill>
                            <a:srgbClr val="000000"/>
                          </a:solidFill>
                          <a:latin typeface="Aptos"/>
                        </a:rPr>
                        <a:t>61</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xBody>
                    <a:bodyPr lIns="7560" rIns="7560" tIns="7560" bIns="0" anchor="ctr">
                      <a:noAutofit/>
                    </a:bodyPr>
                    <a:p>
                      <a:pPr algn="ctr">
                        <a:lnSpc>
                          <a:spcPct val="100000"/>
                        </a:lnSpc>
                      </a:pPr>
                      <a:r>
                        <a:rPr b="1" lang="es-ES" sz="1800" spc="-1" strike="noStrike">
                          <a:solidFill>
                            <a:srgbClr val="000000"/>
                          </a:solidFill>
                          <a:latin typeface="Aptos"/>
                        </a:rPr>
                        <a:t>126</a:t>
                      </a:r>
                      <a:endParaRPr b="0" lang="es-ES" sz="1800" spc="-1" strike="noStrike">
                        <a:latin typeface="Arial"/>
                      </a:endParaRPr>
                    </a:p>
                  </a:txBody>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c>
                  <a:tcPr marL="7560" marR="7560">
                    <a:lnL w="12240">
                      <a:solidFill>
                        <a:srgbClr val="ffffff"/>
                      </a:solidFill>
                    </a:lnL>
                    <a:lnR w="12240">
                      <a:solidFill>
                        <a:srgbClr val="ffffff"/>
                      </a:solidFill>
                    </a:lnR>
                    <a:lnT w="12240">
                      <a:solidFill>
                        <a:srgbClr val="ffffff"/>
                      </a:solidFill>
                    </a:lnT>
                    <a:lnB w="12240">
                      <a:solidFill>
                        <a:srgbClr val="ffffff"/>
                      </a:solidFill>
                    </a:lnB>
                    <a:solidFill>
                      <a:srgbClr val="e7eaec"/>
                    </a:solidFill>
                  </a:tcPr>
                </a:tc>
              </a:tr>
            </a:tbl>
          </a:graphicData>
        </a:graphic>
      </p:graphicFrame>
      <p:pic>
        <p:nvPicPr>
          <p:cNvPr id="716" name="Imagen 9" descr=""/>
          <p:cNvPicPr/>
          <p:nvPr/>
        </p:nvPicPr>
        <p:blipFill>
          <a:blip r:embed="rId1"/>
          <a:stretch/>
        </p:blipFill>
        <p:spPr>
          <a:xfrm>
            <a:off x="346680" y="4498560"/>
            <a:ext cx="4628880" cy="958680"/>
          </a:xfrm>
          <a:prstGeom prst="rect">
            <a:avLst/>
          </a:prstGeom>
          <a:ln>
            <a:noFill/>
          </a:ln>
        </p:spPr>
      </p:pic>
      <p:pic>
        <p:nvPicPr>
          <p:cNvPr id="717" name="Imagen 10" descr=""/>
          <p:cNvPicPr/>
          <p:nvPr/>
        </p:nvPicPr>
        <p:blipFill>
          <a:blip r:embed="rId2"/>
          <a:stretch/>
        </p:blipFill>
        <p:spPr>
          <a:xfrm>
            <a:off x="346680" y="5644440"/>
            <a:ext cx="2790720" cy="885600"/>
          </a:xfrm>
          <a:prstGeom prst="rect">
            <a:avLst/>
          </a:prstGeom>
          <a:ln>
            <a:noFill/>
          </a:ln>
        </p:spPr>
      </p:pic>
      <p:sp>
        <p:nvSpPr>
          <p:cNvPr id="718" name="CustomShape 3"/>
          <p:cNvSpPr/>
          <p:nvPr/>
        </p:nvSpPr>
        <p:spPr>
          <a:xfrm>
            <a:off x="5090040" y="4558320"/>
            <a:ext cx="6631560" cy="36468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0" lang="en-US" sz="1800" spc="-1" strike="noStrike">
                <a:solidFill>
                  <a:srgbClr val="000000"/>
                </a:solidFill>
                <a:latin typeface="Aptos"/>
              </a:rPr>
              <a:t>e.g. GeneA.Sample1 = </a:t>
            </a:r>
            <a:endParaRPr b="0" lang="es-ES" sz="1800" spc="-1" strike="noStrike">
              <a:latin typeface="Arial"/>
            </a:endParaRPr>
          </a:p>
        </p:txBody>
      </p:sp>
      <p:sp>
        <p:nvSpPr>
          <p:cNvPr id="719" name="CustomShape 4"/>
          <p:cNvSpPr/>
          <p:nvPr/>
        </p:nvSpPr>
        <p:spPr>
          <a:xfrm>
            <a:off x="6296400" y="5773320"/>
            <a:ext cx="2672640" cy="274680"/>
          </a:xfrm>
          <a:prstGeom prst="rect">
            <a:avLst/>
          </a:prstGeom>
          <a:noFill/>
          <a:ln>
            <a:noFill/>
          </a:ln>
        </p:spPr>
        <p:style>
          <a:lnRef idx="0"/>
          <a:fillRef idx="0"/>
          <a:effectRef idx="0"/>
          <a:fontRef idx="minor"/>
        </p:style>
        <p:txBody>
          <a:bodyPr wrap="none" lIns="0" rIns="0" tIns="0" bIns="0">
            <a:spAutoFit/>
          </a:bodyPr>
          <a:p>
            <a:pPr>
              <a:lnSpc>
                <a:spcPct val="100000"/>
              </a:lnSpc>
            </a:pPr>
            <a:r>
              <a:rPr b="0" lang="en-US" sz="1800" spc="-1" strike="noStrike">
                <a:solidFill>
                  <a:srgbClr val="000000"/>
                </a:solidFill>
                <a:latin typeface="Aptos"/>
              </a:rPr>
              <a:t>e.g. GeneA.Sample1 = </a:t>
            </a:r>
            <a:endParaRPr b="0" lang="es-ES" sz="1800" spc="-1" strike="noStrike">
              <a:latin typeface="Arial"/>
            </a:endParaRPr>
          </a:p>
        </p:txBody>
      </p:sp>
      <p:sp>
        <p:nvSpPr>
          <p:cNvPr id="720" name="CustomShape 5"/>
          <p:cNvSpPr/>
          <p:nvPr/>
        </p:nvSpPr>
        <p:spPr>
          <a:xfrm>
            <a:off x="0" y="4680"/>
            <a:ext cx="2391120" cy="6382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000000"/>
                </a:solidFill>
                <a:latin typeface="Aptos"/>
              </a:rPr>
              <a:t>EXTRA EXCERCISES</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CustomShape 1"/>
          <p:cNvSpPr/>
          <p:nvPr/>
        </p:nvSpPr>
        <p:spPr>
          <a:xfrm>
            <a:off x="527400" y="929880"/>
            <a:ext cx="11147760" cy="1461240"/>
          </a:xfrm>
          <a:prstGeom prst="rect">
            <a:avLst/>
          </a:prstGeom>
          <a:noFill/>
          <a:ln>
            <a:solidFill>
              <a:schemeClr val="tx1"/>
            </a:solidFill>
          </a:ln>
        </p:spPr>
        <p:style>
          <a:lnRef idx="0"/>
          <a:fillRef idx="0"/>
          <a:effectRef idx="0"/>
          <a:fontRef idx="minor"/>
        </p:style>
        <p:txBody>
          <a:bodyPr lIns="90000" rIns="90000" tIns="45000" bIns="45000">
            <a:spAutoFit/>
          </a:bodyPr>
          <a:p>
            <a:pPr algn="just">
              <a:lnSpc>
                <a:spcPct val="100000"/>
              </a:lnSpc>
            </a:pPr>
            <a:r>
              <a:rPr b="1" lang="en-US" sz="1800" spc="-1" strike="noStrike">
                <a:solidFill>
                  <a:srgbClr val="000000"/>
                </a:solidFill>
                <a:latin typeface="Aptos"/>
              </a:rPr>
              <a:t>Task 08. Using the compressed Fastqc file ABR3_D_03.fastq.gz (folder 01_RNAseq_raw), perform the steps of generating the QC report (FastQC software), filtering (Trimmomatic software) the sequences to remove adapters and low quality (and QC report after filtering) and aligning (Kallisto software) the filtered sequences against the reference transcriptome.</a:t>
            </a:r>
            <a:endParaRPr b="0" lang="es-ES" sz="1800" spc="-1" strike="noStrike">
              <a:latin typeface="Arial"/>
            </a:endParaRPr>
          </a:p>
        </p:txBody>
      </p:sp>
      <p:sp>
        <p:nvSpPr>
          <p:cNvPr id="722" name="CustomShape 2"/>
          <p:cNvSpPr/>
          <p:nvPr/>
        </p:nvSpPr>
        <p:spPr>
          <a:xfrm>
            <a:off x="527400" y="2678400"/>
            <a:ext cx="11147760" cy="1461240"/>
          </a:xfrm>
          <a:prstGeom prst="rect">
            <a:avLst/>
          </a:prstGeom>
          <a:noFill/>
          <a:ln>
            <a:solidFill>
              <a:schemeClr val="tx1"/>
            </a:solidFill>
          </a:ln>
        </p:spPr>
        <p:style>
          <a:lnRef idx="0"/>
          <a:fillRef idx="0"/>
          <a:effectRef idx="0"/>
          <a:fontRef idx="minor"/>
        </p:style>
        <p:txBody>
          <a:bodyPr lIns="90000" rIns="90000" tIns="45000" bIns="45000">
            <a:spAutoFit/>
          </a:bodyPr>
          <a:p>
            <a:pPr algn="just">
              <a:lnSpc>
                <a:spcPct val="100000"/>
              </a:lnSpc>
            </a:pPr>
            <a:r>
              <a:rPr b="1" lang="en-US" sz="1800" spc="-1" strike="noStrike">
                <a:solidFill>
                  <a:srgbClr val="000000"/>
                </a:solidFill>
                <a:latin typeface="Aptos"/>
              </a:rPr>
              <a:t>Task 09. Using Sleuth and the same input as in the previous example, visualize and compare the expression of the Bradi3g51200.1, Bradi1g37410.1, Bradi3g43870.1 transcripts using a heatmap.</a:t>
            </a:r>
            <a:endParaRPr b="0" lang="es-ES" sz="1800" spc="-1" strike="noStrike">
              <a:latin typeface="Arial"/>
            </a:endParaRPr>
          </a:p>
          <a:p>
            <a:pPr algn="just">
              <a:lnSpc>
                <a:spcPct val="100000"/>
              </a:lnSpc>
            </a:pPr>
            <a:r>
              <a:rPr b="1" lang="en-US" sz="1800" spc="-1" strike="noStrike">
                <a:solidFill>
                  <a:srgbClr val="000000"/>
                </a:solidFill>
                <a:latin typeface="Aptos"/>
              </a:rPr>
              <a:t>What differences do you observe when comparing their expression in the control group versus under drought conditions?</a:t>
            </a:r>
            <a:endParaRPr b="0" lang="es-ES" sz="1800" spc="-1" strike="noStrike">
              <a:latin typeface="Arial"/>
            </a:endParaRPr>
          </a:p>
        </p:txBody>
      </p:sp>
      <p:sp>
        <p:nvSpPr>
          <p:cNvPr id="723" name="CustomShape 3"/>
          <p:cNvSpPr/>
          <p:nvPr/>
        </p:nvSpPr>
        <p:spPr>
          <a:xfrm>
            <a:off x="527400" y="4765680"/>
            <a:ext cx="11147760" cy="913320"/>
          </a:xfrm>
          <a:prstGeom prst="rect">
            <a:avLst/>
          </a:prstGeom>
          <a:noFill/>
          <a:ln>
            <a:solidFill>
              <a:schemeClr val="tx1"/>
            </a:solidFill>
          </a:ln>
        </p:spPr>
        <p:style>
          <a:lnRef idx="0"/>
          <a:fillRef idx="0"/>
          <a:effectRef idx="0"/>
          <a:fontRef idx="minor"/>
        </p:style>
        <p:txBody>
          <a:bodyPr lIns="90000" rIns="90000" tIns="45000" bIns="45000">
            <a:spAutoFit/>
          </a:bodyPr>
          <a:p>
            <a:pPr algn="just">
              <a:lnSpc>
                <a:spcPct val="100000"/>
              </a:lnSpc>
            </a:pPr>
            <a:r>
              <a:rPr b="1" lang="en-US" sz="1800" spc="-1" strike="noStrike">
                <a:solidFill>
                  <a:srgbClr val="000000"/>
                </a:solidFill>
                <a:latin typeface="Aptos"/>
              </a:rPr>
              <a:t>Task 10. Construct a co-expression network (WGCNA R package) of the samples and genes analyzed under the control condition (W). Compare the results of the modules obtained in both co-expression networks, drought (D) and control (W).</a:t>
            </a:r>
            <a:endParaRPr b="0" lang="es-ES" sz="1800" spc="-1" strike="noStrike">
              <a:latin typeface="Arial"/>
            </a:endParaRPr>
          </a:p>
        </p:txBody>
      </p:sp>
      <p:sp>
        <p:nvSpPr>
          <p:cNvPr id="724" name="CustomShape 4"/>
          <p:cNvSpPr/>
          <p:nvPr/>
        </p:nvSpPr>
        <p:spPr>
          <a:xfrm>
            <a:off x="0" y="4680"/>
            <a:ext cx="2391120" cy="638280"/>
          </a:xfrm>
          <a:prstGeom prst="rect">
            <a:avLst/>
          </a:prstGeom>
          <a:solidFill>
            <a:schemeClr val="bg2"/>
          </a:solidFill>
          <a:ln>
            <a:solidFill>
              <a:schemeClr val="tx1"/>
            </a:solidFill>
          </a:ln>
        </p:spPr>
        <p:style>
          <a:lnRef idx="0"/>
          <a:fillRef idx="0"/>
          <a:effectRef idx="0"/>
          <a:fontRef idx="minor"/>
        </p:style>
        <p:txBody>
          <a:bodyPr lIns="90000" rIns="90000" tIns="45000" bIns="45000">
            <a:spAutoFit/>
          </a:bodyPr>
          <a:p>
            <a:pPr algn="ctr">
              <a:lnSpc>
                <a:spcPct val="100000"/>
              </a:lnSpc>
            </a:pPr>
            <a:r>
              <a:rPr b="1" lang="en-US" sz="1800" spc="-1" strike="noStrike">
                <a:solidFill>
                  <a:srgbClr val="000000"/>
                </a:solidFill>
                <a:latin typeface="Aptos"/>
              </a:rPr>
              <a:t>EXTRA EXCERCISES</a:t>
            </a:r>
            <a:endParaRPr b="0" lang="es-ES" sz="1800" spc="-1" strike="noStrike">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5"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pic>
        <p:nvPicPr>
          <p:cNvPr id="726" name="Gráfico 6" descr="Bandeja de entrada con relleno sólido"/>
          <p:cNvPicPr/>
          <p:nvPr/>
        </p:nvPicPr>
        <p:blipFill>
          <a:blip r:embed="rId1"/>
          <a:stretch/>
        </p:blipFill>
        <p:spPr>
          <a:xfrm>
            <a:off x="765000" y="1744560"/>
            <a:ext cx="3368520" cy="3368520"/>
          </a:xfrm>
          <a:prstGeom prst="rect">
            <a:avLst/>
          </a:prstGeom>
          <a:ln>
            <a:noFill/>
          </a:ln>
        </p:spPr>
      </p:pic>
      <p:sp>
        <p:nvSpPr>
          <p:cNvPr id="727" name="CustomShape 2"/>
          <p:cNvSpPr/>
          <p:nvPr/>
        </p:nvSpPr>
        <p:spPr>
          <a:xfrm>
            <a:off x="4629960" y="0"/>
            <a:ext cx="7561800" cy="6857640"/>
          </a:xfrm>
          <a:custGeom>
            <a:avLst/>
            <a:gdLst/>
            <a:ah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chemeClr val="accent2"/>
          </a:solidFill>
          <a:ln w="6840">
            <a:noFill/>
          </a:ln>
        </p:spPr>
        <p:style>
          <a:lnRef idx="0"/>
          <a:fillRef idx="0"/>
          <a:effectRef idx="0"/>
          <a:fontRef idx="minor"/>
        </p:style>
      </p:sp>
      <p:sp>
        <p:nvSpPr>
          <p:cNvPr id="728" name="CustomShape 3"/>
          <p:cNvSpPr/>
          <p:nvPr/>
        </p:nvSpPr>
        <p:spPr>
          <a:xfrm>
            <a:off x="5742360" y="362520"/>
            <a:ext cx="5337000" cy="1835640"/>
          </a:xfrm>
          <a:prstGeom prst="rect">
            <a:avLst/>
          </a:prstGeom>
          <a:noFill/>
          <a:ln>
            <a:noFill/>
          </a:ln>
        </p:spPr>
        <p:style>
          <a:lnRef idx="0"/>
          <a:fillRef idx="0"/>
          <a:effectRef idx="0"/>
          <a:fontRef idx="minor"/>
        </p:style>
        <p:txBody>
          <a:bodyPr anchor="b">
            <a:normAutofit/>
          </a:bodyPr>
          <a:p>
            <a:pPr>
              <a:lnSpc>
                <a:spcPct val="90000"/>
              </a:lnSpc>
              <a:spcAft>
                <a:spcPts val="601"/>
              </a:spcAft>
            </a:pPr>
            <a:r>
              <a:rPr b="1" lang="en-US" sz="5400" spc="-1" strike="noStrike">
                <a:solidFill>
                  <a:srgbClr val="ffffff"/>
                </a:solidFill>
                <a:latin typeface="Aptos Display"/>
              </a:rPr>
              <a:t>Deliverable Task</a:t>
            </a:r>
            <a:endParaRPr b="0" lang="es-ES" sz="5400" spc="-1" strike="noStrike">
              <a:latin typeface="Arial"/>
            </a:endParaRPr>
          </a:p>
        </p:txBody>
      </p:sp>
      <p:sp>
        <p:nvSpPr>
          <p:cNvPr id="729" name="CustomShape 4"/>
          <p:cNvSpPr/>
          <p:nvPr/>
        </p:nvSpPr>
        <p:spPr>
          <a:xfrm>
            <a:off x="5759280" y="2560680"/>
            <a:ext cx="5028840" cy="18000"/>
          </a:xfrm>
          <a:custGeom>
            <a:avLst/>
            <a:gdLst/>
            <a:ahLst/>
            <a:rect l="l" t="t" r="r" b="b"/>
            <a:pathLst>
              <a:path w="5029200" h="18288">
                <a:moveTo>
                  <a:pt x="0" y="0"/>
                </a:moveTo>
                <a:cubicBezTo>
                  <a:pt x="142937" y="1696"/>
                  <a:pt x="371859" y="12840"/>
                  <a:pt x="528066" y="0"/>
                </a:cubicBezTo>
                <a:cubicBezTo>
                  <a:pt x="684273" y="-12840"/>
                  <a:pt x="928949" y="-5725"/>
                  <a:pt x="1207008" y="0"/>
                </a:cubicBezTo>
                <a:cubicBezTo>
                  <a:pt x="1485067" y="5725"/>
                  <a:pt x="1562886" y="-21331"/>
                  <a:pt x="1785366" y="0"/>
                </a:cubicBezTo>
                <a:cubicBezTo>
                  <a:pt x="2007846" y="21331"/>
                  <a:pt x="2056226" y="25221"/>
                  <a:pt x="2313432" y="0"/>
                </a:cubicBezTo>
                <a:cubicBezTo>
                  <a:pt x="2570638" y="-25221"/>
                  <a:pt x="2732455" y="16294"/>
                  <a:pt x="2992374" y="0"/>
                </a:cubicBezTo>
                <a:cubicBezTo>
                  <a:pt x="3252293" y="-16294"/>
                  <a:pt x="3319267" y="-29774"/>
                  <a:pt x="3621024" y="0"/>
                </a:cubicBezTo>
                <a:cubicBezTo>
                  <a:pt x="3922781" y="29774"/>
                  <a:pt x="3998107" y="-1004"/>
                  <a:pt x="4249674" y="0"/>
                </a:cubicBezTo>
                <a:cubicBezTo>
                  <a:pt x="4501241" y="1004"/>
                  <a:pt x="4792523" y="-4510"/>
                  <a:pt x="5029200" y="0"/>
                </a:cubicBezTo>
                <a:cubicBezTo>
                  <a:pt x="5029730" y="6954"/>
                  <a:pt x="5029934" y="12839"/>
                  <a:pt x="5029200" y="18288"/>
                </a:cubicBezTo>
                <a:cubicBezTo>
                  <a:pt x="4805432" y="23154"/>
                  <a:pt x="4715801" y="17034"/>
                  <a:pt x="4501134" y="18288"/>
                </a:cubicBezTo>
                <a:cubicBezTo>
                  <a:pt x="4286467" y="19542"/>
                  <a:pt x="4193719" y="41701"/>
                  <a:pt x="4023360" y="18288"/>
                </a:cubicBezTo>
                <a:cubicBezTo>
                  <a:pt x="3853001" y="-5125"/>
                  <a:pt x="3676466" y="16909"/>
                  <a:pt x="3344418" y="18288"/>
                </a:cubicBezTo>
                <a:cubicBezTo>
                  <a:pt x="3012370" y="19667"/>
                  <a:pt x="2945824" y="14410"/>
                  <a:pt x="2816352" y="18288"/>
                </a:cubicBezTo>
                <a:cubicBezTo>
                  <a:pt x="2686880" y="22166"/>
                  <a:pt x="2438351" y="13507"/>
                  <a:pt x="2137410" y="18288"/>
                </a:cubicBezTo>
                <a:cubicBezTo>
                  <a:pt x="1836469" y="23069"/>
                  <a:pt x="1581391" y="46111"/>
                  <a:pt x="1408176" y="18288"/>
                </a:cubicBezTo>
                <a:cubicBezTo>
                  <a:pt x="1234961" y="-9535"/>
                  <a:pt x="1040489" y="-7495"/>
                  <a:pt x="829818" y="18288"/>
                </a:cubicBezTo>
                <a:cubicBezTo>
                  <a:pt x="619147" y="44071"/>
                  <a:pt x="238626" y="37568"/>
                  <a:pt x="0" y="18288"/>
                </a:cubicBezTo>
                <a:cubicBezTo>
                  <a:pt x="-570" y="9279"/>
                  <a:pt x="132" y="5100"/>
                  <a:pt x="0" y="0"/>
                </a:cubicBezTo>
                <a:close/>
                <a:moveTo>
                  <a:pt x="0" y="0"/>
                </a:moveTo>
                <a:cubicBezTo>
                  <a:pt x="165412" y="-21137"/>
                  <a:pt x="322344" y="-21985"/>
                  <a:pt x="578358" y="0"/>
                </a:cubicBezTo>
                <a:cubicBezTo>
                  <a:pt x="834372" y="21985"/>
                  <a:pt x="907099" y="-19195"/>
                  <a:pt x="1056132" y="0"/>
                </a:cubicBezTo>
                <a:cubicBezTo>
                  <a:pt x="1205165" y="19195"/>
                  <a:pt x="1612834" y="-24928"/>
                  <a:pt x="1785366" y="0"/>
                </a:cubicBezTo>
                <a:cubicBezTo>
                  <a:pt x="1957898" y="24928"/>
                  <a:pt x="2149044" y="19108"/>
                  <a:pt x="2363724" y="0"/>
                </a:cubicBezTo>
                <a:cubicBezTo>
                  <a:pt x="2578404" y="-19108"/>
                  <a:pt x="2759981" y="-21788"/>
                  <a:pt x="2942082" y="0"/>
                </a:cubicBezTo>
                <a:cubicBezTo>
                  <a:pt x="3124183" y="21788"/>
                  <a:pt x="3482217" y="8836"/>
                  <a:pt x="3671316" y="0"/>
                </a:cubicBezTo>
                <a:cubicBezTo>
                  <a:pt x="3860415" y="-8836"/>
                  <a:pt x="4058665" y="-25048"/>
                  <a:pt x="4199382" y="0"/>
                </a:cubicBezTo>
                <a:cubicBezTo>
                  <a:pt x="4340099" y="25048"/>
                  <a:pt x="4735096" y="-22088"/>
                  <a:pt x="5029200" y="0"/>
                </a:cubicBezTo>
                <a:cubicBezTo>
                  <a:pt x="5028517" y="5414"/>
                  <a:pt x="5028480" y="12510"/>
                  <a:pt x="5029200" y="18288"/>
                </a:cubicBezTo>
                <a:cubicBezTo>
                  <a:pt x="4891577" y="31493"/>
                  <a:pt x="4684146" y="-2509"/>
                  <a:pt x="4501134" y="18288"/>
                </a:cubicBezTo>
                <a:cubicBezTo>
                  <a:pt x="4318122" y="39085"/>
                  <a:pt x="4030703" y="3672"/>
                  <a:pt x="3872484" y="18288"/>
                </a:cubicBezTo>
                <a:cubicBezTo>
                  <a:pt x="3714265" y="32905"/>
                  <a:pt x="3546134" y="7501"/>
                  <a:pt x="3294126" y="18288"/>
                </a:cubicBezTo>
                <a:cubicBezTo>
                  <a:pt x="3042118" y="29075"/>
                  <a:pt x="2912116" y="11153"/>
                  <a:pt x="2564892" y="18288"/>
                </a:cubicBezTo>
                <a:cubicBezTo>
                  <a:pt x="2217668" y="25423"/>
                  <a:pt x="2095118" y="11659"/>
                  <a:pt x="1835658" y="18288"/>
                </a:cubicBezTo>
                <a:cubicBezTo>
                  <a:pt x="1576198" y="24917"/>
                  <a:pt x="1500897" y="19889"/>
                  <a:pt x="1307592" y="18288"/>
                </a:cubicBezTo>
                <a:cubicBezTo>
                  <a:pt x="1114287" y="16687"/>
                  <a:pt x="961527" y="47453"/>
                  <a:pt x="678942" y="18288"/>
                </a:cubicBezTo>
                <a:cubicBezTo>
                  <a:pt x="396357" y="-10877"/>
                  <a:pt x="271066" y="23005"/>
                  <a:pt x="0" y="18288"/>
                </a:cubicBezTo>
                <a:cubicBezTo>
                  <a:pt x="-306" y="11061"/>
                  <a:pt x="-655" y="7751"/>
                  <a:pt x="0" y="0"/>
                </a:cubicBezTo>
                <a:close/>
              </a:path>
            </a:pathLst>
          </a:custGeom>
          <a:solidFill>
            <a:srgbClr val="ffffff"/>
          </a:solidFill>
          <a:ln cap="rnd" w="38160">
            <a:solidFill>
              <a:srgbClr val="ffffff"/>
            </a:solidFill>
            <a:round/>
          </a:ln>
        </p:spPr>
        <p:style>
          <a:lnRef idx="2">
            <a:schemeClr val="accent1">
              <a:shade val="50000"/>
            </a:schemeClr>
          </a:lnRef>
          <a:fillRef idx="1">
            <a:schemeClr val="accent1"/>
          </a:fillRef>
          <a:effectRef idx="0">
            <a:schemeClr val="accent1"/>
          </a:effectRef>
          <a:fontRef idx="minor"/>
        </p:style>
      </p:sp>
      <p:sp>
        <p:nvSpPr>
          <p:cNvPr id="730" name="CustomShape 5"/>
          <p:cNvSpPr/>
          <p:nvPr/>
        </p:nvSpPr>
        <p:spPr>
          <a:xfrm>
            <a:off x="5356800" y="2843640"/>
            <a:ext cx="6487200" cy="3902040"/>
          </a:xfrm>
          <a:prstGeom prst="rect">
            <a:avLst/>
          </a:prstGeom>
          <a:noFill/>
          <a:ln>
            <a:noFill/>
          </a:ln>
        </p:spPr>
        <p:style>
          <a:lnRef idx="0"/>
          <a:fillRef idx="0"/>
          <a:effectRef idx="0"/>
          <a:fontRef idx="minor"/>
        </p:style>
        <p:txBody>
          <a:bodyPr lIns="90000" rIns="90000" tIns="45000" bIns="45000">
            <a:spAutoFit/>
          </a:bodyPr>
          <a:p>
            <a:pPr>
              <a:lnSpc>
                <a:spcPct val="100000"/>
              </a:lnSpc>
              <a:spcBef>
                <a:spcPts val="601"/>
              </a:spcBef>
              <a:spcAft>
                <a:spcPts val="601"/>
              </a:spcAft>
            </a:pPr>
            <a:r>
              <a:rPr b="0" lang="en-US" sz="2000" spc="-1" strike="noStrike">
                <a:solidFill>
                  <a:srgbClr val="ffffff"/>
                </a:solidFill>
                <a:latin typeface="Aptos"/>
              </a:rPr>
              <a:t>Please, make a folder named ‘transcripts/’ in the same GitHub repo of </a:t>
            </a:r>
            <a:r>
              <a:rPr b="0" lang="en-US" sz="2000" spc="-1" strike="noStrike" u="sng">
                <a:solidFill>
                  <a:srgbClr val="467886"/>
                </a:solidFill>
                <a:uFillTx/>
                <a:latin typeface="Aptos"/>
                <a:hlinkClick r:id="rId2"/>
              </a:rPr>
              <a:t>session </a:t>
            </a:r>
            <a:r>
              <a:rPr b="0" lang="en-US" sz="2000" spc="-1" strike="noStrike" u="sng">
                <a:solidFill>
                  <a:srgbClr val="467886"/>
                </a:solidFill>
                <a:uFillTx/>
                <a:latin typeface="Aptos"/>
                <a:hlinkClick r:id="rId3"/>
              </a:rPr>
              <a:t>1</a:t>
            </a:r>
            <a:r>
              <a:rPr b="0" lang="en-US" sz="2000" spc="-1" strike="noStrike">
                <a:solidFill>
                  <a:srgbClr val="ffffff"/>
                </a:solidFill>
                <a:latin typeface="Aptos"/>
              </a:rPr>
              <a:t>, and write a </a:t>
            </a:r>
            <a:r>
              <a:rPr b="0" lang="en-US" sz="2000" spc="-1" strike="noStrike" u="sng">
                <a:solidFill>
                  <a:srgbClr val="ffffff"/>
                </a:solidFill>
                <a:uFillTx/>
                <a:latin typeface="Aptos"/>
              </a:rPr>
              <a:t>report</a:t>
            </a:r>
            <a:r>
              <a:rPr b="0" lang="en-US" sz="2000" spc="-1" strike="noStrike">
                <a:solidFill>
                  <a:srgbClr val="ffffff"/>
                </a:solidFill>
                <a:latin typeface="Aptos"/>
              </a:rPr>
              <a:t> that includes:</a:t>
            </a:r>
            <a:endParaRPr b="0" lang="es-ES" sz="2000" spc="-1" strike="noStrike">
              <a:latin typeface="Arial"/>
            </a:endParaRPr>
          </a:p>
          <a:p>
            <a:pPr marL="343080" indent="-342720">
              <a:lnSpc>
                <a:spcPct val="100000"/>
              </a:lnSpc>
              <a:spcBef>
                <a:spcPts val="601"/>
              </a:spcBef>
              <a:spcAft>
                <a:spcPts val="601"/>
              </a:spcAft>
              <a:buClr>
                <a:srgbClr val="ffffff"/>
              </a:buClr>
              <a:buFont typeface="Wingdings" charset="2"/>
              <a:buChar char=""/>
            </a:pPr>
            <a:r>
              <a:rPr b="0" lang="en-US" sz="2000" spc="-1" strike="noStrike">
                <a:solidFill>
                  <a:srgbClr val="ffffff"/>
                </a:solidFill>
                <a:latin typeface="Aptos"/>
              </a:rPr>
              <a:t>How you solved the exercises.</a:t>
            </a:r>
            <a:endParaRPr b="0" lang="es-ES" sz="2000" spc="-1" strike="noStrike">
              <a:latin typeface="Arial"/>
            </a:endParaRPr>
          </a:p>
          <a:p>
            <a:pPr marL="343080" indent="-342720">
              <a:lnSpc>
                <a:spcPct val="100000"/>
              </a:lnSpc>
              <a:spcBef>
                <a:spcPts val="601"/>
              </a:spcBef>
              <a:spcAft>
                <a:spcPts val="601"/>
              </a:spcAft>
              <a:buClr>
                <a:srgbClr val="ffffff"/>
              </a:buClr>
              <a:buFont typeface="Wingdings" charset="2"/>
              <a:buChar char=""/>
            </a:pPr>
            <a:r>
              <a:rPr b="0" lang="en-US" sz="2000" spc="-1" strike="noStrike">
                <a:solidFill>
                  <a:srgbClr val="ffffff"/>
                </a:solidFill>
                <a:latin typeface="Aptos"/>
              </a:rPr>
              <a:t>The results obtained.</a:t>
            </a:r>
            <a:endParaRPr b="0" lang="es-ES" sz="2000" spc="-1" strike="noStrike">
              <a:latin typeface="Arial"/>
            </a:endParaRPr>
          </a:p>
          <a:p>
            <a:pPr marL="343080" indent="-342720">
              <a:lnSpc>
                <a:spcPct val="100000"/>
              </a:lnSpc>
              <a:spcBef>
                <a:spcPts val="601"/>
              </a:spcBef>
              <a:spcAft>
                <a:spcPts val="601"/>
              </a:spcAft>
              <a:buClr>
                <a:srgbClr val="ffffff"/>
              </a:buClr>
              <a:buFont typeface="Wingdings" charset="2"/>
              <a:buChar char=""/>
            </a:pPr>
            <a:r>
              <a:rPr b="0" lang="en-US" sz="2000" spc="-1" strike="noStrike">
                <a:solidFill>
                  <a:srgbClr val="ffffff"/>
                </a:solidFill>
                <a:latin typeface="Aptos"/>
              </a:rPr>
              <a:t>The main specific inputs and outputs used at each step.</a:t>
            </a:r>
            <a:endParaRPr b="0" lang="es-ES" sz="2000" spc="-1" strike="noStrike">
              <a:latin typeface="Arial"/>
            </a:endParaRPr>
          </a:p>
          <a:p>
            <a:pPr marL="343080" indent="-342720">
              <a:lnSpc>
                <a:spcPct val="100000"/>
              </a:lnSpc>
              <a:spcBef>
                <a:spcPts val="601"/>
              </a:spcBef>
              <a:spcAft>
                <a:spcPts val="601"/>
              </a:spcAft>
              <a:buClr>
                <a:srgbClr val="ffffff"/>
              </a:buClr>
              <a:buFont typeface="Wingdings" charset="2"/>
              <a:buChar char=""/>
            </a:pPr>
            <a:r>
              <a:rPr b="0" lang="en-US" sz="2000" spc="-1" strike="noStrike">
                <a:solidFill>
                  <a:srgbClr val="ffffff"/>
                </a:solidFill>
                <a:latin typeface="Aptos"/>
              </a:rPr>
              <a:t>The problems you encountered.</a:t>
            </a:r>
            <a:endParaRPr b="0" lang="es-ES" sz="2000" spc="-1" strike="noStrike">
              <a:latin typeface="Arial"/>
            </a:endParaRPr>
          </a:p>
          <a:p>
            <a:pPr>
              <a:lnSpc>
                <a:spcPct val="100000"/>
              </a:lnSpc>
              <a:spcBef>
                <a:spcPts val="601"/>
              </a:spcBef>
              <a:spcAft>
                <a:spcPts val="601"/>
              </a:spcAft>
            </a:pPr>
            <a:r>
              <a:rPr b="0" lang="en-US" sz="2000" spc="-1" strike="noStrike">
                <a:solidFill>
                  <a:srgbClr val="ffffff"/>
                </a:solidFill>
                <a:latin typeface="Aptos"/>
              </a:rPr>
              <a:t>Briefly propose an experiment in which these analyses could be applied.</a:t>
            </a:r>
            <a:endParaRPr b="0" lang="es-ES" sz="2000" spc="-1" strike="noStrike">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CustomShape 1"/>
          <p:cNvSpPr/>
          <p:nvPr/>
        </p:nvSpPr>
        <p:spPr>
          <a:xfrm>
            <a:off x="316440" y="1069560"/>
            <a:ext cx="11558520" cy="2772360"/>
          </a:xfrm>
          <a:prstGeom prst="rect">
            <a:avLst/>
          </a:prstGeom>
          <a:noFill/>
          <a:ln>
            <a:noFill/>
          </a:ln>
        </p:spPr>
        <p:style>
          <a:lnRef idx="0"/>
          <a:fillRef idx="0"/>
          <a:effectRef idx="0"/>
          <a:fontRef idx="minor"/>
        </p:style>
        <p:txBody>
          <a:bodyPr lIns="90000" rIns="90000" tIns="45000" bIns="45000">
            <a:spAutoFit/>
          </a:bodyPr>
          <a:p>
            <a:pPr algn="ctr">
              <a:lnSpc>
                <a:spcPct val="100000"/>
              </a:lnSpc>
            </a:pPr>
            <a:r>
              <a:rPr b="1" lang="en-US" sz="7200" spc="-1" strike="noStrike">
                <a:solidFill>
                  <a:srgbClr val="000000"/>
                </a:solidFill>
                <a:latin typeface="Aptos"/>
              </a:rPr>
              <a:t>Thank you!</a:t>
            </a:r>
            <a:endParaRPr b="0" lang="es-ES" sz="7200" spc="-1" strike="noStrike">
              <a:latin typeface="Arial"/>
            </a:endParaRPr>
          </a:p>
          <a:p>
            <a:pPr algn="ctr">
              <a:lnSpc>
                <a:spcPct val="100000"/>
              </a:lnSpc>
            </a:pPr>
            <a:endParaRPr b="0" lang="es-ES" sz="7200" spc="-1" strike="noStrike">
              <a:latin typeface="Arial"/>
            </a:endParaRPr>
          </a:p>
          <a:p>
            <a:pPr algn="ctr">
              <a:lnSpc>
                <a:spcPct val="100000"/>
              </a:lnSpc>
            </a:pPr>
            <a:r>
              <a:rPr b="1" lang="en-US" sz="3200" spc="-1" strike="noStrike">
                <a:solidFill>
                  <a:srgbClr val="000000"/>
                </a:solidFill>
                <a:latin typeface="Aptos"/>
              </a:rPr>
              <a:t>If you have any questions, please feel free to email me at </a:t>
            </a:r>
            <a:r>
              <a:rPr b="1" lang="en-US" sz="3600" spc="-1" strike="noStrike" u="sng">
                <a:solidFill>
                  <a:srgbClr val="467886"/>
                </a:solidFill>
                <a:uFillTx/>
                <a:latin typeface="Aptos"/>
                <a:hlinkClick r:id="rId1"/>
              </a:rPr>
              <a:t>rsancho@eead.csic.es</a:t>
            </a:r>
            <a:endParaRPr b="0" lang="es-ES" sz="3600" spc="-1" strike="noStrike">
              <a:latin typeface="Arial"/>
            </a:endParaRPr>
          </a:p>
        </p:txBody>
      </p:sp>
      <p:pic>
        <p:nvPicPr>
          <p:cNvPr id="732" name="Gráfico 4" descr="Abrir sobre con relleno sólido"/>
          <p:cNvPicPr/>
          <p:nvPr/>
        </p:nvPicPr>
        <p:blipFill>
          <a:blip r:embed="rId2"/>
          <a:stretch/>
        </p:blipFill>
        <p:spPr>
          <a:xfrm>
            <a:off x="5638680" y="3870000"/>
            <a:ext cx="914040" cy="914040"/>
          </a:xfrm>
          <a:prstGeom prst="rect">
            <a:avLst/>
          </a:prstGeom>
          <a:ln>
            <a:noFill/>
          </a:ln>
        </p:spPr>
      </p:pic>
      <p:pic>
        <p:nvPicPr>
          <p:cNvPr id="733" name="Picture 2" descr="CIHEAM Zaragoza"/>
          <p:cNvPicPr/>
          <p:nvPr/>
        </p:nvPicPr>
        <p:blipFill>
          <a:blip r:embed="rId3"/>
          <a:stretch/>
        </p:blipFill>
        <p:spPr>
          <a:xfrm>
            <a:off x="230760" y="5878440"/>
            <a:ext cx="1885680" cy="761760"/>
          </a:xfrm>
          <a:prstGeom prst="rect">
            <a:avLst/>
          </a:prstGeom>
          <a:ln>
            <a:noFill/>
          </a:ln>
        </p:spPr>
      </p:pic>
      <p:pic>
        <p:nvPicPr>
          <p:cNvPr id="734" name="Picture 4" descr=""/>
          <p:cNvPicPr/>
          <p:nvPr/>
        </p:nvPicPr>
        <p:blipFill>
          <a:blip r:embed="rId4"/>
          <a:stretch/>
        </p:blipFill>
        <p:spPr>
          <a:xfrm>
            <a:off x="9189360" y="6040080"/>
            <a:ext cx="2771280" cy="599760"/>
          </a:xfrm>
          <a:prstGeom prst="rect">
            <a:avLst/>
          </a:prstGeom>
          <a:ln>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7503</TotalTime>
  <Application>LibreOffice/6.4.7.2$Linux_X86_64 LibreOffice_project/40$Build-2</Application>
  <Words>9486</Words>
  <Paragraphs>907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2025-10-08T11:14:14Z</dcterms:created>
  <dc:creator>Rubén Sancho</dc:creator>
  <dc:description/>
  <dc:language>es-ES</dc:language>
  <cp:lastModifiedBy/>
  <dcterms:modified xsi:type="dcterms:W3CDTF">2025-12-15T08:43:12Z</dcterms:modified>
  <cp:revision>662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51</vt:i4>
  </property>
  <property fmtid="{D5CDD505-2E9C-101B-9397-08002B2CF9AE}" pid="8" name="PresentationFormat">
    <vt:lpwstr>Panorámica</vt:lpwstr>
  </property>
  <property fmtid="{D5CDD505-2E9C-101B-9397-08002B2CF9AE}" pid="9" name="ScaleCrop">
    <vt:bool>0</vt:bool>
  </property>
  <property fmtid="{D5CDD505-2E9C-101B-9397-08002B2CF9AE}" pid="10" name="ShareDoc">
    <vt:bool>0</vt:bool>
  </property>
  <property fmtid="{D5CDD505-2E9C-101B-9397-08002B2CF9AE}" pid="11" name="Slides">
    <vt:i4>65</vt:i4>
  </property>
</Properties>
</file>